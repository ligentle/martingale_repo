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8" r:id="rId1"/>
  </p:sldMasterIdLst>
  <p:notesMasterIdLst>
    <p:notesMasterId r:id="rId15"/>
  </p:notesMasterIdLst>
  <p:sldIdLst>
    <p:sldId id="256" r:id="rId2"/>
    <p:sldId id="298" r:id="rId3"/>
    <p:sldId id="301" r:id="rId4"/>
    <p:sldId id="304" r:id="rId5"/>
    <p:sldId id="271" r:id="rId6"/>
    <p:sldId id="272" r:id="rId7"/>
    <p:sldId id="280" r:id="rId8"/>
    <p:sldId id="293" r:id="rId9"/>
    <p:sldId id="294" r:id="rId10"/>
    <p:sldId id="277" r:id="rId11"/>
    <p:sldId id="276" r:id="rId12"/>
    <p:sldId id="295" r:id="rId13"/>
    <p:sldId id="29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845" autoAdjust="0"/>
    <p:restoredTop sz="96236" autoAdjust="0"/>
  </p:normalViewPr>
  <p:slideViewPr>
    <p:cSldViewPr snapToGrid="0">
      <p:cViewPr varScale="1">
        <p:scale>
          <a:sx n="83" d="100"/>
          <a:sy n="83" d="100"/>
        </p:scale>
        <p:origin x="72" y="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4" Type="http://schemas.openxmlformats.org/officeDocument/2006/relationships/image" Target="../media/image19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hyperlink" Target="https://test2026.gitbook.io/test-tranche_protocol/fMFG0viXW9hbW0MeCbeh/" TargetMode="External"/><Relationship Id="rId7" Type="http://schemas.openxmlformats.org/officeDocument/2006/relationships/image" Target="../media/image23.svg"/><Relationship Id="rId2" Type="http://schemas.openxmlformats.org/officeDocument/2006/relationships/hyperlink" Target="https://test-al2.pages.dev/app" TargetMode="External"/><Relationship Id="rId1" Type="http://schemas.openxmlformats.org/officeDocument/2006/relationships/hyperlink" Target="https://martingaleco.com/" TargetMode="Externa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Relationship Id="rId9" Type="http://schemas.openxmlformats.org/officeDocument/2006/relationships/image" Target="../media/image2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4" Type="http://schemas.openxmlformats.org/officeDocument/2006/relationships/image" Target="../media/image19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hyperlink" Target="https://martingaleco.com/" TargetMode="External"/><Relationship Id="rId7" Type="http://schemas.openxmlformats.org/officeDocument/2006/relationships/image" Target="../media/image24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hyperlink" Target="https://test-al2.pages.dev/app" TargetMode="External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9" Type="http://schemas.openxmlformats.org/officeDocument/2006/relationships/hyperlink" Target="https://test2026.gitbook.io/test-tranche_protocol/fMFG0viXW9hbW0MeCbeh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9716A4-4751-441A-926C-95C392328ADB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052E0C05-CE2B-4F3A-B496-2708874A57AE}">
      <dgm:prSet/>
      <dgm:spPr/>
      <dgm:t>
        <a:bodyPr/>
        <a:lstStyle/>
        <a:p>
          <a:pPr>
            <a:defRPr b="1"/>
          </a:pPr>
          <a:r>
            <a:rPr lang="en-US" b="1" dirty="0"/>
            <a:t>Collateralize Tokenized Asset</a:t>
          </a:r>
          <a:r>
            <a:rPr lang="en-US" b="1" dirty="0">
              <a:sym typeface="Wingdings" panose="05000000000000000000" pitchFamily="2" charset="2"/>
            </a:rPr>
            <a:t></a:t>
          </a:r>
          <a:r>
            <a:rPr lang="en-US" b="1" dirty="0"/>
            <a:t>Borrow U</a:t>
          </a:r>
        </a:p>
        <a:p>
          <a:pPr>
            <a:defRPr b="1"/>
          </a:pPr>
          <a:r>
            <a:rPr lang="en-US" b="1" dirty="0">
              <a:solidFill>
                <a:srgbClr val="00B050"/>
              </a:solidFill>
            </a:rPr>
            <a:t> Users pay interest </a:t>
          </a:r>
          <a:r>
            <a:rPr lang="en-US" altLang="zh-CN" b="1" dirty="0">
              <a:solidFill>
                <a:srgbClr val="00B050"/>
              </a:solidFill>
            </a:rPr>
            <a:t>to protocol</a:t>
          </a:r>
          <a:endParaRPr lang="en-US" dirty="0">
            <a:solidFill>
              <a:srgbClr val="00B050"/>
            </a:solidFill>
          </a:endParaRPr>
        </a:p>
      </dgm:t>
    </dgm:pt>
    <dgm:pt modelId="{D4137400-B38D-4BFB-8636-6713C2F5F3AA}" type="parTrans" cxnId="{3FC49187-CDBF-4CFE-8AB4-B9285EFF5CC5}">
      <dgm:prSet/>
      <dgm:spPr/>
      <dgm:t>
        <a:bodyPr/>
        <a:lstStyle/>
        <a:p>
          <a:endParaRPr lang="en-US"/>
        </a:p>
      </dgm:t>
    </dgm:pt>
    <dgm:pt modelId="{E52944F3-2830-494B-B5AB-2D0982644F11}" type="sibTrans" cxnId="{3FC49187-CDBF-4CFE-8AB4-B9285EFF5CC5}">
      <dgm:prSet/>
      <dgm:spPr/>
      <dgm:t>
        <a:bodyPr/>
        <a:lstStyle/>
        <a:p>
          <a:endParaRPr lang="en-US"/>
        </a:p>
      </dgm:t>
    </dgm:pt>
    <dgm:pt modelId="{338363A0-E9A8-467F-B68F-E73C2E4E0FF0}">
      <dgm:prSet/>
      <dgm:spPr/>
      <dgm:t>
        <a:bodyPr/>
        <a:lstStyle/>
        <a:p>
          <a:pPr>
            <a:defRPr b="1"/>
          </a:pPr>
          <a:r>
            <a:rPr lang="en-US" b="1" dirty="0"/>
            <a:t>Model:</a:t>
          </a:r>
        </a:p>
        <a:p>
          <a:pPr>
            <a:defRPr b="1"/>
          </a:pPr>
          <a:r>
            <a:rPr lang="en-US" b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Gross Borrow Rate = Base Rate + Utilization Factor + Collateral Risk Premium</a:t>
          </a:r>
          <a:endParaRPr lang="en-US" dirty="0">
            <a:solidFill>
              <a:srgbClr val="C0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A20B834-2FAE-4260-9640-792095DC05E7}" type="parTrans" cxnId="{4640C131-8F07-4F0B-98DD-D708E1859E45}">
      <dgm:prSet/>
      <dgm:spPr/>
      <dgm:t>
        <a:bodyPr/>
        <a:lstStyle/>
        <a:p>
          <a:endParaRPr lang="en-US"/>
        </a:p>
      </dgm:t>
    </dgm:pt>
    <dgm:pt modelId="{8B6A6576-F823-4C39-B974-E52A0A4C3911}" type="sibTrans" cxnId="{4640C131-8F07-4F0B-98DD-D708E1859E45}">
      <dgm:prSet/>
      <dgm:spPr/>
      <dgm:t>
        <a:bodyPr/>
        <a:lstStyle/>
        <a:p>
          <a:endParaRPr lang="en-US"/>
        </a:p>
      </dgm:t>
    </dgm:pt>
    <dgm:pt modelId="{4AB0C352-8D34-4777-B29E-C519BA0F17B1}">
      <dgm:prSet custT="1"/>
      <dgm:spPr/>
      <dgm:t>
        <a:bodyPr/>
        <a:lstStyle/>
        <a:p>
          <a:r>
            <a:rPr lang="en-US" sz="1300" b="1" dirty="0"/>
            <a:t>Base Rate: </a:t>
          </a:r>
          <a:r>
            <a:rPr lang="en-US" sz="1300" b="0" dirty="0"/>
            <a:t>Lending interest rate for USD (U)</a:t>
          </a:r>
          <a:endParaRPr lang="en-US" sz="1300" dirty="0"/>
        </a:p>
      </dgm:t>
    </dgm:pt>
    <dgm:pt modelId="{EEF83919-4409-4776-B211-92076B397B4A}" type="parTrans" cxnId="{4FBCE36E-E206-4191-A883-25DDCF7570B8}">
      <dgm:prSet/>
      <dgm:spPr/>
      <dgm:t>
        <a:bodyPr/>
        <a:lstStyle/>
        <a:p>
          <a:endParaRPr lang="en-US"/>
        </a:p>
      </dgm:t>
    </dgm:pt>
    <dgm:pt modelId="{F83A0B4B-9FCD-4B66-870B-6917BA28D014}" type="sibTrans" cxnId="{4FBCE36E-E206-4191-A883-25DDCF7570B8}">
      <dgm:prSet/>
      <dgm:spPr/>
      <dgm:t>
        <a:bodyPr/>
        <a:lstStyle/>
        <a:p>
          <a:endParaRPr lang="en-US"/>
        </a:p>
      </dgm:t>
    </dgm:pt>
    <dgm:pt modelId="{150976F5-B085-4311-BD9C-9DD9DE4C3633}">
      <dgm:prSet custT="1"/>
      <dgm:spPr/>
      <dgm:t>
        <a:bodyPr/>
        <a:lstStyle/>
        <a:p>
          <a:r>
            <a:rPr lang="en-US" sz="1300" b="1" dirty="0"/>
            <a:t>Utilization Factor: </a:t>
          </a:r>
          <a:r>
            <a:rPr lang="en-US" sz="1300" b="0" dirty="0"/>
            <a:t>The fewer U in the AMM, the higher the factor</a:t>
          </a:r>
          <a:endParaRPr lang="en-US" sz="1300" dirty="0"/>
        </a:p>
      </dgm:t>
    </dgm:pt>
    <dgm:pt modelId="{3366D10F-3140-4673-9BEA-A673B5FE7457}" type="parTrans" cxnId="{AEE29723-F1A3-4431-8B24-20C39C1CFFAC}">
      <dgm:prSet/>
      <dgm:spPr/>
      <dgm:t>
        <a:bodyPr/>
        <a:lstStyle/>
        <a:p>
          <a:endParaRPr lang="en-US"/>
        </a:p>
      </dgm:t>
    </dgm:pt>
    <dgm:pt modelId="{00B3D9F0-D400-4EDA-9DBB-30A1767EA34D}" type="sibTrans" cxnId="{AEE29723-F1A3-4431-8B24-20C39C1CFFAC}">
      <dgm:prSet/>
      <dgm:spPr/>
      <dgm:t>
        <a:bodyPr/>
        <a:lstStyle/>
        <a:p>
          <a:endParaRPr lang="en-US"/>
        </a:p>
      </dgm:t>
    </dgm:pt>
    <dgm:pt modelId="{37B7BD57-38C7-4A6D-B459-400AE551C40F}">
      <dgm:prSet custT="1"/>
      <dgm:spPr/>
      <dgm:t>
        <a:bodyPr/>
        <a:lstStyle/>
        <a:p>
          <a:r>
            <a:rPr lang="en-US" sz="1300" b="1" dirty="0"/>
            <a:t>Collateral Risk Premium: </a:t>
          </a:r>
          <a:r>
            <a:rPr lang="en-US" sz="1300" b="0" dirty="0"/>
            <a:t>Risk premium of the underlying asset</a:t>
          </a:r>
          <a:endParaRPr lang="en-US" sz="1300" dirty="0"/>
        </a:p>
      </dgm:t>
    </dgm:pt>
    <dgm:pt modelId="{4272E860-3CDE-41B4-AADB-E2DD7C053AC1}" type="parTrans" cxnId="{93EBBB67-C651-40B7-A120-024EA09059B5}">
      <dgm:prSet/>
      <dgm:spPr/>
      <dgm:t>
        <a:bodyPr/>
        <a:lstStyle/>
        <a:p>
          <a:endParaRPr lang="en-US"/>
        </a:p>
      </dgm:t>
    </dgm:pt>
    <dgm:pt modelId="{17EF2FF7-7EBE-41CB-8D12-F79D563980D1}" type="sibTrans" cxnId="{93EBBB67-C651-40B7-A120-024EA09059B5}">
      <dgm:prSet/>
      <dgm:spPr/>
      <dgm:t>
        <a:bodyPr/>
        <a:lstStyle/>
        <a:p>
          <a:endParaRPr lang="en-US"/>
        </a:p>
      </dgm:t>
    </dgm:pt>
    <dgm:pt modelId="{7D2075FE-9F27-4670-B31B-51BDD6BBDE0D}">
      <dgm:prSet/>
      <dgm:spPr/>
      <dgm:t>
        <a:bodyPr/>
        <a:lstStyle/>
        <a:p>
          <a:pPr>
            <a:defRPr b="1"/>
          </a:pPr>
          <a:r>
            <a:rPr lang="en-US" b="1" dirty="0"/>
            <a:t>Practical:</a:t>
          </a:r>
          <a:endParaRPr lang="en-US" dirty="0"/>
        </a:p>
      </dgm:t>
    </dgm:pt>
    <dgm:pt modelId="{442DA1ED-F263-44C6-B212-D8882DEC1426}" type="parTrans" cxnId="{98E33823-0AE8-4168-8A08-C4CF2D704420}">
      <dgm:prSet/>
      <dgm:spPr/>
      <dgm:t>
        <a:bodyPr/>
        <a:lstStyle/>
        <a:p>
          <a:endParaRPr lang="en-US"/>
        </a:p>
      </dgm:t>
    </dgm:pt>
    <dgm:pt modelId="{2DD1C0C1-6395-4DA6-9BA3-1365FD9D91CF}" type="sibTrans" cxnId="{98E33823-0AE8-4168-8A08-C4CF2D704420}">
      <dgm:prSet/>
      <dgm:spPr/>
      <dgm:t>
        <a:bodyPr/>
        <a:lstStyle/>
        <a:p>
          <a:endParaRPr lang="en-US"/>
        </a:p>
      </dgm:t>
    </dgm:pt>
    <dgm:pt modelId="{B343C926-8A66-418D-A3A7-683C3AA7904A}">
      <dgm:prSet custT="1"/>
      <dgm:spPr/>
      <dgm:t>
        <a:bodyPr/>
        <a:lstStyle/>
        <a:p>
          <a:r>
            <a:rPr lang="en-US" sz="1300" b="0" dirty="0"/>
            <a:t>Interest is accrued on a per‑second basis and reflected in the net value of L tokens. </a:t>
          </a:r>
          <a:endParaRPr lang="en-US" sz="1300" dirty="0"/>
        </a:p>
      </dgm:t>
    </dgm:pt>
    <dgm:pt modelId="{6D455EFC-44A8-4DF2-8060-8422B11BD26C}" type="parTrans" cxnId="{97D6EF0F-6E89-4088-86D1-EB42A1FFC24B}">
      <dgm:prSet/>
      <dgm:spPr/>
      <dgm:t>
        <a:bodyPr/>
        <a:lstStyle/>
        <a:p>
          <a:endParaRPr lang="en-US"/>
        </a:p>
      </dgm:t>
    </dgm:pt>
    <dgm:pt modelId="{7EE19300-0E48-45CD-94E4-9038E03814CF}" type="sibTrans" cxnId="{97D6EF0F-6E89-4088-86D1-EB42A1FFC24B}">
      <dgm:prSet/>
      <dgm:spPr/>
      <dgm:t>
        <a:bodyPr/>
        <a:lstStyle/>
        <a:p>
          <a:endParaRPr lang="en-US"/>
        </a:p>
      </dgm:t>
    </dgm:pt>
    <dgm:pt modelId="{5900D45A-2F66-4AC2-A630-0560B1118837}">
      <dgm:prSet custT="1"/>
      <dgm:spPr/>
      <dgm:t>
        <a:bodyPr/>
        <a:lstStyle/>
        <a:p>
          <a:r>
            <a:rPr lang="en-US" sz="1300" b="0" dirty="0"/>
            <a:t>Upon burning, the deduction is made once in the form of the underlying asset</a:t>
          </a:r>
          <a:endParaRPr lang="en-US" sz="1300" dirty="0"/>
        </a:p>
      </dgm:t>
    </dgm:pt>
    <dgm:pt modelId="{E4849D44-4A79-4EAC-9403-25AE0C7B2C46}" type="sibTrans" cxnId="{E3238B0D-37C7-4414-9EF2-E22D21140547}">
      <dgm:prSet/>
      <dgm:spPr/>
      <dgm:t>
        <a:bodyPr/>
        <a:lstStyle/>
        <a:p>
          <a:endParaRPr lang="en-US"/>
        </a:p>
      </dgm:t>
    </dgm:pt>
    <dgm:pt modelId="{CBBABE4B-6DF1-4671-94B3-CCB9D5228258}" type="parTrans" cxnId="{E3238B0D-37C7-4414-9EF2-E22D21140547}">
      <dgm:prSet/>
      <dgm:spPr/>
      <dgm:t>
        <a:bodyPr/>
        <a:lstStyle/>
        <a:p>
          <a:endParaRPr lang="en-US"/>
        </a:p>
      </dgm:t>
    </dgm:pt>
    <dgm:pt modelId="{F870A763-2093-4614-BF0F-F3B51397243D}" type="pres">
      <dgm:prSet presAssocID="{DC9716A4-4751-441A-926C-95C392328ADB}" presName="root" presStyleCnt="0">
        <dgm:presLayoutVars>
          <dgm:dir/>
          <dgm:resizeHandles val="exact"/>
        </dgm:presLayoutVars>
      </dgm:prSet>
      <dgm:spPr/>
    </dgm:pt>
    <dgm:pt modelId="{8E4B5E16-B871-491B-BDA3-DC27767BB778}" type="pres">
      <dgm:prSet presAssocID="{052E0C05-CE2B-4F3A-B496-2708874A57AE}" presName="compNode" presStyleCnt="0"/>
      <dgm:spPr/>
    </dgm:pt>
    <dgm:pt modelId="{2DF70AF9-7EF7-4458-9FA5-826295B5142E}" type="pres">
      <dgm:prSet presAssocID="{052E0C05-CE2B-4F3A-B496-2708874A57A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DD48B65C-C9C3-4F19-83FB-D77137103843}" type="pres">
      <dgm:prSet presAssocID="{052E0C05-CE2B-4F3A-B496-2708874A57AE}" presName="iconSpace" presStyleCnt="0"/>
      <dgm:spPr/>
    </dgm:pt>
    <dgm:pt modelId="{22C574DA-A207-4189-AB4B-16F3C4848976}" type="pres">
      <dgm:prSet presAssocID="{052E0C05-CE2B-4F3A-B496-2708874A57AE}" presName="parTx" presStyleLbl="revTx" presStyleIdx="0" presStyleCnt="6">
        <dgm:presLayoutVars>
          <dgm:chMax val="0"/>
          <dgm:chPref val="0"/>
        </dgm:presLayoutVars>
      </dgm:prSet>
      <dgm:spPr/>
    </dgm:pt>
    <dgm:pt modelId="{2133E514-8D70-483D-BAF3-C66077518D37}" type="pres">
      <dgm:prSet presAssocID="{052E0C05-CE2B-4F3A-B496-2708874A57AE}" presName="txSpace" presStyleCnt="0"/>
      <dgm:spPr/>
    </dgm:pt>
    <dgm:pt modelId="{E89ABBBF-65AD-4A50-BA34-1FE56DFCF0D4}" type="pres">
      <dgm:prSet presAssocID="{052E0C05-CE2B-4F3A-B496-2708874A57AE}" presName="desTx" presStyleLbl="revTx" presStyleIdx="1" presStyleCnt="6">
        <dgm:presLayoutVars/>
      </dgm:prSet>
      <dgm:spPr/>
    </dgm:pt>
    <dgm:pt modelId="{F1502AC8-09BC-4474-8599-D4CC8E3186B4}" type="pres">
      <dgm:prSet presAssocID="{E52944F3-2830-494B-B5AB-2D0982644F11}" presName="sibTrans" presStyleCnt="0"/>
      <dgm:spPr/>
    </dgm:pt>
    <dgm:pt modelId="{9BECC31E-CA2B-44AE-80FA-AAD7EFCD88DC}" type="pres">
      <dgm:prSet presAssocID="{338363A0-E9A8-467F-B68F-E73C2E4E0FF0}" presName="compNode" presStyleCnt="0"/>
      <dgm:spPr/>
    </dgm:pt>
    <dgm:pt modelId="{3A3210D8-71F9-4797-9314-D676B5C523BA}" type="pres">
      <dgm:prSet presAssocID="{338363A0-E9A8-467F-B68F-E73C2E4E0FF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rtgage with solid fill"/>
        </a:ext>
      </dgm:extLst>
    </dgm:pt>
    <dgm:pt modelId="{3BE4916B-899F-4FA0-80CD-7A07F3B2C229}" type="pres">
      <dgm:prSet presAssocID="{338363A0-E9A8-467F-B68F-E73C2E4E0FF0}" presName="iconSpace" presStyleCnt="0"/>
      <dgm:spPr/>
    </dgm:pt>
    <dgm:pt modelId="{A88242DB-6834-407B-BC86-9666D2D6AA40}" type="pres">
      <dgm:prSet presAssocID="{338363A0-E9A8-467F-B68F-E73C2E4E0FF0}" presName="parTx" presStyleLbl="revTx" presStyleIdx="2" presStyleCnt="6">
        <dgm:presLayoutVars>
          <dgm:chMax val="0"/>
          <dgm:chPref val="0"/>
        </dgm:presLayoutVars>
      </dgm:prSet>
      <dgm:spPr/>
    </dgm:pt>
    <dgm:pt modelId="{3290D72C-0A52-4D50-838C-245D8DD9C217}" type="pres">
      <dgm:prSet presAssocID="{338363A0-E9A8-467F-B68F-E73C2E4E0FF0}" presName="txSpace" presStyleCnt="0"/>
      <dgm:spPr/>
    </dgm:pt>
    <dgm:pt modelId="{0049111E-A5F5-4277-A2AC-37366318F207}" type="pres">
      <dgm:prSet presAssocID="{338363A0-E9A8-467F-B68F-E73C2E4E0FF0}" presName="desTx" presStyleLbl="revTx" presStyleIdx="3" presStyleCnt="6">
        <dgm:presLayoutVars/>
      </dgm:prSet>
      <dgm:spPr/>
    </dgm:pt>
    <dgm:pt modelId="{A929FB90-740D-4E0C-A122-F98D46A0FE73}" type="pres">
      <dgm:prSet presAssocID="{8B6A6576-F823-4C39-B974-E52A0A4C3911}" presName="sibTrans" presStyleCnt="0"/>
      <dgm:spPr/>
    </dgm:pt>
    <dgm:pt modelId="{8052FF29-0B74-4699-A761-6EA438B71578}" type="pres">
      <dgm:prSet presAssocID="{7D2075FE-9F27-4670-B31B-51BDD6BBDE0D}" presName="compNode" presStyleCnt="0"/>
      <dgm:spPr/>
    </dgm:pt>
    <dgm:pt modelId="{ABFA15C1-0E18-4C05-8401-160BD2AC9D8B}" type="pres">
      <dgm:prSet presAssocID="{7D2075FE-9F27-4670-B31B-51BDD6BBDE0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 with solid fill"/>
        </a:ext>
      </dgm:extLst>
    </dgm:pt>
    <dgm:pt modelId="{AA69F335-EFBC-4EC3-B600-2D79D4BC9D55}" type="pres">
      <dgm:prSet presAssocID="{7D2075FE-9F27-4670-B31B-51BDD6BBDE0D}" presName="iconSpace" presStyleCnt="0"/>
      <dgm:spPr/>
    </dgm:pt>
    <dgm:pt modelId="{F48D835D-43F5-455A-ACE6-700A3F3734FB}" type="pres">
      <dgm:prSet presAssocID="{7D2075FE-9F27-4670-B31B-51BDD6BBDE0D}" presName="parTx" presStyleLbl="revTx" presStyleIdx="4" presStyleCnt="6">
        <dgm:presLayoutVars>
          <dgm:chMax val="0"/>
          <dgm:chPref val="0"/>
        </dgm:presLayoutVars>
      </dgm:prSet>
      <dgm:spPr/>
    </dgm:pt>
    <dgm:pt modelId="{88D45B47-4D04-45ED-A52E-AF2F7F3DC3D2}" type="pres">
      <dgm:prSet presAssocID="{7D2075FE-9F27-4670-B31B-51BDD6BBDE0D}" presName="txSpace" presStyleCnt="0"/>
      <dgm:spPr/>
    </dgm:pt>
    <dgm:pt modelId="{3D7CF66D-D255-4F58-B163-AADDFA0F85DF}" type="pres">
      <dgm:prSet presAssocID="{7D2075FE-9F27-4670-B31B-51BDD6BBDE0D}" presName="desTx" presStyleLbl="revTx" presStyleIdx="5" presStyleCnt="6">
        <dgm:presLayoutVars/>
      </dgm:prSet>
      <dgm:spPr/>
    </dgm:pt>
  </dgm:ptLst>
  <dgm:cxnLst>
    <dgm:cxn modelId="{332F6800-B66D-40AE-9ED4-7EA3D469F540}" type="presOf" srcId="{37B7BD57-38C7-4A6D-B459-400AE551C40F}" destId="{0049111E-A5F5-4277-A2AC-37366318F207}" srcOrd="0" destOrd="2" presId="urn:microsoft.com/office/officeart/2018/2/layout/IconLabelDescriptionList"/>
    <dgm:cxn modelId="{E3238B0D-37C7-4414-9EF2-E22D21140547}" srcId="{7D2075FE-9F27-4670-B31B-51BDD6BBDE0D}" destId="{5900D45A-2F66-4AC2-A630-0560B1118837}" srcOrd="1" destOrd="0" parTransId="{CBBABE4B-6DF1-4671-94B3-CCB9D5228258}" sibTransId="{E4849D44-4A79-4EAC-9403-25AE0C7B2C46}"/>
    <dgm:cxn modelId="{97D6EF0F-6E89-4088-86D1-EB42A1FFC24B}" srcId="{7D2075FE-9F27-4670-B31B-51BDD6BBDE0D}" destId="{B343C926-8A66-418D-A3A7-683C3AA7904A}" srcOrd="0" destOrd="0" parTransId="{6D455EFC-44A8-4DF2-8060-8422B11BD26C}" sibTransId="{7EE19300-0E48-45CD-94E4-9038E03814CF}"/>
    <dgm:cxn modelId="{98E33823-0AE8-4168-8A08-C4CF2D704420}" srcId="{DC9716A4-4751-441A-926C-95C392328ADB}" destId="{7D2075FE-9F27-4670-B31B-51BDD6BBDE0D}" srcOrd="2" destOrd="0" parTransId="{442DA1ED-F263-44C6-B212-D8882DEC1426}" sibTransId="{2DD1C0C1-6395-4DA6-9BA3-1365FD9D91CF}"/>
    <dgm:cxn modelId="{AEE29723-F1A3-4431-8B24-20C39C1CFFAC}" srcId="{338363A0-E9A8-467F-B68F-E73C2E4E0FF0}" destId="{150976F5-B085-4311-BD9C-9DD9DE4C3633}" srcOrd="1" destOrd="0" parTransId="{3366D10F-3140-4673-9BEA-A673B5FE7457}" sibTransId="{00B3D9F0-D400-4EDA-9DBB-30A1767EA34D}"/>
    <dgm:cxn modelId="{96832F29-D5C4-4E48-AE2B-310CD25B971B}" type="presOf" srcId="{DC9716A4-4751-441A-926C-95C392328ADB}" destId="{F870A763-2093-4614-BF0F-F3B51397243D}" srcOrd="0" destOrd="0" presId="urn:microsoft.com/office/officeart/2018/2/layout/IconLabelDescriptionList"/>
    <dgm:cxn modelId="{ACBFBE2A-742B-48D6-93D1-E33F27039DF7}" type="presOf" srcId="{5900D45A-2F66-4AC2-A630-0560B1118837}" destId="{3D7CF66D-D255-4F58-B163-AADDFA0F85DF}" srcOrd="0" destOrd="1" presId="urn:microsoft.com/office/officeart/2018/2/layout/IconLabelDescriptionList"/>
    <dgm:cxn modelId="{95B5982C-C795-4362-B130-EA33F2F7A9DD}" type="presOf" srcId="{052E0C05-CE2B-4F3A-B496-2708874A57AE}" destId="{22C574DA-A207-4189-AB4B-16F3C4848976}" srcOrd="0" destOrd="0" presId="urn:microsoft.com/office/officeart/2018/2/layout/IconLabelDescriptionList"/>
    <dgm:cxn modelId="{4640C131-8F07-4F0B-98DD-D708E1859E45}" srcId="{DC9716A4-4751-441A-926C-95C392328ADB}" destId="{338363A0-E9A8-467F-B68F-E73C2E4E0FF0}" srcOrd="1" destOrd="0" parTransId="{8A20B834-2FAE-4260-9640-792095DC05E7}" sibTransId="{8B6A6576-F823-4C39-B974-E52A0A4C3911}"/>
    <dgm:cxn modelId="{1B50B95C-6A66-4FD6-BFF6-73CB70B85800}" type="presOf" srcId="{7D2075FE-9F27-4670-B31B-51BDD6BBDE0D}" destId="{F48D835D-43F5-455A-ACE6-700A3F3734FB}" srcOrd="0" destOrd="0" presId="urn:microsoft.com/office/officeart/2018/2/layout/IconLabelDescriptionList"/>
    <dgm:cxn modelId="{93EBBB67-C651-40B7-A120-024EA09059B5}" srcId="{338363A0-E9A8-467F-B68F-E73C2E4E0FF0}" destId="{37B7BD57-38C7-4A6D-B459-400AE551C40F}" srcOrd="2" destOrd="0" parTransId="{4272E860-3CDE-41B4-AADB-E2DD7C053AC1}" sibTransId="{17EF2FF7-7EBE-41CB-8D12-F79D563980D1}"/>
    <dgm:cxn modelId="{4FBCE36E-E206-4191-A883-25DDCF7570B8}" srcId="{338363A0-E9A8-467F-B68F-E73C2E4E0FF0}" destId="{4AB0C352-8D34-4777-B29E-C519BA0F17B1}" srcOrd="0" destOrd="0" parTransId="{EEF83919-4409-4776-B211-92076B397B4A}" sibTransId="{F83A0B4B-9FCD-4B66-870B-6917BA28D014}"/>
    <dgm:cxn modelId="{3FC49187-CDBF-4CFE-8AB4-B9285EFF5CC5}" srcId="{DC9716A4-4751-441A-926C-95C392328ADB}" destId="{052E0C05-CE2B-4F3A-B496-2708874A57AE}" srcOrd="0" destOrd="0" parTransId="{D4137400-B38D-4BFB-8636-6713C2F5F3AA}" sibTransId="{E52944F3-2830-494B-B5AB-2D0982644F11}"/>
    <dgm:cxn modelId="{78510CAA-D281-49B8-A61D-873EEA99D799}" type="presOf" srcId="{150976F5-B085-4311-BD9C-9DD9DE4C3633}" destId="{0049111E-A5F5-4277-A2AC-37366318F207}" srcOrd="0" destOrd="1" presId="urn:microsoft.com/office/officeart/2018/2/layout/IconLabelDescriptionList"/>
    <dgm:cxn modelId="{B43142C0-CAA5-489B-8A49-B9051000C16A}" type="presOf" srcId="{338363A0-E9A8-467F-B68F-E73C2E4E0FF0}" destId="{A88242DB-6834-407B-BC86-9666D2D6AA40}" srcOrd="0" destOrd="0" presId="urn:microsoft.com/office/officeart/2018/2/layout/IconLabelDescriptionList"/>
    <dgm:cxn modelId="{19A58AC3-1C72-4815-874E-25399D540C56}" type="presOf" srcId="{4AB0C352-8D34-4777-B29E-C519BA0F17B1}" destId="{0049111E-A5F5-4277-A2AC-37366318F207}" srcOrd="0" destOrd="0" presId="urn:microsoft.com/office/officeart/2018/2/layout/IconLabelDescriptionList"/>
    <dgm:cxn modelId="{7F103AFA-23F0-41A5-A548-3E70F110746D}" type="presOf" srcId="{B343C926-8A66-418D-A3A7-683C3AA7904A}" destId="{3D7CF66D-D255-4F58-B163-AADDFA0F85DF}" srcOrd="0" destOrd="0" presId="urn:microsoft.com/office/officeart/2018/2/layout/IconLabelDescriptionList"/>
    <dgm:cxn modelId="{1410B5D3-67F4-4310-AD84-2206899542C0}" type="presParOf" srcId="{F870A763-2093-4614-BF0F-F3B51397243D}" destId="{8E4B5E16-B871-491B-BDA3-DC27767BB778}" srcOrd="0" destOrd="0" presId="urn:microsoft.com/office/officeart/2018/2/layout/IconLabelDescriptionList"/>
    <dgm:cxn modelId="{E58F42B4-9712-48D8-8DD8-5EDEA14175CD}" type="presParOf" srcId="{8E4B5E16-B871-491B-BDA3-DC27767BB778}" destId="{2DF70AF9-7EF7-4458-9FA5-826295B5142E}" srcOrd="0" destOrd="0" presId="urn:microsoft.com/office/officeart/2018/2/layout/IconLabelDescriptionList"/>
    <dgm:cxn modelId="{F72C54F2-DBE9-4646-8079-877BC719ED2E}" type="presParOf" srcId="{8E4B5E16-B871-491B-BDA3-DC27767BB778}" destId="{DD48B65C-C9C3-4F19-83FB-D77137103843}" srcOrd="1" destOrd="0" presId="urn:microsoft.com/office/officeart/2018/2/layout/IconLabelDescriptionList"/>
    <dgm:cxn modelId="{9CB4883B-6994-45D6-A510-E806F02412F8}" type="presParOf" srcId="{8E4B5E16-B871-491B-BDA3-DC27767BB778}" destId="{22C574DA-A207-4189-AB4B-16F3C4848976}" srcOrd="2" destOrd="0" presId="urn:microsoft.com/office/officeart/2018/2/layout/IconLabelDescriptionList"/>
    <dgm:cxn modelId="{35045394-F83E-48DC-8EBE-1E910EBABF4A}" type="presParOf" srcId="{8E4B5E16-B871-491B-BDA3-DC27767BB778}" destId="{2133E514-8D70-483D-BAF3-C66077518D37}" srcOrd="3" destOrd="0" presId="urn:microsoft.com/office/officeart/2018/2/layout/IconLabelDescriptionList"/>
    <dgm:cxn modelId="{ADF1DE33-F22C-4D30-8C5F-49744D26F438}" type="presParOf" srcId="{8E4B5E16-B871-491B-BDA3-DC27767BB778}" destId="{E89ABBBF-65AD-4A50-BA34-1FE56DFCF0D4}" srcOrd="4" destOrd="0" presId="urn:microsoft.com/office/officeart/2018/2/layout/IconLabelDescriptionList"/>
    <dgm:cxn modelId="{0811B5C7-7754-4581-A333-7CFFAFE917F4}" type="presParOf" srcId="{F870A763-2093-4614-BF0F-F3B51397243D}" destId="{F1502AC8-09BC-4474-8599-D4CC8E3186B4}" srcOrd="1" destOrd="0" presId="urn:microsoft.com/office/officeart/2018/2/layout/IconLabelDescriptionList"/>
    <dgm:cxn modelId="{6AE44C8A-E060-4887-9CA3-C2E760FFD652}" type="presParOf" srcId="{F870A763-2093-4614-BF0F-F3B51397243D}" destId="{9BECC31E-CA2B-44AE-80FA-AAD7EFCD88DC}" srcOrd="2" destOrd="0" presId="urn:microsoft.com/office/officeart/2018/2/layout/IconLabelDescriptionList"/>
    <dgm:cxn modelId="{8BBB81AC-D22F-4138-8E5A-D6B5D9C9264A}" type="presParOf" srcId="{9BECC31E-CA2B-44AE-80FA-AAD7EFCD88DC}" destId="{3A3210D8-71F9-4797-9314-D676B5C523BA}" srcOrd="0" destOrd="0" presId="urn:microsoft.com/office/officeart/2018/2/layout/IconLabelDescriptionList"/>
    <dgm:cxn modelId="{59B105E9-F71E-40FD-9914-880299C0BAE5}" type="presParOf" srcId="{9BECC31E-CA2B-44AE-80FA-AAD7EFCD88DC}" destId="{3BE4916B-899F-4FA0-80CD-7A07F3B2C229}" srcOrd="1" destOrd="0" presId="urn:microsoft.com/office/officeart/2018/2/layout/IconLabelDescriptionList"/>
    <dgm:cxn modelId="{42585466-4B93-43D2-8555-8B23394A2F77}" type="presParOf" srcId="{9BECC31E-CA2B-44AE-80FA-AAD7EFCD88DC}" destId="{A88242DB-6834-407B-BC86-9666D2D6AA40}" srcOrd="2" destOrd="0" presId="urn:microsoft.com/office/officeart/2018/2/layout/IconLabelDescriptionList"/>
    <dgm:cxn modelId="{632DEDF1-C08F-4A48-94FA-68214DB3CA2E}" type="presParOf" srcId="{9BECC31E-CA2B-44AE-80FA-AAD7EFCD88DC}" destId="{3290D72C-0A52-4D50-838C-245D8DD9C217}" srcOrd="3" destOrd="0" presId="urn:microsoft.com/office/officeart/2018/2/layout/IconLabelDescriptionList"/>
    <dgm:cxn modelId="{956B48D7-A46C-4A62-9360-589601C028B9}" type="presParOf" srcId="{9BECC31E-CA2B-44AE-80FA-AAD7EFCD88DC}" destId="{0049111E-A5F5-4277-A2AC-37366318F207}" srcOrd="4" destOrd="0" presId="urn:microsoft.com/office/officeart/2018/2/layout/IconLabelDescriptionList"/>
    <dgm:cxn modelId="{732E9506-8DED-4C9E-8150-80C1993F3477}" type="presParOf" srcId="{F870A763-2093-4614-BF0F-F3B51397243D}" destId="{A929FB90-740D-4E0C-A122-F98D46A0FE73}" srcOrd="3" destOrd="0" presId="urn:microsoft.com/office/officeart/2018/2/layout/IconLabelDescriptionList"/>
    <dgm:cxn modelId="{4A36C45D-4C53-4382-878E-511E443C85F3}" type="presParOf" srcId="{F870A763-2093-4614-BF0F-F3B51397243D}" destId="{8052FF29-0B74-4699-A761-6EA438B71578}" srcOrd="4" destOrd="0" presId="urn:microsoft.com/office/officeart/2018/2/layout/IconLabelDescriptionList"/>
    <dgm:cxn modelId="{64A6794C-AD83-431F-B489-20CE2B19BC3F}" type="presParOf" srcId="{8052FF29-0B74-4699-A761-6EA438B71578}" destId="{ABFA15C1-0E18-4C05-8401-160BD2AC9D8B}" srcOrd="0" destOrd="0" presId="urn:microsoft.com/office/officeart/2018/2/layout/IconLabelDescriptionList"/>
    <dgm:cxn modelId="{306D6941-31FA-41C3-83A4-8A8607F4E703}" type="presParOf" srcId="{8052FF29-0B74-4699-A761-6EA438B71578}" destId="{AA69F335-EFBC-4EC3-B600-2D79D4BC9D55}" srcOrd="1" destOrd="0" presId="urn:microsoft.com/office/officeart/2018/2/layout/IconLabelDescriptionList"/>
    <dgm:cxn modelId="{C602DC41-0F57-44AF-9913-42CA1C2F5B8F}" type="presParOf" srcId="{8052FF29-0B74-4699-A761-6EA438B71578}" destId="{F48D835D-43F5-455A-ACE6-700A3F3734FB}" srcOrd="2" destOrd="0" presId="urn:microsoft.com/office/officeart/2018/2/layout/IconLabelDescriptionList"/>
    <dgm:cxn modelId="{F8E6B8B3-7C2D-4705-907C-CB06E1D1AF21}" type="presParOf" srcId="{8052FF29-0B74-4699-A761-6EA438B71578}" destId="{88D45B47-4D04-45ED-A52E-AF2F7F3DC3D2}" srcOrd="3" destOrd="0" presId="urn:microsoft.com/office/officeart/2018/2/layout/IconLabelDescriptionList"/>
    <dgm:cxn modelId="{B017CB00-3973-4EC8-AC84-E2AAA7CABD54}" type="presParOf" srcId="{8052FF29-0B74-4699-A761-6EA438B71578}" destId="{3D7CF66D-D255-4F58-B163-AADDFA0F85DF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9A99145-F11D-4B93-B002-7915572FC7ED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0110F39-B120-4FE1-B29A-560A5C4E9EA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Third-party oracles</a:t>
          </a:r>
        </a:p>
      </dgm:t>
    </dgm:pt>
    <dgm:pt modelId="{8617C8A2-895B-447B-88CD-1C280A6930ED}" type="parTrans" cxnId="{3AB2A868-4802-4EE8-8D09-B01586768322}">
      <dgm:prSet/>
      <dgm:spPr/>
      <dgm:t>
        <a:bodyPr/>
        <a:lstStyle/>
        <a:p>
          <a:endParaRPr lang="en-US"/>
        </a:p>
      </dgm:t>
    </dgm:pt>
    <dgm:pt modelId="{A20C88F5-9B6D-4FA6-9F38-860A731E2070}" type="sibTrans" cxnId="{3AB2A868-4802-4EE8-8D09-B01586768322}">
      <dgm:prSet/>
      <dgm:spPr/>
      <dgm:t>
        <a:bodyPr/>
        <a:lstStyle/>
        <a:p>
          <a:endParaRPr lang="en-US"/>
        </a:p>
      </dgm:t>
    </dgm:pt>
    <dgm:pt modelId="{BD9AADFE-0C4A-442A-8069-F11D13936B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Chainlink</a:t>
          </a:r>
        </a:p>
      </dgm:t>
    </dgm:pt>
    <dgm:pt modelId="{EA23C7C2-358C-47AE-9192-1C9583E521B5}" type="parTrans" cxnId="{11B1E0AD-758D-40DE-BCA3-54C940D7A7A4}">
      <dgm:prSet/>
      <dgm:spPr/>
      <dgm:t>
        <a:bodyPr/>
        <a:lstStyle/>
        <a:p>
          <a:endParaRPr lang="en-US"/>
        </a:p>
      </dgm:t>
    </dgm:pt>
    <dgm:pt modelId="{D814B771-6E28-42AB-8592-02519925D3EB}" type="sibTrans" cxnId="{11B1E0AD-758D-40DE-BCA3-54C940D7A7A4}">
      <dgm:prSet/>
      <dgm:spPr/>
      <dgm:t>
        <a:bodyPr/>
        <a:lstStyle/>
        <a:p>
          <a:endParaRPr lang="en-US"/>
        </a:p>
      </dgm:t>
    </dgm:pt>
    <dgm:pt modelId="{DED9E348-CD61-4A77-87D2-2F3AD2A6672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Pyth Network</a:t>
          </a:r>
        </a:p>
      </dgm:t>
    </dgm:pt>
    <dgm:pt modelId="{8033AC6D-FB94-4E72-A4BB-705A4120634A}" type="parTrans" cxnId="{27DC7083-A183-44ED-9B7F-7E99F544D978}">
      <dgm:prSet/>
      <dgm:spPr/>
      <dgm:t>
        <a:bodyPr/>
        <a:lstStyle/>
        <a:p>
          <a:endParaRPr lang="en-US"/>
        </a:p>
      </dgm:t>
    </dgm:pt>
    <dgm:pt modelId="{D44E76C1-1563-439C-A63A-8AFDC8C2299C}" type="sibTrans" cxnId="{27DC7083-A183-44ED-9B7F-7E99F544D978}">
      <dgm:prSet/>
      <dgm:spPr/>
      <dgm:t>
        <a:bodyPr/>
        <a:lstStyle/>
        <a:p>
          <a:endParaRPr lang="en-US"/>
        </a:p>
      </dgm:t>
    </dgm:pt>
    <dgm:pt modelId="{A0EB6326-1864-4AA9-AE20-3CC3657879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RedStone</a:t>
          </a:r>
        </a:p>
      </dgm:t>
    </dgm:pt>
    <dgm:pt modelId="{01CE507E-6812-41F0-BE37-8357282A87E2}" type="parTrans" cxnId="{D2A93B72-B0D3-4D96-B64A-0F6FBF517E5D}">
      <dgm:prSet/>
      <dgm:spPr/>
      <dgm:t>
        <a:bodyPr/>
        <a:lstStyle/>
        <a:p>
          <a:endParaRPr lang="en-US"/>
        </a:p>
      </dgm:t>
    </dgm:pt>
    <dgm:pt modelId="{E8F6C092-B56B-464F-93D7-2661996424D6}" type="sibTrans" cxnId="{D2A93B72-B0D3-4D96-B64A-0F6FBF517E5D}">
      <dgm:prSet/>
      <dgm:spPr/>
      <dgm:t>
        <a:bodyPr/>
        <a:lstStyle/>
        <a:p>
          <a:endParaRPr lang="en-US"/>
        </a:p>
      </dgm:t>
    </dgm:pt>
    <dgm:pt modelId="{F253B147-BADF-49DF-8E95-998249DC59C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Core features:</a:t>
          </a:r>
        </a:p>
      </dgm:t>
    </dgm:pt>
    <dgm:pt modelId="{CE0C62A1-9713-4E32-9A35-2DEA05140C6D}" type="parTrans" cxnId="{E5AD2688-D823-4AA0-B845-E4049A9FDE31}">
      <dgm:prSet/>
      <dgm:spPr/>
      <dgm:t>
        <a:bodyPr/>
        <a:lstStyle/>
        <a:p>
          <a:endParaRPr lang="en-US"/>
        </a:p>
      </dgm:t>
    </dgm:pt>
    <dgm:pt modelId="{28E8F0CD-5754-43D4-96E4-FFE1D9A2755C}" type="sibTrans" cxnId="{E5AD2688-D823-4AA0-B845-E4049A9FDE31}">
      <dgm:prSet/>
      <dgm:spPr/>
      <dgm:t>
        <a:bodyPr/>
        <a:lstStyle/>
        <a:p>
          <a:endParaRPr lang="en-US"/>
        </a:p>
      </dgm:t>
    </dgm:pt>
    <dgm:pt modelId="{5AF68653-E073-494D-BDAA-2759F3A72F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Delayed price updates</a:t>
          </a:r>
        </a:p>
      </dgm:t>
    </dgm:pt>
    <dgm:pt modelId="{6CA6A55F-09C1-4D0B-8B7A-5908238852D4}" type="parTrans" cxnId="{B41C141F-2BCF-4EF6-891D-2F01718ADA08}">
      <dgm:prSet/>
      <dgm:spPr/>
      <dgm:t>
        <a:bodyPr/>
        <a:lstStyle/>
        <a:p>
          <a:endParaRPr lang="en-US"/>
        </a:p>
      </dgm:t>
    </dgm:pt>
    <dgm:pt modelId="{D4A710F5-B964-40BB-8440-AF4A1F80ED6D}" type="sibTrans" cxnId="{B41C141F-2BCF-4EF6-891D-2F01718ADA08}">
      <dgm:prSet/>
      <dgm:spPr/>
      <dgm:t>
        <a:bodyPr/>
        <a:lstStyle/>
        <a:p>
          <a:endParaRPr lang="en-US"/>
        </a:p>
      </dgm:t>
    </dgm:pt>
    <dgm:pt modelId="{9E2FC0F6-793B-4AA5-862A-13CCA706FED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Multi-source aggregation</a:t>
          </a:r>
        </a:p>
      </dgm:t>
    </dgm:pt>
    <dgm:pt modelId="{C6447A3E-B045-400B-AA28-BF57A7551C1F}" type="parTrans" cxnId="{E20FF0CD-4F38-446B-9269-68E3C85B48D4}">
      <dgm:prSet/>
      <dgm:spPr/>
      <dgm:t>
        <a:bodyPr/>
        <a:lstStyle/>
        <a:p>
          <a:endParaRPr lang="en-US"/>
        </a:p>
      </dgm:t>
    </dgm:pt>
    <dgm:pt modelId="{6691DD97-1374-4FD1-B715-5DBDE0E9611E}" type="sibTrans" cxnId="{E20FF0CD-4F38-446B-9269-68E3C85B48D4}">
      <dgm:prSet/>
      <dgm:spPr/>
      <dgm:t>
        <a:bodyPr/>
        <a:lstStyle/>
        <a:p>
          <a:endParaRPr lang="en-US"/>
        </a:p>
      </dgm:t>
    </dgm:pt>
    <dgm:pt modelId="{C7E7C2C0-EA42-4CD0-8BBA-B7167F84CF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Multi-signature voting mechanism </a:t>
          </a:r>
        </a:p>
      </dgm:t>
    </dgm:pt>
    <dgm:pt modelId="{1FA832BE-973D-4329-A93C-76DF7507E487}" type="parTrans" cxnId="{8174A216-7012-4C12-BDA9-C1FB4D618AE7}">
      <dgm:prSet/>
      <dgm:spPr/>
      <dgm:t>
        <a:bodyPr/>
        <a:lstStyle/>
        <a:p>
          <a:endParaRPr lang="en-US"/>
        </a:p>
      </dgm:t>
    </dgm:pt>
    <dgm:pt modelId="{BF1DB2E7-A55D-4471-ACDE-426D1BB9F9E6}" type="sibTrans" cxnId="{8174A216-7012-4C12-BDA9-C1FB4D618AE7}">
      <dgm:prSet/>
      <dgm:spPr/>
      <dgm:t>
        <a:bodyPr/>
        <a:lstStyle/>
        <a:p>
          <a:endParaRPr lang="en-US"/>
        </a:p>
      </dgm:t>
    </dgm:pt>
    <dgm:pt modelId="{B20EDEF7-1A3B-4F54-BF69-85173CD953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Emergency halt </a:t>
          </a:r>
        </a:p>
      </dgm:t>
    </dgm:pt>
    <dgm:pt modelId="{694FC644-4C17-4B1F-9EA5-51A8D1254B4C}" type="parTrans" cxnId="{C3FA45AC-E000-4170-B298-AA6638FF471E}">
      <dgm:prSet/>
      <dgm:spPr/>
      <dgm:t>
        <a:bodyPr/>
        <a:lstStyle/>
        <a:p>
          <a:endParaRPr lang="en-US"/>
        </a:p>
      </dgm:t>
    </dgm:pt>
    <dgm:pt modelId="{F50DAA57-ECA6-4886-AE93-FBC4EA6C57C4}" type="sibTrans" cxnId="{C3FA45AC-E000-4170-B298-AA6638FF471E}">
      <dgm:prSet/>
      <dgm:spPr/>
      <dgm:t>
        <a:bodyPr/>
        <a:lstStyle/>
        <a:p>
          <a:endParaRPr lang="en-US"/>
        </a:p>
      </dgm:t>
    </dgm:pt>
    <dgm:pt modelId="{080BCB6A-3C03-4FA7-831E-B6DC235F35A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Price change threshold</a:t>
          </a:r>
        </a:p>
      </dgm:t>
    </dgm:pt>
    <dgm:pt modelId="{BD9255DE-0525-4060-84A7-B071E0392EA3}" type="parTrans" cxnId="{29B5169B-D2E2-498F-84F6-F6218D594F7A}">
      <dgm:prSet/>
      <dgm:spPr/>
      <dgm:t>
        <a:bodyPr/>
        <a:lstStyle/>
        <a:p>
          <a:endParaRPr lang="en-US"/>
        </a:p>
      </dgm:t>
    </dgm:pt>
    <dgm:pt modelId="{4A02FF40-A934-4A7E-8246-8726CA5EC090}" type="sibTrans" cxnId="{29B5169B-D2E2-498F-84F6-F6218D594F7A}">
      <dgm:prSet/>
      <dgm:spPr/>
      <dgm:t>
        <a:bodyPr/>
        <a:lstStyle/>
        <a:p>
          <a:endParaRPr lang="en-US"/>
        </a:p>
      </dgm:t>
    </dgm:pt>
    <dgm:pt modelId="{1505F291-3A47-4CE5-9A0E-52DA9EF9392B}" type="pres">
      <dgm:prSet presAssocID="{49A99145-F11D-4B93-B002-7915572FC7ED}" presName="root" presStyleCnt="0">
        <dgm:presLayoutVars>
          <dgm:dir/>
          <dgm:resizeHandles val="exact"/>
        </dgm:presLayoutVars>
      </dgm:prSet>
      <dgm:spPr/>
    </dgm:pt>
    <dgm:pt modelId="{85AAB1DE-AAA0-4C31-AB03-ADA80282CF53}" type="pres">
      <dgm:prSet presAssocID="{F0110F39-B120-4FE1-B29A-560A5C4E9EAD}" presName="compNode" presStyleCnt="0"/>
      <dgm:spPr/>
    </dgm:pt>
    <dgm:pt modelId="{ED8FB171-5F8D-43F5-B27E-71538346359E}" type="pres">
      <dgm:prSet presAssocID="{F0110F39-B120-4FE1-B29A-560A5C4E9EA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BF0E093B-5EB8-44CD-A170-E7A9D9E264CF}" type="pres">
      <dgm:prSet presAssocID="{F0110F39-B120-4FE1-B29A-560A5C4E9EAD}" presName="iconSpace" presStyleCnt="0"/>
      <dgm:spPr/>
    </dgm:pt>
    <dgm:pt modelId="{6E5B3CB3-6A74-4AA0-9697-AFED23886263}" type="pres">
      <dgm:prSet presAssocID="{F0110F39-B120-4FE1-B29A-560A5C4E9EAD}" presName="parTx" presStyleLbl="revTx" presStyleIdx="0" presStyleCnt="4">
        <dgm:presLayoutVars>
          <dgm:chMax val="0"/>
          <dgm:chPref val="0"/>
        </dgm:presLayoutVars>
      </dgm:prSet>
      <dgm:spPr/>
    </dgm:pt>
    <dgm:pt modelId="{7CB2CBEB-2168-44E5-9C01-9F3AC606C2E2}" type="pres">
      <dgm:prSet presAssocID="{F0110F39-B120-4FE1-B29A-560A5C4E9EAD}" presName="txSpace" presStyleCnt="0"/>
      <dgm:spPr/>
    </dgm:pt>
    <dgm:pt modelId="{DEF09A06-293A-437A-8994-C9B814E0649B}" type="pres">
      <dgm:prSet presAssocID="{F0110F39-B120-4FE1-B29A-560A5C4E9EAD}" presName="desTx" presStyleLbl="revTx" presStyleIdx="1" presStyleCnt="4">
        <dgm:presLayoutVars/>
      </dgm:prSet>
      <dgm:spPr/>
    </dgm:pt>
    <dgm:pt modelId="{4DFEFE50-ED46-4FA4-AD7F-3C6F285216D1}" type="pres">
      <dgm:prSet presAssocID="{A20C88F5-9B6D-4FA6-9F38-860A731E2070}" presName="sibTrans" presStyleCnt="0"/>
      <dgm:spPr/>
    </dgm:pt>
    <dgm:pt modelId="{0295CDDB-D34A-4466-B456-865F7D5C3F76}" type="pres">
      <dgm:prSet presAssocID="{F253B147-BADF-49DF-8E95-998249DC59CF}" presName="compNode" presStyleCnt="0"/>
      <dgm:spPr/>
    </dgm:pt>
    <dgm:pt modelId="{9561BCE2-FF98-4958-8DE6-CB090AC4B7AE}" type="pres">
      <dgm:prSet presAssocID="{F253B147-BADF-49DF-8E95-998249DC59C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1CD879A-DF09-4137-BA1E-057027347342}" type="pres">
      <dgm:prSet presAssocID="{F253B147-BADF-49DF-8E95-998249DC59CF}" presName="iconSpace" presStyleCnt="0"/>
      <dgm:spPr/>
    </dgm:pt>
    <dgm:pt modelId="{33B8F1DA-F386-437D-BD68-F5A203689D13}" type="pres">
      <dgm:prSet presAssocID="{F253B147-BADF-49DF-8E95-998249DC59CF}" presName="parTx" presStyleLbl="revTx" presStyleIdx="2" presStyleCnt="4">
        <dgm:presLayoutVars>
          <dgm:chMax val="0"/>
          <dgm:chPref val="0"/>
        </dgm:presLayoutVars>
      </dgm:prSet>
      <dgm:spPr/>
    </dgm:pt>
    <dgm:pt modelId="{8D56D590-86AB-4B24-B84E-79BB0F415892}" type="pres">
      <dgm:prSet presAssocID="{F253B147-BADF-49DF-8E95-998249DC59CF}" presName="txSpace" presStyleCnt="0"/>
      <dgm:spPr/>
    </dgm:pt>
    <dgm:pt modelId="{B959AF8D-1020-46E4-AF94-AD38F1F9D5E5}" type="pres">
      <dgm:prSet presAssocID="{F253B147-BADF-49DF-8E95-998249DC59CF}" presName="desTx" presStyleLbl="revTx" presStyleIdx="3" presStyleCnt="4">
        <dgm:presLayoutVars/>
      </dgm:prSet>
      <dgm:spPr/>
    </dgm:pt>
  </dgm:ptLst>
  <dgm:cxnLst>
    <dgm:cxn modelId="{D19F7308-AC91-40E7-B01C-4B427FB1365B}" type="presOf" srcId="{C7E7C2C0-EA42-4CD0-8BBA-B7167F84CF12}" destId="{B959AF8D-1020-46E4-AF94-AD38F1F9D5E5}" srcOrd="0" destOrd="2" presId="urn:microsoft.com/office/officeart/2018/2/layout/IconLabelDescriptionList"/>
    <dgm:cxn modelId="{8174A216-7012-4C12-BDA9-C1FB4D618AE7}" srcId="{F253B147-BADF-49DF-8E95-998249DC59CF}" destId="{C7E7C2C0-EA42-4CD0-8BBA-B7167F84CF12}" srcOrd="2" destOrd="0" parTransId="{1FA832BE-973D-4329-A93C-76DF7507E487}" sibTransId="{BF1DB2E7-A55D-4471-ACDE-426D1BB9F9E6}"/>
    <dgm:cxn modelId="{B41C141F-2BCF-4EF6-891D-2F01718ADA08}" srcId="{F253B147-BADF-49DF-8E95-998249DC59CF}" destId="{5AF68653-E073-494D-BDAA-2759F3A72FDC}" srcOrd="0" destOrd="0" parTransId="{6CA6A55F-09C1-4D0B-8B7A-5908238852D4}" sibTransId="{D4A710F5-B964-40BB-8440-AF4A1F80ED6D}"/>
    <dgm:cxn modelId="{FE983536-137D-4BCD-8B06-887184B45A4F}" type="presOf" srcId="{BD9AADFE-0C4A-442A-8069-F11D13936B2F}" destId="{DEF09A06-293A-437A-8994-C9B814E0649B}" srcOrd="0" destOrd="0" presId="urn:microsoft.com/office/officeart/2018/2/layout/IconLabelDescriptionList"/>
    <dgm:cxn modelId="{3AB2A868-4802-4EE8-8D09-B01586768322}" srcId="{49A99145-F11D-4B93-B002-7915572FC7ED}" destId="{F0110F39-B120-4FE1-B29A-560A5C4E9EAD}" srcOrd="0" destOrd="0" parTransId="{8617C8A2-895B-447B-88CD-1C280A6930ED}" sibTransId="{A20C88F5-9B6D-4FA6-9F38-860A731E2070}"/>
    <dgm:cxn modelId="{1C531B69-5573-476C-810C-6DDBF82B0EFB}" type="presOf" srcId="{F253B147-BADF-49DF-8E95-998249DC59CF}" destId="{33B8F1DA-F386-437D-BD68-F5A203689D13}" srcOrd="0" destOrd="0" presId="urn:microsoft.com/office/officeart/2018/2/layout/IconLabelDescriptionList"/>
    <dgm:cxn modelId="{D2A93B72-B0D3-4D96-B64A-0F6FBF517E5D}" srcId="{F0110F39-B120-4FE1-B29A-560A5C4E9EAD}" destId="{A0EB6326-1864-4AA9-AE20-3CC365787900}" srcOrd="2" destOrd="0" parTransId="{01CE507E-6812-41F0-BE37-8357282A87E2}" sibTransId="{E8F6C092-B56B-464F-93D7-2661996424D6}"/>
    <dgm:cxn modelId="{5AF3277D-71FC-4ADA-932E-BD4178BA983C}" type="presOf" srcId="{DED9E348-CD61-4A77-87D2-2F3AD2A66722}" destId="{DEF09A06-293A-437A-8994-C9B814E0649B}" srcOrd="0" destOrd="1" presId="urn:microsoft.com/office/officeart/2018/2/layout/IconLabelDescriptionList"/>
    <dgm:cxn modelId="{27DC7083-A183-44ED-9B7F-7E99F544D978}" srcId="{F0110F39-B120-4FE1-B29A-560A5C4E9EAD}" destId="{DED9E348-CD61-4A77-87D2-2F3AD2A66722}" srcOrd="1" destOrd="0" parTransId="{8033AC6D-FB94-4E72-A4BB-705A4120634A}" sibTransId="{D44E76C1-1563-439C-A63A-8AFDC8C2299C}"/>
    <dgm:cxn modelId="{E5AD2688-D823-4AA0-B845-E4049A9FDE31}" srcId="{49A99145-F11D-4B93-B002-7915572FC7ED}" destId="{F253B147-BADF-49DF-8E95-998249DC59CF}" srcOrd="1" destOrd="0" parTransId="{CE0C62A1-9713-4E32-9A35-2DEA05140C6D}" sibTransId="{28E8F0CD-5754-43D4-96E4-FFE1D9A2755C}"/>
    <dgm:cxn modelId="{29B5169B-D2E2-498F-84F6-F6218D594F7A}" srcId="{F253B147-BADF-49DF-8E95-998249DC59CF}" destId="{080BCB6A-3C03-4FA7-831E-B6DC235F35A0}" srcOrd="4" destOrd="0" parTransId="{BD9255DE-0525-4060-84A7-B071E0392EA3}" sibTransId="{4A02FF40-A934-4A7E-8246-8726CA5EC090}"/>
    <dgm:cxn modelId="{050AFD9E-12D1-4B39-9A01-149F8EB36348}" type="presOf" srcId="{5AF68653-E073-494D-BDAA-2759F3A72FDC}" destId="{B959AF8D-1020-46E4-AF94-AD38F1F9D5E5}" srcOrd="0" destOrd="0" presId="urn:microsoft.com/office/officeart/2018/2/layout/IconLabelDescriptionList"/>
    <dgm:cxn modelId="{FC0DABA3-8CD6-4528-976D-AE0F4516E7BE}" type="presOf" srcId="{F0110F39-B120-4FE1-B29A-560A5C4E9EAD}" destId="{6E5B3CB3-6A74-4AA0-9697-AFED23886263}" srcOrd="0" destOrd="0" presId="urn:microsoft.com/office/officeart/2018/2/layout/IconLabelDescriptionList"/>
    <dgm:cxn modelId="{C3FA45AC-E000-4170-B298-AA6638FF471E}" srcId="{F253B147-BADF-49DF-8E95-998249DC59CF}" destId="{B20EDEF7-1A3B-4F54-BF69-85173CD953FB}" srcOrd="3" destOrd="0" parTransId="{694FC644-4C17-4B1F-9EA5-51A8D1254B4C}" sibTransId="{F50DAA57-ECA6-4886-AE93-FBC4EA6C57C4}"/>
    <dgm:cxn modelId="{11B1E0AD-758D-40DE-BCA3-54C940D7A7A4}" srcId="{F0110F39-B120-4FE1-B29A-560A5C4E9EAD}" destId="{BD9AADFE-0C4A-442A-8069-F11D13936B2F}" srcOrd="0" destOrd="0" parTransId="{EA23C7C2-358C-47AE-9192-1C9583E521B5}" sibTransId="{D814B771-6E28-42AB-8592-02519925D3EB}"/>
    <dgm:cxn modelId="{754943BB-AFE3-44CE-BD5C-6760533D89FC}" type="presOf" srcId="{9E2FC0F6-793B-4AA5-862A-13CCA706FEDF}" destId="{B959AF8D-1020-46E4-AF94-AD38F1F9D5E5}" srcOrd="0" destOrd="1" presId="urn:microsoft.com/office/officeart/2018/2/layout/IconLabelDescriptionList"/>
    <dgm:cxn modelId="{E20FF0CD-4F38-446B-9269-68E3C85B48D4}" srcId="{F253B147-BADF-49DF-8E95-998249DC59CF}" destId="{9E2FC0F6-793B-4AA5-862A-13CCA706FEDF}" srcOrd="1" destOrd="0" parTransId="{C6447A3E-B045-400B-AA28-BF57A7551C1F}" sibTransId="{6691DD97-1374-4FD1-B715-5DBDE0E9611E}"/>
    <dgm:cxn modelId="{F32B79D1-C7F9-42ED-89A6-3226C599408F}" type="presOf" srcId="{49A99145-F11D-4B93-B002-7915572FC7ED}" destId="{1505F291-3A47-4CE5-9A0E-52DA9EF9392B}" srcOrd="0" destOrd="0" presId="urn:microsoft.com/office/officeart/2018/2/layout/IconLabelDescriptionList"/>
    <dgm:cxn modelId="{D6B13BD3-56A9-44F5-B2F1-D81332336FA6}" type="presOf" srcId="{B20EDEF7-1A3B-4F54-BF69-85173CD953FB}" destId="{B959AF8D-1020-46E4-AF94-AD38F1F9D5E5}" srcOrd="0" destOrd="3" presId="urn:microsoft.com/office/officeart/2018/2/layout/IconLabelDescriptionList"/>
    <dgm:cxn modelId="{4A5633DE-E20C-40D9-8E79-572DD69DBD50}" type="presOf" srcId="{A0EB6326-1864-4AA9-AE20-3CC365787900}" destId="{DEF09A06-293A-437A-8994-C9B814E0649B}" srcOrd="0" destOrd="2" presId="urn:microsoft.com/office/officeart/2018/2/layout/IconLabelDescriptionList"/>
    <dgm:cxn modelId="{9B4B5AF8-09A3-41A8-90E5-FE86C052B001}" type="presOf" srcId="{080BCB6A-3C03-4FA7-831E-B6DC235F35A0}" destId="{B959AF8D-1020-46E4-AF94-AD38F1F9D5E5}" srcOrd="0" destOrd="4" presId="urn:microsoft.com/office/officeart/2018/2/layout/IconLabelDescriptionList"/>
    <dgm:cxn modelId="{A1E04E8C-0DED-4509-8383-FD0E292296F6}" type="presParOf" srcId="{1505F291-3A47-4CE5-9A0E-52DA9EF9392B}" destId="{85AAB1DE-AAA0-4C31-AB03-ADA80282CF53}" srcOrd="0" destOrd="0" presId="urn:microsoft.com/office/officeart/2018/2/layout/IconLabelDescriptionList"/>
    <dgm:cxn modelId="{112A9B11-2CD5-439C-BBB4-1A9623D27A23}" type="presParOf" srcId="{85AAB1DE-AAA0-4C31-AB03-ADA80282CF53}" destId="{ED8FB171-5F8D-43F5-B27E-71538346359E}" srcOrd="0" destOrd="0" presId="urn:microsoft.com/office/officeart/2018/2/layout/IconLabelDescriptionList"/>
    <dgm:cxn modelId="{557A4950-5F91-4B6D-8890-05A616DD1600}" type="presParOf" srcId="{85AAB1DE-AAA0-4C31-AB03-ADA80282CF53}" destId="{BF0E093B-5EB8-44CD-A170-E7A9D9E264CF}" srcOrd="1" destOrd="0" presId="urn:microsoft.com/office/officeart/2018/2/layout/IconLabelDescriptionList"/>
    <dgm:cxn modelId="{C278E5B2-2DBC-4A25-9721-1F1105DC99F7}" type="presParOf" srcId="{85AAB1DE-AAA0-4C31-AB03-ADA80282CF53}" destId="{6E5B3CB3-6A74-4AA0-9697-AFED23886263}" srcOrd="2" destOrd="0" presId="urn:microsoft.com/office/officeart/2018/2/layout/IconLabelDescriptionList"/>
    <dgm:cxn modelId="{0D54E759-8592-4A70-8A50-5A5219C3E243}" type="presParOf" srcId="{85AAB1DE-AAA0-4C31-AB03-ADA80282CF53}" destId="{7CB2CBEB-2168-44E5-9C01-9F3AC606C2E2}" srcOrd="3" destOrd="0" presId="urn:microsoft.com/office/officeart/2018/2/layout/IconLabelDescriptionList"/>
    <dgm:cxn modelId="{55A14484-0FD8-475B-9E53-F8D059EA789C}" type="presParOf" srcId="{85AAB1DE-AAA0-4C31-AB03-ADA80282CF53}" destId="{DEF09A06-293A-437A-8994-C9B814E0649B}" srcOrd="4" destOrd="0" presId="urn:microsoft.com/office/officeart/2018/2/layout/IconLabelDescriptionList"/>
    <dgm:cxn modelId="{D65F32BB-6AC4-486E-B951-23C2C6574892}" type="presParOf" srcId="{1505F291-3A47-4CE5-9A0E-52DA9EF9392B}" destId="{4DFEFE50-ED46-4FA4-AD7F-3C6F285216D1}" srcOrd="1" destOrd="0" presId="urn:microsoft.com/office/officeart/2018/2/layout/IconLabelDescriptionList"/>
    <dgm:cxn modelId="{748CCEE8-82DF-4C70-BEFF-20DCAEA22840}" type="presParOf" srcId="{1505F291-3A47-4CE5-9A0E-52DA9EF9392B}" destId="{0295CDDB-D34A-4466-B456-865F7D5C3F76}" srcOrd="2" destOrd="0" presId="urn:microsoft.com/office/officeart/2018/2/layout/IconLabelDescriptionList"/>
    <dgm:cxn modelId="{F472BBB6-C29E-43F2-B255-86E68021F49C}" type="presParOf" srcId="{0295CDDB-D34A-4466-B456-865F7D5C3F76}" destId="{9561BCE2-FF98-4958-8DE6-CB090AC4B7AE}" srcOrd="0" destOrd="0" presId="urn:microsoft.com/office/officeart/2018/2/layout/IconLabelDescriptionList"/>
    <dgm:cxn modelId="{41AE8550-0360-4120-AA33-D056AA521010}" type="presParOf" srcId="{0295CDDB-D34A-4466-B456-865F7D5C3F76}" destId="{D1CD879A-DF09-4137-BA1E-057027347342}" srcOrd="1" destOrd="0" presId="urn:microsoft.com/office/officeart/2018/2/layout/IconLabelDescriptionList"/>
    <dgm:cxn modelId="{D15FCDBB-CC3D-4DCA-9B13-A8754D28B769}" type="presParOf" srcId="{0295CDDB-D34A-4466-B456-865F7D5C3F76}" destId="{33B8F1DA-F386-437D-BD68-F5A203689D13}" srcOrd="2" destOrd="0" presId="urn:microsoft.com/office/officeart/2018/2/layout/IconLabelDescriptionList"/>
    <dgm:cxn modelId="{AD91E327-E8DC-420A-9EF6-119F2C12CAB5}" type="presParOf" srcId="{0295CDDB-D34A-4466-B456-865F7D5C3F76}" destId="{8D56D590-86AB-4B24-B84E-79BB0F415892}" srcOrd="3" destOrd="0" presId="urn:microsoft.com/office/officeart/2018/2/layout/IconLabelDescriptionList"/>
    <dgm:cxn modelId="{ABB16A46-F818-4314-9A0A-FF845CF5BA6B}" type="presParOf" srcId="{0295CDDB-D34A-4466-B456-865F7D5C3F76}" destId="{B959AF8D-1020-46E4-AF94-AD38F1F9D5E5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7976CF0-DDEB-43E2-99A9-DBDEB169FFE7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C059788-3A02-48A8-908E-6906DAA9E42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On-chain</a:t>
          </a:r>
        </a:p>
      </dgm:t>
    </dgm:pt>
    <dgm:pt modelId="{FB65C323-CD99-400F-8E30-F789B9BD980F}" type="parTrans" cxnId="{E60C8D7E-D687-427A-8ED5-D20610E44ADC}">
      <dgm:prSet/>
      <dgm:spPr/>
      <dgm:t>
        <a:bodyPr/>
        <a:lstStyle/>
        <a:p>
          <a:endParaRPr lang="en-US"/>
        </a:p>
      </dgm:t>
    </dgm:pt>
    <dgm:pt modelId="{138CEA92-B863-47E8-BEDF-86154914C4CD}" type="sibTrans" cxnId="{E60C8D7E-D687-427A-8ED5-D20610E44ADC}">
      <dgm:prSet/>
      <dgm:spPr/>
      <dgm:t>
        <a:bodyPr/>
        <a:lstStyle/>
        <a:p>
          <a:endParaRPr lang="en-US"/>
        </a:p>
      </dgm:t>
    </dgm:pt>
    <dgm:pt modelId="{62443035-11F2-4755-8DCF-4B0A3026674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Access Control / Multi-sig</a:t>
          </a:r>
        </a:p>
        <a:p>
          <a:pPr>
            <a:lnSpc>
              <a:spcPct val="100000"/>
            </a:lnSpc>
          </a:pPr>
          <a:r>
            <a:rPr lang="en-US" dirty="0"/>
            <a:t>W</a:t>
          </a:r>
          <a:r>
            <a:rPr lang="en-US" altLang="zh-CN" dirty="0"/>
            <a:t>hitelist</a:t>
          </a:r>
          <a:endParaRPr lang="en-US" dirty="0"/>
        </a:p>
      </dgm:t>
    </dgm:pt>
    <dgm:pt modelId="{5A717842-62D5-4209-B9CD-FB6FC23B2267}" type="parTrans" cxnId="{C5359432-3636-4602-A186-6B5DA50680EC}">
      <dgm:prSet/>
      <dgm:spPr/>
      <dgm:t>
        <a:bodyPr/>
        <a:lstStyle/>
        <a:p>
          <a:endParaRPr lang="en-US"/>
        </a:p>
      </dgm:t>
    </dgm:pt>
    <dgm:pt modelId="{D2DD5909-0219-4874-95A0-AB5DC73C1C24}" type="sibTrans" cxnId="{C5359432-3636-4602-A186-6B5DA50680EC}">
      <dgm:prSet/>
      <dgm:spPr/>
      <dgm:t>
        <a:bodyPr/>
        <a:lstStyle/>
        <a:p>
          <a:endParaRPr lang="en-US"/>
        </a:p>
      </dgm:t>
    </dgm:pt>
    <dgm:pt modelId="{85DB9309-15EA-4EB2-A9EF-7D3F4182E68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Proxy Pattern</a:t>
          </a:r>
        </a:p>
      </dgm:t>
    </dgm:pt>
    <dgm:pt modelId="{B920C361-984B-4D9A-9E36-7B710A375CA0}" type="parTrans" cxnId="{B6ADAB16-68D9-44B5-83D7-EFF46E0A559E}">
      <dgm:prSet/>
      <dgm:spPr/>
      <dgm:t>
        <a:bodyPr/>
        <a:lstStyle/>
        <a:p>
          <a:endParaRPr lang="en-US"/>
        </a:p>
      </dgm:t>
    </dgm:pt>
    <dgm:pt modelId="{1655F075-1454-42C6-BFAF-9A7053A7E278}" type="sibTrans" cxnId="{B6ADAB16-68D9-44B5-83D7-EFF46E0A559E}">
      <dgm:prSet/>
      <dgm:spPr/>
      <dgm:t>
        <a:bodyPr/>
        <a:lstStyle/>
        <a:p>
          <a:endParaRPr lang="en-US"/>
        </a:p>
      </dgm:t>
    </dgm:pt>
    <dgm:pt modelId="{4ED86499-D2A3-4DDA-A9A4-3345C7DFF6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……</a:t>
          </a:r>
        </a:p>
      </dgm:t>
    </dgm:pt>
    <dgm:pt modelId="{217E163A-EC63-4975-9402-EF3028C61340}" type="parTrans" cxnId="{902FA391-1CC4-4890-8804-E3F2E1250DC1}">
      <dgm:prSet/>
      <dgm:spPr/>
      <dgm:t>
        <a:bodyPr/>
        <a:lstStyle/>
        <a:p>
          <a:endParaRPr lang="en-US"/>
        </a:p>
      </dgm:t>
    </dgm:pt>
    <dgm:pt modelId="{4EF934D6-5824-4D20-B351-C2D2EE2B07B4}" type="sibTrans" cxnId="{902FA391-1CC4-4890-8804-E3F2E1250DC1}">
      <dgm:prSet/>
      <dgm:spPr/>
      <dgm:t>
        <a:bodyPr/>
        <a:lstStyle/>
        <a:p>
          <a:endParaRPr lang="en-US"/>
        </a:p>
      </dgm:t>
    </dgm:pt>
    <dgm:pt modelId="{3E23196B-FEA8-44C5-9311-2443713533F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Off-chain</a:t>
          </a:r>
        </a:p>
      </dgm:t>
    </dgm:pt>
    <dgm:pt modelId="{74619C69-930E-4697-885C-6D19273B185D}" type="parTrans" cxnId="{DA21039B-5BDE-4828-A01C-2F5782A42AD5}">
      <dgm:prSet/>
      <dgm:spPr/>
      <dgm:t>
        <a:bodyPr/>
        <a:lstStyle/>
        <a:p>
          <a:endParaRPr lang="en-US"/>
        </a:p>
      </dgm:t>
    </dgm:pt>
    <dgm:pt modelId="{E35FD099-D390-44D9-B7AB-053C74909A7F}" type="sibTrans" cxnId="{DA21039B-5BDE-4828-A01C-2F5782A42AD5}">
      <dgm:prSet/>
      <dgm:spPr/>
      <dgm:t>
        <a:bodyPr/>
        <a:lstStyle/>
        <a:p>
          <a:endParaRPr lang="en-US"/>
        </a:p>
      </dgm:t>
    </dgm:pt>
    <dgm:pt modelId="{D3070EAF-BCAC-44CC-A408-9D13C4508572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/>
            <a:t>Liquidation bots </a:t>
          </a:r>
          <a:endParaRPr lang="en-US" dirty="0"/>
        </a:p>
      </dgm:t>
    </dgm:pt>
    <dgm:pt modelId="{0DE23AF7-0589-4D53-B96E-04E2A26162A8}" type="parTrans" cxnId="{ABB071F0-E1CA-4C54-AC8C-1F5DF179D59C}">
      <dgm:prSet/>
      <dgm:spPr/>
      <dgm:t>
        <a:bodyPr/>
        <a:lstStyle/>
        <a:p>
          <a:endParaRPr lang="en-US"/>
        </a:p>
      </dgm:t>
    </dgm:pt>
    <dgm:pt modelId="{F91DDF1D-CB5A-422D-BAB6-5C9D2376BDAD}" type="sibTrans" cxnId="{ABB071F0-E1CA-4C54-AC8C-1F5DF179D59C}">
      <dgm:prSet/>
      <dgm:spPr/>
      <dgm:t>
        <a:bodyPr/>
        <a:lstStyle/>
        <a:p>
          <a:endParaRPr lang="en-US"/>
        </a:p>
      </dgm:t>
    </dgm:pt>
    <dgm:pt modelId="{DF8C0F3B-7DA2-4194-A9C0-3B9ED6C055F4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/>
            <a:t>Arbitrage </a:t>
          </a:r>
          <a:r>
            <a:rPr lang="en-US" altLang="zh-CN" dirty="0"/>
            <a:t>bots</a:t>
          </a:r>
        </a:p>
        <a:p>
          <a:pPr>
            <a:lnSpc>
              <a:spcPct val="100000"/>
            </a:lnSpc>
          </a:pPr>
          <a:r>
            <a:rPr lang="fr-FR" dirty="0"/>
            <a:t>Maintenances bots</a:t>
          </a:r>
          <a:endParaRPr lang="en-US" dirty="0"/>
        </a:p>
      </dgm:t>
    </dgm:pt>
    <dgm:pt modelId="{01CAFF62-AC3C-46DC-B712-CDBD7FCAF151}" type="parTrans" cxnId="{328240E7-860A-4C14-B276-48A125E9FC67}">
      <dgm:prSet/>
      <dgm:spPr/>
      <dgm:t>
        <a:bodyPr/>
        <a:lstStyle/>
        <a:p>
          <a:endParaRPr lang="en-US"/>
        </a:p>
      </dgm:t>
    </dgm:pt>
    <dgm:pt modelId="{E921F33C-B354-4B38-97FE-3A3F8C6EC6CA}" type="sibTrans" cxnId="{328240E7-860A-4C14-B276-48A125E9FC67}">
      <dgm:prSet/>
      <dgm:spPr/>
      <dgm:t>
        <a:bodyPr/>
        <a:lstStyle/>
        <a:p>
          <a:endParaRPr lang="en-US"/>
        </a:p>
      </dgm:t>
    </dgm:pt>
    <dgm:pt modelId="{C167D5E3-F711-4466-9508-8BA18D193EC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……</a:t>
          </a:r>
        </a:p>
      </dgm:t>
    </dgm:pt>
    <dgm:pt modelId="{92C1660C-E16C-4B36-A01C-00C4D4B9EDF9}" type="parTrans" cxnId="{A379EF2A-CC5F-4C0B-AA78-3A23FEB51204}">
      <dgm:prSet/>
      <dgm:spPr/>
      <dgm:t>
        <a:bodyPr/>
        <a:lstStyle/>
        <a:p>
          <a:endParaRPr lang="en-US"/>
        </a:p>
      </dgm:t>
    </dgm:pt>
    <dgm:pt modelId="{D9090F24-734A-43FB-93F3-45EB38B9E1E9}" type="sibTrans" cxnId="{A379EF2A-CC5F-4C0B-AA78-3A23FEB51204}">
      <dgm:prSet/>
      <dgm:spPr/>
      <dgm:t>
        <a:bodyPr/>
        <a:lstStyle/>
        <a:p>
          <a:endParaRPr lang="en-US"/>
        </a:p>
      </dgm:t>
    </dgm:pt>
    <dgm:pt modelId="{BCDA5C58-DF7A-4273-9658-99A0DE431CFE}" type="pres">
      <dgm:prSet presAssocID="{97976CF0-DDEB-43E2-99A9-DBDEB169FFE7}" presName="root" presStyleCnt="0">
        <dgm:presLayoutVars>
          <dgm:dir/>
          <dgm:resizeHandles val="exact"/>
        </dgm:presLayoutVars>
      </dgm:prSet>
      <dgm:spPr/>
    </dgm:pt>
    <dgm:pt modelId="{9FEFF5B0-AD74-4013-9C39-C7F7F85C1739}" type="pres">
      <dgm:prSet presAssocID="{6C059788-3A02-48A8-908E-6906DAA9E42F}" presName="compNode" presStyleCnt="0"/>
      <dgm:spPr/>
    </dgm:pt>
    <dgm:pt modelId="{87240B3A-2C6D-4892-B660-98716B1F972F}" type="pres">
      <dgm:prSet presAssocID="{6C059788-3A02-48A8-908E-6906DAA9E42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4BBF6385-7691-4B78-9240-ABB57EF207F8}" type="pres">
      <dgm:prSet presAssocID="{6C059788-3A02-48A8-908E-6906DAA9E42F}" presName="iconSpace" presStyleCnt="0"/>
      <dgm:spPr/>
    </dgm:pt>
    <dgm:pt modelId="{8A26D441-17B9-4F7E-89DE-4B3496098CF0}" type="pres">
      <dgm:prSet presAssocID="{6C059788-3A02-48A8-908E-6906DAA9E42F}" presName="parTx" presStyleLbl="revTx" presStyleIdx="0" presStyleCnt="4">
        <dgm:presLayoutVars>
          <dgm:chMax val="0"/>
          <dgm:chPref val="0"/>
        </dgm:presLayoutVars>
      </dgm:prSet>
      <dgm:spPr/>
    </dgm:pt>
    <dgm:pt modelId="{4009B7B6-2930-47DA-92C7-A59F71B71B81}" type="pres">
      <dgm:prSet presAssocID="{6C059788-3A02-48A8-908E-6906DAA9E42F}" presName="txSpace" presStyleCnt="0"/>
      <dgm:spPr/>
    </dgm:pt>
    <dgm:pt modelId="{80CDD18C-B6B8-4DD1-8896-C39C0C2DC7A1}" type="pres">
      <dgm:prSet presAssocID="{6C059788-3A02-48A8-908E-6906DAA9E42F}" presName="desTx" presStyleLbl="revTx" presStyleIdx="1" presStyleCnt="4">
        <dgm:presLayoutVars/>
      </dgm:prSet>
      <dgm:spPr/>
    </dgm:pt>
    <dgm:pt modelId="{28853692-4CC1-4526-9E59-309727EA48F9}" type="pres">
      <dgm:prSet presAssocID="{138CEA92-B863-47E8-BEDF-86154914C4CD}" presName="sibTrans" presStyleCnt="0"/>
      <dgm:spPr/>
    </dgm:pt>
    <dgm:pt modelId="{6962A5C0-5985-4913-B41E-0385545396EF}" type="pres">
      <dgm:prSet presAssocID="{3E23196B-FEA8-44C5-9311-2443713533FC}" presName="compNode" presStyleCnt="0"/>
      <dgm:spPr/>
    </dgm:pt>
    <dgm:pt modelId="{42A66447-05A3-4D2B-9484-C3DEBCD6E5FF}" type="pres">
      <dgm:prSet presAssocID="{3E23196B-FEA8-44C5-9311-2443713533F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5508A216-923A-4301-99AE-D29C11324BC4}" type="pres">
      <dgm:prSet presAssocID="{3E23196B-FEA8-44C5-9311-2443713533FC}" presName="iconSpace" presStyleCnt="0"/>
      <dgm:spPr/>
    </dgm:pt>
    <dgm:pt modelId="{32F5BA55-9E25-4A3D-BC68-A5F6F25C3E3C}" type="pres">
      <dgm:prSet presAssocID="{3E23196B-FEA8-44C5-9311-2443713533FC}" presName="parTx" presStyleLbl="revTx" presStyleIdx="2" presStyleCnt="4">
        <dgm:presLayoutVars>
          <dgm:chMax val="0"/>
          <dgm:chPref val="0"/>
        </dgm:presLayoutVars>
      </dgm:prSet>
      <dgm:spPr/>
    </dgm:pt>
    <dgm:pt modelId="{120DA065-85BC-4AA7-8677-136FABF6CB67}" type="pres">
      <dgm:prSet presAssocID="{3E23196B-FEA8-44C5-9311-2443713533FC}" presName="txSpace" presStyleCnt="0"/>
      <dgm:spPr/>
    </dgm:pt>
    <dgm:pt modelId="{33D1DB58-7B24-442F-A4D1-78CAE658B1F5}" type="pres">
      <dgm:prSet presAssocID="{3E23196B-FEA8-44C5-9311-2443713533FC}" presName="desTx" presStyleLbl="revTx" presStyleIdx="3" presStyleCnt="4">
        <dgm:presLayoutVars/>
      </dgm:prSet>
      <dgm:spPr/>
    </dgm:pt>
  </dgm:ptLst>
  <dgm:cxnLst>
    <dgm:cxn modelId="{8039DE01-F0A2-4315-B552-98E29A3F025F}" type="presOf" srcId="{85DB9309-15EA-4EB2-A9EF-7D3F4182E688}" destId="{80CDD18C-B6B8-4DD1-8896-C39C0C2DC7A1}" srcOrd="0" destOrd="1" presId="urn:microsoft.com/office/officeart/2018/2/layout/IconLabelDescriptionList"/>
    <dgm:cxn modelId="{5E67AA07-55AA-42B3-B773-BC914C4CA4E3}" type="presOf" srcId="{D3070EAF-BCAC-44CC-A408-9D13C4508572}" destId="{33D1DB58-7B24-442F-A4D1-78CAE658B1F5}" srcOrd="0" destOrd="0" presId="urn:microsoft.com/office/officeart/2018/2/layout/IconLabelDescriptionList"/>
    <dgm:cxn modelId="{B6ADAB16-68D9-44B5-83D7-EFF46E0A559E}" srcId="{6C059788-3A02-48A8-908E-6906DAA9E42F}" destId="{85DB9309-15EA-4EB2-A9EF-7D3F4182E688}" srcOrd="1" destOrd="0" parTransId="{B920C361-984B-4D9A-9E36-7B710A375CA0}" sibTransId="{1655F075-1454-42C6-BFAF-9A7053A7E278}"/>
    <dgm:cxn modelId="{9F1A4C2A-331C-4652-8655-988478D9566C}" type="presOf" srcId="{3E23196B-FEA8-44C5-9311-2443713533FC}" destId="{32F5BA55-9E25-4A3D-BC68-A5F6F25C3E3C}" srcOrd="0" destOrd="0" presId="urn:microsoft.com/office/officeart/2018/2/layout/IconLabelDescriptionList"/>
    <dgm:cxn modelId="{A379EF2A-CC5F-4C0B-AA78-3A23FEB51204}" srcId="{3E23196B-FEA8-44C5-9311-2443713533FC}" destId="{C167D5E3-F711-4466-9508-8BA18D193EC7}" srcOrd="2" destOrd="0" parTransId="{92C1660C-E16C-4B36-A01C-00C4D4B9EDF9}" sibTransId="{D9090F24-734A-43FB-93F3-45EB38B9E1E9}"/>
    <dgm:cxn modelId="{C5359432-3636-4602-A186-6B5DA50680EC}" srcId="{6C059788-3A02-48A8-908E-6906DAA9E42F}" destId="{62443035-11F2-4755-8DCF-4B0A30266748}" srcOrd="0" destOrd="0" parTransId="{5A717842-62D5-4209-B9CD-FB6FC23B2267}" sibTransId="{D2DD5909-0219-4874-95A0-AB5DC73C1C24}"/>
    <dgm:cxn modelId="{5366BE61-3F08-4126-93BD-3E63A03DBEF1}" type="presOf" srcId="{DF8C0F3B-7DA2-4194-A9C0-3B9ED6C055F4}" destId="{33D1DB58-7B24-442F-A4D1-78CAE658B1F5}" srcOrd="0" destOrd="1" presId="urn:microsoft.com/office/officeart/2018/2/layout/IconLabelDescriptionList"/>
    <dgm:cxn modelId="{CC2E5343-7E53-4C41-8FB0-EFCD1AF89D61}" type="presOf" srcId="{C167D5E3-F711-4466-9508-8BA18D193EC7}" destId="{33D1DB58-7B24-442F-A4D1-78CAE658B1F5}" srcOrd="0" destOrd="2" presId="urn:microsoft.com/office/officeart/2018/2/layout/IconLabelDescriptionList"/>
    <dgm:cxn modelId="{ABD5284E-20EC-4C24-820C-1AA826952246}" type="presOf" srcId="{6C059788-3A02-48A8-908E-6906DAA9E42F}" destId="{8A26D441-17B9-4F7E-89DE-4B3496098CF0}" srcOrd="0" destOrd="0" presId="urn:microsoft.com/office/officeart/2018/2/layout/IconLabelDescriptionList"/>
    <dgm:cxn modelId="{16B59B6E-E6A2-458B-A966-928E96494EBB}" type="presOf" srcId="{62443035-11F2-4755-8DCF-4B0A30266748}" destId="{80CDD18C-B6B8-4DD1-8896-C39C0C2DC7A1}" srcOrd="0" destOrd="0" presId="urn:microsoft.com/office/officeart/2018/2/layout/IconLabelDescriptionList"/>
    <dgm:cxn modelId="{E60C8D7E-D687-427A-8ED5-D20610E44ADC}" srcId="{97976CF0-DDEB-43E2-99A9-DBDEB169FFE7}" destId="{6C059788-3A02-48A8-908E-6906DAA9E42F}" srcOrd="0" destOrd="0" parTransId="{FB65C323-CD99-400F-8E30-F789B9BD980F}" sibTransId="{138CEA92-B863-47E8-BEDF-86154914C4CD}"/>
    <dgm:cxn modelId="{0346378B-2137-4712-9FEA-C346EFB4EACE}" type="presOf" srcId="{4ED86499-D2A3-4DDA-A9A4-3345C7DFF6A6}" destId="{80CDD18C-B6B8-4DD1-8896-C39C0C2DC7A1}" srcOrd="0" destOrd="2" presId="urn:microsoft.com/office/officeart/2018/2/layout/IconLabelDescriptionList"/>
    <dgm:cxn modelId="{902FA391-1CC4-4890-8804-E3F2E1250DC1}" srcId="{6C059788-3A02-48A8-908E-6906DAA9E42F}" destId="{4ED86499-D2A3-4DDA-A9A4-3345C7DFF6A6}" srcOrd="2" destOrd="0" parTransId="{217E163A-EC63-4975-9402-EF3028C61340}" sibTransId="{4EF934D6-5824-4D20-B351-C2D2EE2B07B4}"/>
    <dgm:cxn modelId="{DA21039B-5BDE-4828-A01C-2F5782A42AD5}" srcId="{97976CF0-DDEB-43E2-99A9-DBDEB169FFE7}" destId="{3E23196B-FEA8-44C5-9311-2443713533FC}" srcOrd="1" destOrd="0" parTransId="{74619C69-930E-4697-885C-6D19273B185D}" sibTransId="{E35FD099-D390-44D9-B7AB-053C74909A7F}"/>
    <dgm:cxn modelId="{578084CC-3079-4D1C-9B6E-CE50E876DDCA}" type="presOf" srcId="{97976CF0-DDEB-43E2-99A9-DBDEB169FFE7}" destId="{BCDA5C58-DF7A-4273-9658-99A0DE431CFE}" srcOrd="0" destOrd="0" presId="urn:microsoft.com/office/officeart/2018/2/layout/IconLabelDescriptionList"/>
    <dgm:cxn modelId="{328240E7-860A-4C14-B276-48A125E9FC67}" srcId="{3E23196B-FEA8-44C5-9311-2443713533FC}" destId="{DF8C0F3B-7DA2-4194-A9C0-3B9ED6C055F4}" srcOrd="1" destOrd="0" parTransId="{01CAFF62-AC3C-46DC-B712-CDBD7FCAF151}" sibTransId="{E921F33C-B354-4B38-97FE-3A3F8C6EC6CA}"/>
    <dgm:cxn modelId="{ABB071F0-E1CA-4C54-AC8C-1F5DF179D59C}" srcId="{3E23196B-FEA8-44C5-9311-2443713533FC}" destId="{D3070EAF-BCAC-44CC-A408-9D13C4508572}" srcOrd="0" destOrd="0" parTransId="{0DE23AF7-0589-4D53-B96E-04E2A26162A8}" sibTransId="{F91DDF1D-CB5A-422D-BAB6-5C9D2376BDAD}"/>
    <dgm:cxn modelId="{858ECBD0-E772-446D-B432-83692BD318C3}" type="presParOf" srcId="{BCDA5C58-DF7A-4273-9658-99A0DE431CFE}" destId="{9FEFF5B0-AD74-4013-9C39-C7F7F85C1739}" srcOrd="0" destOrd="0" presId="urn:microsoft.com/office/officeart/2018/2/layout/IconLabelDescriptionList"/>
    <dgm:cxn modelId="{31D81BF2-DBEC-41F8-865B-EEC84E452734}" type="presParOf" srcId="{9FEFF5B0-AD74-4013-9C39-C7F7F85C1739}" destId="{87240B3A-2C6D-4892-B660-98716B1F972F}" srcOrd="0" destOrd="0" presId="urn:microsoft.com/office/officeart/2018/2/layout/IconLabelDescriptionList"/>
    <dgm:cxn modelId="{57271F89-F1EB-44B5-85FA-6DE08A31A0A4}" type="presParOf" srcId="{9FEFF5B0-AD74-4013-9C39-C7F7F85C1739}" destId="{4BBF6385-7691-4B78-9240-ABB57EF207F8}" srcOrd="1" destOrd="0" presId="urn:microsoft.com/office/officeart/2018/2/layout/IconLabelDescriptionList"/>
    <dgm:cxn modelId="{2ABEE534-A806-4C9E-ABA7-88662BAADA0E}" type="presParOf" srcId="{9FEFF5B0-AD74-4013-9C39-C7F7F85C1739}" destId="{8A26D441-17B9-4F7E-89DE-4B3496098CF0}" srcOrd="2" destOrd="0" presId="urn:microsoft.com/office/officeart/2018/2/layout/IconLabelDescriptionList"/>
    <dgm:cxn modelId="{689AE0DD-0A61-4B6C-AE3C-48CAE976A50E}" type="presParOf" srcId="{9FEFF5B0-AD74-4013-9C39-C7F7F85C1739}" destId="{4009B7B6-2930-47DA-92C7-A59F71B71B81}" srcOrd="3" destOrd="0" presId="urn:microsoft.com/office/officeart/2018/2/layout/IconLabelDescriptionList"/>
    <dgm:cxn modelId="{E2608804-AE81-46A2-9156-E458F0695464}" type="presParOf" srcId="{9FEFF5B0-AD74-4013-9C39-C7F7F85C1739}" destId="{80CDD18C-B6B8-4DD1-8896-C39C0C2DC7A1}" srcOrd="4" destOrd="0" presId="urn:microsoft.com/office/officeart/2018/2/layout/IconLabelDescriptionList"/>
    <dgm:cxn modelId="{0BF869CA-7ECC-4EE1-824A-663F146BDE32}" type="presParOf" srcId="{BCDA5C58-DF7A-4273-9658-99A0DE431CFE}" destId="{28853692-4CC1-4526-9E59-309727EA48F9}" srcOrd="1" destOrd="0" presId="urn:microsoft.com/office/officeart/2018/2/layout/IconLabelDescriptionList"/>
    <dgm:cxn modelId="{C199B32C-85D9-459D-BE65-E7E49D503F4C}" type="presParOf" srcId="{BCDA5C58-DF7A-4273-9658-99A0DE431CFE}" destId="{6962A5C0-5985-4913-B41E-0385545396EF}" srcOrd="2" destOrd="0" presId="urn:microsoft.com/office/officeart/2018/2/layout/IconLabelDescriptionList"/>
    <dgm:cxn modelId="{BDFA084B-CE12-45B1-ABD4-931A2C1273F0}" type="presParOf" srcId="{6962A5C0-5985-4913-B41E-0385545396EF}" destId="{42A66447-05A3-4D2B-9484-C3DEBCD6E5FF}" srcOrd="0" destOrd="0" presId="urn:microsoft.com/office/officeart/2018/2/layout/IconLabelDescriptionList"/>
    <dgm:cxn modelId="{917E2ECF-F856-48BC-AEB1-4AE36B381487}" type="presParOf" srcId="{6962A5C0-5985-4913-B41E-0385545396EF}" destId="{5508A216-923A-4301-99AE-D29C11324BC4}" srcOrd="1" destOrd="0" presId="urn:microsoft.com/office/officeart/2018/2/layout/IconLabelDescriptionList"/>
    <dgm:cxn modelId="{8515D235-BBB2-4C2D-9D0B-8E6095E17AC8}" type="presParOf" srcId="{6962A5C0-5985-4913-B41E-0385545396EF}" destId="{32F5BA55-9E25-4A3D-BC68-A5F6F25C3E3C}" srcOrd="2" destOrd="0" presId="urn:microsoft.com/office/officeart/2018/2/layout/IconLabelDescriptionList"/>
    <dgm:cxn modelId="{EE8EA2DD-93B1-4A1D-AA8F-6E8DDEF8B07F}" type="presParOf" srcId="{6962A5C0-5985-4913-B41E-0385545396EF}" destId="{120DA065-85BC-4AA7-8677-136FABF6CB67}" srcOrd="3" destOrd="0" presId="urn:microsoft.com/office/officeart/2018/2/layout/IconLabelDescriptionList"/>
    <dgm:cxn modelId="{00147567-C56C-4D0F-9B74-5D1D53B82995}" type="presParOf" srcId="{6962A5C0-5985-4913-B41E-0385545396EF}" destId="{33D1DB58-7B24-442F-A4D1-78CAE658B1F5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FFD5658-6F9D-4CDD-99E9-9F63EFE71682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1C31062-DD88-4D2F-AC24-3F39D4E775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Martingale: </a:t>
          </a:r>
          <a:r>
            <a:rPr lang="en-US" dirty="0">
              <a:solidFill>
                <a:srgbClr val="0070C0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https://martingaleco.com</a:t>
          </a:r>
          <a:r>
            <a:rPr lang="en-US" dirty="0">
              <a:solidFill>
                <a:srgbClr val="0070C0"/>
              </a:solidFill>
            </a:rPr>
            <a:t> </a:t>
          </a:r>
        </a:p>
        <a:p>
          <a:pPr>
            <a:lnSpc>
              <a:spcPct val="100000"/>
            </a:lnSpc>
          </a:pPr>
          <a:endParaRPr lang="en-US" dirty="0"/>
        </a:p>
      </dgm:t>
    </dgm:pt>
    <dgm:pt modelId="{F6CA4577-ED8D-4EBB-A445-E356016344DF}" type="parTrans" cxnId="{DE70F357-6238-4EC1-8906-EF41B668487B}">
      <dgm:prSet/>
      <dgm:spPr/>
      <dgm:t>
        <a:bodyPr/>
        <a:lstStyle/>
        <a:p>
          <a:endParaRPr lang="en-US"/>
        </a:p>
      </dgm:t>
    </dgm:pt>
    <dgm:pt modelId="{E4152429-B8BD-4576-BF7A-39B87E8744AC}" type="sibTrans" cxnId="{DE70F357-6238-4EC1-8906-EF41B668487B}">
      <dgm:prSet/>
      <dgm:spPr/>
      <dgm:t>
        <a:bodyPr/>
        <a:lstStyle/>
        <a:p>
          <a:endParaRPr lang="en-US"/>
        </a:p>
      </dgm:t>
    </dgm:pt>
    <dgm:pt modelId="{A6F9F100-3D6A-47E6-AB97-EC770DF029F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App D</a:t>
          </a:r>
          <a:r>
            <a:rPr lang="en-US" altLang="zh-CN" dirty="0"/>
            <a:t>emo</a:t>
          </a:r>
          <a:r>
            <a:rPr lang="en-US" dirty="0"/>
            <a:t>: </a:t>
          </a:r>
          <a:r>
            <a:rPr lang="en-US" dirty="0">
              <a:hlinkClick xmlns:r="http://schemas.openxmlformats.org/officeDocument/2006/relationships" r:id="rId2"/>
            </a:rPr>
            <a:t>https://test-al2.pages.dev/app</a:t>
          </a:r>
          <a:endParaRPr lang="en-US" dirty="0"/>
        </a:p>
        <a:p>
          <a:pPr>
            <a:lnSpc>
              <a:spcPct val="100000"/>
            </a:lnSpc>
          </a:pPr>
          <a:r>
            <a:rPr lang="en-US" dirty="0"/>
            <a:t> </a:t>
          </a:r>
        </a:p>
      </dgm:t>
    </dgm:pt>
    <dgm:pt modelId="{2A8CD21C-2885-4E18-AC54-6EB4022D1A94}" type="parTrans" cxnId="{0DF3AB57-0494-4342-9152-DBCC38C44D9D}">
      <dgm:prSet/>
      <dgm:spPr/>
      <dgm:t>
        <a:bodyPr/>
        <a:lstStyle/>
        <a:p>
          <a:endParaRPr lang="en-US"/>
        </a:p>
      </dgm:t>
    </dgm:pt>
    <dgm:pt modelId="{8CC3A06F-3942-4473-9D0C-54144E98E9DB}" type="sibTrans" cxnId="{0DF3AB57-0494-4342-9152-DBCC38C44D9D}">
      <dgm:prSet/>
      <dgm:spPr/>
      <dgm:t>
        <a:bodyPr/>
        <a:lstStyle/>
        <a:p>
          <a:endParaRPr lang="en-US"/>
        </a:p>
      </dgm:t>
    </dgm:pt>
    <dgm:pt modelId="{9C18A71E-279E-46BE-90AC-1F33D62DEC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Documentation:  </a:t>
          </a:r>
          <a:r>
            <a:rPr lang="en-US" dirty="0">
              <a:solidFill>
                <a:srgbClr val="0070C0"/>
              </a:solidFill>
              <a:hlinkClick xmlns:r="http://schemas.openxmlformats.org/officeDocument/2006/relationships"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https://test2026.gitbook.io/test-tranche_protocol/fMFG0viXW9hbW0MeCbeh/</a:t>
          </a:r>
          <a:endParaRPr lang="en-US" dirty="0">
            <a:solidFill>
              <a:srgbClr val="0070C0"/>
            </a:solidFill>
          </a:endParaRPr>
        </a:p>
        <a:p>
          <a:pPr>
            <a:lnSpc>
              <a:spcPct val="100000"/>
            </a:lnSpc>
          </a:pPr>
          <a:endParaRPr lang="en-US" dirty="0"/>
        </a:p>
        <a:p>
          <a:pPr>
            <a:lnSpc>
              <a:spcPct val="100000"/>
            </a:lnSpc>
          </a:pPr>
          <a:endParaRPr lang="en-US" dirty="0"/>
        </a:p>
      </dgm:t>
    </dgm:pt>
    <dgm:pt modelId="{97D0778C-5AA1-4789-9E17-9657A005392B}" type="parTrans" cxnId="{E4774A43-1954-43E7-82A2-A468F6E1D4A4}">
      <dgm:prSet/>
      <dgm:spPr/>
      <dgm:t>
        <a:bodyPr/>
        <a:lstStyle/>
        <a:p>
          <a:endParaRPr lang="en-US"/>
        </a:p>
      </dgm:t>
    </dgm:pt>
    <dgm:pt modelId="{D84ACE08-5573-4E93-A047-E3B12B9DE4CC}" type="sibTrans" cxnId="{E4774A43-1954-43E7-82A2-A468F6E1D4A4}">
      <dgm:prSet/>
      <dgm:spPr/>
      <dgm:t>
        <a:bodyPr/>
        <a:lstStyle/>
        <a:p>
          <a:endParaRPr lang="en-US"/>
        </a:p>
      </dgm:t>
    </dgm:pt>
    <dgm:pt modelId="{45D92CB3-C7BE-4474-ADCA-0BA93D1E8987}" type="pres">
      <dgm:prSet presAssocID="{EFFD5658-6F9D-4CDD-99E9-9F63EFE71682}" presName="root" presStyleCnt="0">
        <dgm:presLayoutVars>
          <dgm:dir/>
          <dgm:resizeHandles val="exact"/>
        </dgm:presLayoutVars>
      </dgm:prSet>
      <dgm:spPr/>
    </dgm:pt>
    <dgm:pt modelId="{6DC40989-96C8-472D-8541-BA856291A26E}" type="pres">
      <dgm:prSet presAssocID="{21C31062-DD88-4D2F-AC24-3F39D4E77590}" presName="compNode" presStyleCnt="0"/>
      <dgm:spPr/>
    </dgm:pt>
    <dgm:pt modelId="{D4D714B1-D61A-400C-AF50-35FE87BD4781}" type="pres">
      <dgm:prSet presAssocID="{21C31062-DD88-4D2F-AC24-3F39D4E77590}" presName="iconRect" presStyleLbl="node1" presStyleIdx="0" presStyleCnt="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61A20975-318B-49F2-B467-8C31C5E2B656}" type="pres">
      <dgm:prSet presAssocID="{21C31062-DD88-4D2F-AC24-3F39D4E77590}" presName="spaceRect" presStyleCnt="0"/>
      <dgm:spPr/>
    </dgm:pt>
    <dgm:pt modelId="{AF33D17B-00ED-44CB-88AF-CFA0B4172F7D}" type="pres">
      <dgm:prSet presAssocID="{21C31062-DD88-4D2F-AC24-3F39D4E77590}" presName="textRect" presStyleLbl="revTx" presStyleIdx="0" presStyleCnt="3">
        <dgm:presLayoutVars>
          <dgm:chMax val="1"/>
          <dgm:chPref val="1"/>
        </dgm:presLayoutVars>
      </dgm:prSet>
      <dgm:spPr/>
    </dgm:pt>
    <dgm:pt modelId="{DDDA0D18-9936-43FB-A074-EDE63CBBBE6A}" type="pres">
      <dgm:prSet presAssocID="{E4152429-B8BD-4576-BF7A-39B87E8744AC}" presName="sibTrans" presStyleCnt="0"/>
      <dgm:spPr/>
    </dgm:pt>
    <dgm:pt modelId="{B98FF882-57A0-4BE5-8A14-2E7C664CD4C0}" type="pres">
      <dgm:prSet presAssocID="{A6F9F100-3D6A-47E6-AB97-EC770DF029F5}" presName="compNode" presStyleCnt="0"/>
      <dgm:spPr/>
    </dgm:pt>
    <dgm:pt modelId="{D5F41870-6E8D-466C-B0A7-537BD2BAE371}" type="pres">
      <dgm:prSet presAssocID="{A6F9F100-3D6A-47E6-AB97-EC770DF029F5}" presName="iconRect" presStyleLbl="node1" presStyleIdx="1" presStyleCnt="3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5B3B0806-3D34-446A-B0DB-E33BD91749DA}" type="pres">
      <dgm:prSet presAssocID="{A6F9F100-3D6A-47E6-AB97-EC770DF029F5}" presName="spaceRect" presStyleCnt="0"/>
      <dgm:spPr/>
    </dgm:pt>
    <dgm:pt modelId="{75A6F31A-4804-4F94-8008-BC235E7D10D3}" type="pres">
      <dgm:prSet presAssocID="{A6F9F100-3D6A-47E6-AB97-EC770DF029F5}" presName="textRect" presStyleLbl="revTx" presStyleIdx="1" presStyleCnt="3">
        <dgm:presLayoutVars>
          <dgm:chMax val="1"/>
          <dgm:chPref val="1"/>
        </dgm:presLayoutVars>
      </dgm:prSet>
      <dgm:spPr/>
    </dgm:pt>
    <dgm:pt modelId="{AC094289-26C7-4D91-9E60-BFC09E8AEE9F}" type="pres">
      <dgm:prSet presAssocID="{8CC3A06F-3942-4473-9D0C-54144E98E9DB}" presName="sibTrans" presStyleCnt="0"/>
      <dgm:spPr/>
    </dgm:pt>
    <dgm:pt modelId="{26F538FE-A50A-45EF-A523-930100FD08A2}" type="pres">
      <dgm:prSet presAssocID="{9C18A71E-279E-46BE-90AC-1F33D62DEC21}" presName="compNode" presStyleCnt="0"/>
      <dgm:spPr/>
    </dgm:pt>
    <dgm:pt modelId="{5C10D3F5-DEF7-4A11-869D-A98FCA06619D}" type="pres">
      <dgm:prSet presAssocID="{9C18A71E-279E-46BE-90AC-1F33D62DEC21}" presName="iconRect" presStyleLbl="node1" presStyleIdx="2" presStyleCnt="3"/>
      <dgm:spPr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9200434D-BF08-44A5-97C7-BBF2A50FFB70}" type="pres">
      <dgm:prSet presAssocID="{9C18A71E-279E-46BE-90AC-1F33D62DEC21}" presName="spaceRect" presStyleCnt="0"/>
      <dgm:spPr/>
    </dgm:pt>
    <dgm:pt modelId="{3991CF46-7659-4171-A834-D588E15A758A}" type="pres">
      <dgm:prSet presAssocID="{9C18A71E-279E-46BE-90AC-1F33D62DEC2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675810A-F09D-484E-9046-CD3BBD93841F}" type="presOf" srcId="{EFFD5658-6F9D-4CDD-99E9-9F63EFE71682}" destId="{45D92CB3-C7BE-4474-ADCA-0BA93D1E8987}" srcOrd="0" destOrd="0" presId="urn:microsoft.com/office/officeart/2018/2/layout/IconLabelList"/>
    <dgm:cxn modelId="{E260A41A-C902-4F82-B533-373A1BE348E4}" type="presOf" srcId="{9C18A71E-279E-46BE-90AC-1F33D62DEC21}" destId="{3991CF46-7659-4171-A834-D588E15A758A}" srcOrd="0" destOrd="0" presId="urn:microsoft.com/office/officeart/2018/2/layout/IconLabelList"/>
    <dgm:cxn modelId="{6423C022-5D54-4C61-9A68-75A73C58C9D9}" type="presOf" srcId="{A6F9F100-3D6A-47E6-AB97-EC770DF029F5}" destId="{75A6F31A-4804-4F94-8008-BC235E7D10D3}" srcOrd="0" destOrd="0" presId="urn:microsoft.com/office/officeart/2018/2/layout/IconLabelList"/>
    <dgm:cxn modelId="{7F1B4540-450D-4A50-AD24-A16D33D6A88C}" type="presOf" srcId="{21C31062-DD88-4D2F-AC24-3F39D4E77590}" destId="{AF33D17B-00ED-44CB-88AF-CFA0B4172F7D}" srcOrd="0" destOrd="0" presId="urn:microsoft.com/office/officeart/2018/2/layout/IconLabelList"/>
    <dgm:cxn modelId="{E4774A43-1954-43E7-82A2-A468F6E1D4A4}" srcId="{EFFD5658-6F9D-4CDD-99E9-9F63EFE71682}" destId="{9C18A71E-279E-46BE-90AC-1F33D62DEC21}" srcOrd="2" destOrd="0" parTransId="{97D0778C-5AA1-4789-9E17-9657A005392B}" sibTransId="{D84ACE08-5573-4E93-A047-E3B12B9DE4CC}"/>
    <dgm:cxn modelId="{0DF3AB57-0494-4342-9152-DBCC38C44D9D}" srcId="{EFFD5658-6F9D-4CDD-99E9-9F63EFE71682}" destId="{A6F9F100-3D6A-47E6-AB97-EC770DF029F5}" srcOrd="1" destOrd="0" parTransId="{2A8CD21C-2885-4E18-AC54-6EB4022D1A94}" sibTransId="{8CC3A06F-3942-4473-9D0C-54144E98E9DB}"/>
    <dgm:cxn modelId="{DE70F357-6238-4EC1-8906-EF41B668487B}" srcId="{EFFD5658-6F9D-4CDD-99E9-9F63EFE71682}" destId="{21C31062-DD88-4D2F-AC24-3F39D4E77590}" srcOrd="0" destOrd="0" parTransId="{F6CA4577-ED8D-4EBB-A445-E356016344DF}" sibTransId="{E4152429-B8BD-4576-BF7A-39B87E8744AC}"/>
    <dgm:cxn modelId="{5F3B3DE5-F78D-4784-835D-66B7C47BE208}" type="presParOf" srcId="{45D92CB3-C7BE-4474-ADCA-0BA93D1E8987}" destId="{6DC40989-96C8-472D-8541-BA856291A26E}" srcOrd="0" destOrd="0" presId="urn:microsoft.com/office/officeart/2018/2/layout/IconLabelList"/>
    <dgm:cxn modelId="{61892958-F84B-49DC-8608-790B261AF6C3}" type="presParOf" srcId="{6DC40989-96C8-472D-8541-BA856291A26E}" destId="{D4D714B1-D61A-400C-AF50-35FE87BD4781}" srcOrd="0" destOrd="0" presId="urn:microsoft.com/office/officeart/2018/2/layout/IconLabelList"/>
    <dgm:cxn modelId="{133F1A33-EAD4-4EAF-9184-B9B2066A45D4}" type="presParOf" srcId="{6DC40989-96C8-472D-8541-BA856291A26E}" destId="{61A20975-318B-49F2-B467-8C31C5E2B656}" srcOrd="1" destOrd="0" presId="urn:microsoft.com/office/officeart/2018/2/layout/IconLabelList"/>
    <dgm:cxn modelId="{3016F22D-DF35-4247-8B6B-D698BAF22F77}" type="presParOf" srcId="{6DC40989-96C8-472D-8541-BA856291A26E}" destId="{AF33D17B-00ED-44CB-88AF-CFA0B4172F7D}" srcOrd="2" destOrd="0" presId="urn:microsoft.com/office/officeart/2018/2/layout/IconLabelList"/>
    <dgm:cxn modelId="{0DA05F8E-CD9B-4D07-A268-E48C65D995A1}" type="presParOf" srcId="{45D92CB3-C7BE-4474-ADCA-0BA93D1E8987}" destId="{DDDA0D18-9936-43FB-A074-EDE63CBBBE6A}" srcOrd="1" destOrd="0" presId="urn:microsoft.com/office/officeart/2018/2/layout/IconLabelList"/>
    <dgm:cxn modelId="{F60B2ACD-654E-478C-870F-C735F41D0BBB}" type="presParOf" srcId="{45D92CB3-C7BE-4474-ADCA-0BA93D1E8987}" destId="{B98FF882-57A0-4BE5-8A14-2E7C664CD4C0}" srcOrd="2" destOrd="0" presId="urn:microsoft.com/office/officeart/2018/2/layout/IconLabelList"/>
    <dgm:cxn modelId="{F2A8A3A9-9A0F-412E-9AC7-C629DF33C507}" type="presParOf" srcId="{B98FF882-57A0-4BE5-8A14-2E7C664CD4C0}" destId="{D5F41870-6E8D-466C-B0A7-537BD2BAE371}" srcOrd="0" destOrd="0" presId="urn:microsoft.com/office/officeart/2018/2/layout/IconLabelList"/>
    <dgm:cxn modelId="{8D7B474B-4A09-4B4E-9063-99C4885EBE33}" type="presParOf" srcId="{B98FF882-57A0-4BE5-8A14-2E7C664CD4C0}" destId="{5B3B0806-3D34-446A-B0DB-E33BD91749DA}" srcOrd="1" destOrd="0" presId="urn:microsoft.com/office/officeart/2018/2/layout/IconLabelList"/>
    <dgm:cxn modelId="{C606563B-B836-4866-A1F9-37AF0181EA05}" type="presParOf" srcId="{B98FF882-57A0-4BE5-8A14-2E7C664CD4C0}" destId="{75A6F31A-4804-4F94-8008-BC235E7D10D3}" srcOrd="2" destOrd="0" presId="urn:microsoft.com/office/officeart/2018/2/layout/IconLabelList"/>
    <dgm:cxn modelId="{77650223-6A17-4245-B285-517CC1CF8583}" type="presParOf" srcId="{45D92CB3-C7BE-4474-ADCA-0BA93D1E8987}" destId="{AC094289-26C7-4D91-9E60-BFC09E8AEE9F}" srcOrd="3" destOrd="0" presId="urn:microsoft.com/office/officeart/2018/2/layout/IconLabelList"/>
    <dgm:cxn modelId="{143F6138-5194-4998-8491-A2B267269ED0}" type="presParOf" srcId="{45D92CB3-C7BE-4474-ADCA-0BA93D1E8987}" destId="{26F538FE-A50A-45EF-A523-930100FD08A2}" srcOrd="4" destOrd="0" presId="urn:microsoft.com/office/officeart/2018/2/layout/IconLabelList"/>
    <dgm:cxn modelId="{1CA18724-1380-4DA0-BF6B-DD65BF89031B}" type="presParOf" srcId="{26F538FE-A50A-45EF-A523-930100FD08A2}" destId="{5C10D3F5-DEF7-4A11-869D-A98FCA06619D}" srcOrd="0" destOrd="0" presId="urn:microsoft.com/office/officeart/2018/2/layout/IconLabelList"/>
    <dgm:cxn modelId="{8C925816-41D3-4B83-9D92-28CE18C85C41}" type="presParOf" srcId="{26F538FE-A50A-45EF-A523-930100FD08A2}" destId="{9200434D-BF08-44A5-97C7-BBF2A50FFB70}" srcOrd="1" destOrd="0" presId="urn:microsoft.com/office/officeart/2018/2/layout/IconLabelList"/>
    <dgm:cxn modelId="{D8337347-D088-4C60-8F5C-6A273BD2C3CC}" type="presParOf" srcId="{26F538FE-A50A-45EF-A523-930100FD08A2}" destId="{3991CF46-7659-4171-A834-D588E15A758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F70AF9-7EF7-4458-9FA5-826295B5142E}">
      <dsp:nvSpPr>
        <dsp:cNvPr id="0" name=""/>
        <dsp:cNvSpPr/>
      </dsp:nvSpPr>
      <dsp:spPr>
        <a:xfrm>
          <a:off x="2587" y="130373"/>
          <a:ext cx="1048359" cy="10483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C574DA-A207-4189-AB4B-16F3C4848976}">
      <dsp:nvSpPr>
        <dsp:cNvPr id="0" name=""/>
        <dsp:cNvSpPr/>
      </dsp:nvSpPr>
      <dsp:spPr>
        <a:xfrm>
          <a:off x="2587" y="1315360"/>
          <a:ext cx="2995312" cy="864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 dirty="0"/>
            <a:t>Collateralize Tokenized Asset</a:t>
          </a:r>
          <a:r>
            <a:rPr lang="en-US" sz="1400" b="1" kern="1200" dirty="0">
              <a:sym typeface="Wingdings" panose="05000000000000000000" pitchFamily="2" charset="2"/>
            </a:rPr>
            <a:t></a:t>
          </a:r>
          <a:r>
            <a:rPr lang="en-US" sz="1400" b="1" kern="1200" dirty="0"/>
            <a:t>Borrow U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 dirty="0">
              <a:solidFill>
                <a:srgbClr val="00B050"/>
              </a:solidFill>
            </a:rPr>
            <a:t> Users pay interest </a:t>
          </a:r>
          <a:r>
            <a:rPr lang="en-US" altLang="zh-CN" sz="1400" b="1" kern="1200" dirty="0">
              <a:solidFill>
                <a:srgbClr val="00B050"/>
              </a:solidFill>
            </a:rPr>
            <a:t>to protocol</a:t>
          </a:r>
          <a:endParaRPr lang="en-US" sz="1400" kern="1200" dirty="0">
            <a:solidFill>
              <a:srgbClr val="00B050"/>
            </a:solidFill>
          </a:endParaRPr>
        </a:p>
      </dsp:txBody>
      <dsp:txXfrm>
        <a:off x="2587" y="1315360"/>
        <a:ext cx="2995312" cy="864587"/>
      </dsp:txXfrm>
    </dsp:sp>
    <dsp:sp modelId="{E89ABBBF-65AD-4A50-BA34-1FE56DFCF0D4}">
      <dsp:nvSpPr>
        <dsp:cNvPr id="0" name=""/>
        <dsp:cNvSpPr/>
      </dsp:nvSpPr>
      <dsp:spPr>
        <a:xfrm>
          <a:off x="2587" y="2243496"/>
          <a:ext cx="2995312" cy="1064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3210D8-71F9-4797-9314-D676B5C523BA}">
      <dsp:nvSpPr>
        <dsp:cNvPr id="0" name=""/>
        <dsp:cNvSpPr/>
      </dsp:nvSpPr>
      <dsp:spPr>
        <a:xfrm>
          <a:off x="3522079" y="130373"/>
          <a:ext cx="1048359" cy="10483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8242DB-6834-407B-BC86-9666D2D6AA40}">
      <dsp:nvSpPr>
        <dsp:cNvPr id="0" name=""/>
        <dsp:cNvSpPr/>
      </dsp:nvSpPr>
      <dsp:spPr>
        <a:xfrm>
          <a:off x="3522079" y="1315360"/>
          <a:ext cx="2995312" cy="864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 dirty="0"/>
            <a:t>Model: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Gross Borrow Rate = Base Rate + Utilization Factor + Collateral Risk Premium</a:t>
          </a:r>
          <a:endParaRPr lang="en-US" sz="1400" kern="1200" dirty="0">
            <a:solidFill>
              <a:srgbClr val="C0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522079" y="1315360"/>
        <a:ext cx="2995312" cy="864587"/>
      </dsp:txXfrm>
    </dsp:sp>
    <dsp:sp modelId="{0049111E-A5F5-4277-A2AC-37366318F207}">
      <dsp:nvSpPr>
        <dsp:cNvPr id="0" name=""/>
        <dsp:cNvSpPr/>
      </dsp:nvSpPr>
      <dsp:spPr>
        <a:xfrm>
          <a:off x="3522079" y="2243496"/>
          <a:ext cx="2995312" cy="1064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Base Rate: </a:t>
          </a:r>
          <a:r>
            <a:rPr lang="en-US" sz="1300" b="0" kern="1200" dirty="0"/>
            <a:t>Lending interest rate for USD (U)</a:t>
          </a:r>
          <a:endParaRPr lang="en-US" sz="1300" kern="1200" dirty="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Utilization Factor: </a:t>
          </a:r>
          <a:r>
            <a:rPr lang="en-US" sz="1300" b="0" kern="1200" dirty="0"/>
            <a:t>The fewer U in the AMM, the higher the factor</a:t>
          </a:r>
          <a:endParaRPr lang="en-US" sz="1300" kern="1200" dirty="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Collateral Risk Premium: </a:t>
          </a:r>
          <a:r>
            <a:rPr lang="en-US" sz="1300" b="0" kern="1200" dirty="0"/>
            <a:t>Risk premium of the underlying asset</a:t>
          </a:r>
          <a:endParaRPr lang="en-US" sz="1300" kern="1200" dirty="0"/>
        </a:p>
      </dsp:txBody>
      <dsp:txXfrm>
        <a:off x="3522079" y="2243496"/>
        <a:ext cx="2995312" cy="1064274"/>
      </dsp:txXfrm>
    </dsp:sp>
    <dsp:sp modelId="{ABFA15C1-0E18-4C05-8401-160BD2AC9D8B}">
      <dsp:nvSpPr>
        <dsp:cNvPr id="0" name=""/>
        <dsp:cNvSpPr/>
      </dsp:nvSpPr>
      <dsp:spPr>
        <a:xfrm>
          <a:off x="7041571" y="130373"/>
          <a:ext cx="1048359" cy="10483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8D835D-43F5-455A-ACE6-700A3F3734FB}">
      <dsp:nvSpPr>
        <dsp:cNvPr id="0" name=""/>
        <dsp:cNvSpPr/>
      </dsp:nvSpPr>
      <dsp:spPr>
        <a:xfrm>
          <a:off x="7041571" y="1315360"/>
          <a:ext cx="2995312" cy="864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 dirty="0"/>
            <a:t>Practical:</a:t>
          </a:r>
          <a:endParaRPr lang="en-US" sz="1400" kern="1200" dirty="0"/>
        </a:p>
      </dsp:txBody>
      <dsp:txXfrm>
        <a:off x="7041571" y="1315360"/>
        <a:ext cx="2995312" cy="864587"/>
      </dsp:txXfrm>
    </dsp:sp>
    <dsp:sp modelId="{3D7CF66D-D255-4F58-B163-AADDFA0F85DF}">
      <dsp:nvSpPr>
        <dsp:cNvPr id="0" name=""/>
        <dsp:cNvSpPr/>
      </dsp:nvSpPr>
      <dsp:spPr>
        <a:xfrm>
          <a:off x="7041571" y="2243496"/>
          <a:ext cx="2995312" cy="1064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kern="1200" dirty="0"/>
            <a:t>Interest is accrued on a per‑second basis and reflected in the net value of L tokens. </a:t>
          </a:r>
          <a:endParaRPr lang="en-US" sz="1300" kern="1200" dirty="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kern="1200" dirty="0"/>
            <a:t>Upon burning, the deduction is made once in the form of the underlying asset</a:t>
          </a:r>
          <a:endParaRPr lang="en-US" sz="1300" kern="1200" dirty="0"/>
        </a:p>
      </dsp:txBody>
      <dsp:txXfrm>
        <a:off x="7041571" y="2243496"/>
        <a:ext cx="2995312" cy="10642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8FB171-5F8D-43F5-B27E-71538346359E}">
      <dsp:nvSpPr>
        <dsp:cNvPr id="0" name=""/>
        <dsp:cNvSpPr/>
      </dsp:nvSpPr>
      <dsp:spPr>
        <a:xfrm>
          <a:off x="559800" y="121415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5B3CB3-6A74-4AA0-9697-AFED23886263}">
      <dsp:nvSpPr>
        <dsp:cNvPr id="0" name=""/>
        <dsp:cNvSpPr/>
      </dsp:nvSpPr>
      <dsp:spPr>
        <a:xfrm>
          <a:off x="559800" y="1810081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dirty="0"/>
            <a:t>Third-party oracles</a:t>
          </a:r>
        </a:p>
      </dsp:txBody>
      <dsp:txXfrm>
        <a:off x="559800" y="1810081"/>
        <a:ext cx="4320000" cy="648000"/>
      </dsp:txXfrm>
    </dsp:sp>
    <dsp:sp modelId="{DEF09A06-293A-437A-8994-C9B814E0649B}">
      <dsp:nvSpPr>
        <dsp:cNvPr id="0" name=""/>
        <dsp:cNvSpPr/>
      </dsp:nvSpPr>
      <dsp:spPr>
        <a:xfrm>
          <a:off x="559800" y="2540251"/>
          <a:ext cx="4320000" cy="1689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Chainlink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Pyth Network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RedStone</a:t>
          </a:r>
        </a:p>
      </dsp:txBody>
      <dsp:txXfrm>
        <a:off x="559800" y="2540251"/>
        <a:ext cx="4320000" cy="1689671"/>
      </dsp:txXfrm>
    </dsp:sp>
    <dsp:sp modelId="{9561BCE2-FF98-4958-8DE6-CB090AC4B7AE}">
      <dsp:nvSpPr>
        <dsp:cNvPr id="0" name=""/>
        <dsp:cNvSpPr/>
      </dsp:nvSpPr>
      <dsp:spPr>
        <a:xfrm>
          <a:off x="5635800" y="121415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B8F1DA-F386-437D-BD68-F5A203689D13}">
      <dsp:nvSpPr>
        <dsp:cNvPr id="0" name=""/>
        <dsp:cNvSpPr/>
      </dsp:nvSpPr>
      <dsp:spPr>
        <a:xfrm>
          <a:off x="5635800" y="1810081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Core features:</a:t>
          </a:r>
        </a:p>
      </dsp:txBody>
      <dsp:txXfrm>
        <a:off x="5635800" y="1810081"/>
        <a:ext cx="4320000" cy="648000"/>
      </dsp:txXfrm>
    </dsp:sp>
    <dsp:sp modelId="{B959AF8D-1020-46E4-AF94-AD38F1F9D5E5}">
      <dsp:nvSpPr>
        <dsp:cNvPr id="0" name=""/>
        <dsp:cNvSpPr/>
      </dsp:nvSpPr>
      <dsp:spPr>
        <a:xfrm>
          <a:off x="5635800" y="2540251"/>
          <a:ext cx="4320000" cy="1689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Delayed price updates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Multi-source aggregation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Multi-signature voting mechanism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Emergency halt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Price change threshold</a:t>
          </a:r>
        </a:p>
      </dsp:txBody>
      <dsp:txXfrm>
        <a:off x="5635800" y="2540251"/>
        <a:ext cx="4320000" cy="168967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240B3A-2C6D-4892-B660-98716B1F972F}">
      <dsp:nvSpPr>
        <dsp:cNvPr id="0" name=""/>
        <dsp:cNvSpPr/>
      </dsp:nvSpPr>
      <dsp:spPr>
        <a:xfrm>
          <a:off x="559800" y="306484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26D441-17B9-4F7E-89DE-4B3496098CF0}">
      <dsp:nvSpPr>
        <dsp:cNvPr id="0" name=""/>
        <dsp:cNvSpPr/>
      </dsp:nvSpPr>
      <dsp:spPr>
        <a:xfrm>
          <a:off x="559800" y="1979234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On-chain</a:t>
          </a:r>
        </a:p>
      </dsp:txBody>
      <dsp:txXfrm>
        <a:off x="559800" y="1979234"/>
        <a:ext cx="4320000" cy="648000"/>
      </dsp:txXfrm>
    </dsp:sp>
    <dsp:sp modelId="{80CDD18C-B6B8-4DD1-8896-C39C0C2DC7A1}">
      <dsp:nvSpPr>
        <dsp:cNvPr id="0" name=""/>
        <dsp:cNvSpPr/>
      </dsp:nvSpPr>
      <dsp:spPr>
        <a:xfrm>
          <a:off x="559800" y="2702001"/>
          <a:ext cx="4320000" cy="13428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Access Control / Multi-sig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W</a:t>
          </a:r>
          <a:r>
            <a:rPr lang="en-US" altLang="zh-CN" sz="1700" kern="1200" dirty="0"/>
            <a:t>hitelist</a:t>
          </a:r>
          <a:endParaRPr lang="en-US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Proxy Pattern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……</a:t>
          </a:r>
        </a:p>
      </dsp:txBody>
      <dsp:txXfrm>
        <a:off x="559800" y="2702001"/>
        <a:ext cx="4320000" cy="1342851"/>
      </dsp:txXfrm>
    </dsp:sp>
    <dsp:sp modelId="{42A66447-05A3-4D2B-9484-C3DEBCD6E5FF}">
      <dsp:nvSpPr>
        <dsp:cNvPr id="0" name=""/>
        <dsp:cNvSpPr/>
      </dsp:nvSpPr>
      <dsp:spPr>
        <a:xfrm>
          <a:off x="5635800" y="306484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F5BA55-9E25-4A3D-BC68-A5F6F25C3E3C}">
      <dsp:nvSpPr>
        <dsp:cNvPr id="0" name=""/>
        <dsp:cNvSpPr/>
      </dsp:nvSpPr>
      <dsp:spPr>
        <a:xfrm>
          <a:off x="5635800" y="1979234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Off-chain</a:t>
          </a:r>
        </a:p>
      </dsp:txBody>
      <dsp:txXfrm>
        <a:off x="5635800" y="1979234"/>
        <a:ext cx="4320000" cy="648000"/>
      </dsp:txXfrm>
    </dsp:sp>
    <dsp:sp modelId="{33D1DB58-7B24-442F-A4D1-78CAE658B1F5}">
      <dsp:nvSpPr>
        <dsp:cNvPr id="0" name=""/>
        <dsp:cNvSpPr/>
      </dsp:nvSpPr>
      <dsp:spPr>
        <a:xfrm>
          <a:off x="5635800" y="2702001"/>
          <a:ext cx="4320000" cy="13428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Liquidation bots </a:t>
          </a:r>
          <a:endParaRPr lang="en-US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Arbitrage </a:t>
          </a:r>
          <a:r>
            <a:rPr lang="en-US" altLang="zh-CN" sz="1700" kern="1200" dirty="0"/>
            <a:t>bots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Maintenances bots</a:t>
          </a:r>
          <a:endParaRPr lang="en-US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……</a:t>
          </a:r>
        </a:p>
      </dsp:txBody>
      <dsp:txXfrm>
        <a:off x="5635800" y="2702001"/>
        <a:ext cx="4320000" cy="134285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D714B1-D61A-400C-AF50-35FE87BD4781}">
      <dsp:nvSpPr>
        <dsp:cNvPr id="0" name=""/>
        <dsp:cNvSpPr/>
      </dsp:nvSpPr>
      <dsp:spPr>
        <a:xfrm>
          <a:off x="1212569" y="934214"/>
          <a:ext cx="1300252" cy="13002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33D17B-00ED-44CB-88AF-CFA0B4172F7D}">
      <dsp:nvSpPr>
        <dsp:cNvPr id="0" name=""/>
        <dsp:cNvSpPr/>
      </dsp:nvSpPr>
      <dsp:spPr>
        <a:xfrm>
          <a:off x="417971" y="2607123"/>
          <a:ext cx="2889450" cy="81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Martingale: </a:t>
          </a:r>
          <a:r>
            <a:rPr lang="en-US" sz="1100" kern="1200" dirty="0">
              <a:solidFill>
                <a:srgbClr val="0070C0"/>
              </a:solidFill>
              <a:hlinkClick xmlns:r="http://schemas.openxmlformats.org/officeDocument/2006/relationships"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https://martingaleco.com</a:t>
          </a:r>
          <a:r>
            <a:rPr lang="en-US" sz="1100" kern="1200" dirty="0">
              <a:solidFill>
                <a:srgbClr val="0070C0"/>
              </a:solidFill>
            </a:rPr>
            <a:t> 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</dsp:txBody>
      <dsp:txXfrm>
        <a:off x="417971" y="2607123"/>
        <a:ext cx="2889450" cy="810000"/>
      </dsp:txXfrm>
    </dsp:sp>
    <dsp:sp modelId="{D5F41870-6E8D-466C-B0A7-537BD2BAE371}">
      <dsp:nvSpPr>
        <dsp:cNvPr id="0" name=""/>
        <dsp:cNvSpPr/>
      </dsp:nvSpPr>
      <dsp:spPr>
        <a:xfrm>
          <a:off x="4607673" y="934214"/>
          <a:ext cx="1300252" cy="1300252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A6F31A-4804-4F94-8008-BC235E7D10D3}">
      <dsp:nvSpPr>
        <dsp:cNvPr id="0" name=""/>
        <dsp:cNvSpPr/>
      </dsp:nvSpPr>
      <dsp:spPr>
        <a:xfrm>
          <a:off x="3813075" y="2607123"/>
          <a:ext cx="2889450" cy="81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App D</a:t>
          </a:r>
          <a:r>
            <a:rPr lang="en-US" altLang="zh-CN" sz="1100" kern="1200" dirty="0"/>
            <a:t>emo</a:t>
          </a:r>
          <a:r>
            <a:rPr lang="en-US" sz="1100" kern="1200" dirty="0"/>
            <a:t>: </a:t>
          </a:r>
          <a:r>
            <a:rPr lang="en-US" sz="1100" kern="1200" dirty="0">
              <a:hlinkClick xmlns:r="http://schemas.openxmlformats.org/officeDocument/2006/relationships" r:id="rId6"/>
            </a:rPr>
            <a:t>https://test-al2.pages.dev/app</a:t>
          </a:r>
          <a:endParaRPr lang="en-US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 </a:t>
          </a:r>
        </a:p>
      </dsp:txBody>
      <dsp:txXfrm>
        <a:off x="3813075" y="2607123"/>
        <a:ext cx="2889450" cy="810000"/>
      </dsp:txXfrm>
    </dsp:sp>
    <dsp:sp modelId="{5C10D3F5-DEF7-4A11-869D-A98FCA06619D}">
      <dsp:nvSpPr>
        <dsp:cNvPr id="0" name=""/>
        <dsp:cNvSpPr/>
      </dsp:nvSpPr>
      <dsp:spPr>
        <a:xfrm>
          <a:off x="8002777" y="934214"/>
          <a:ext cx="1300252" cy="130025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91CF46-7659-4171-A834-D588E15A758A}">
      <dsp:nvSpPr>
        <dsp:cNvPr id="0" name=""/>
        <dsp:cNvSpPr/>
      </dsp:nvSpPr>
      <dsp:spPr>
        <a:xfrm>
          <a:off x="7208178" y="2607123"/>
          <a:ext cx="2889450" cy="81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Documentation:  </a:t>
          </a:r>
          <a:r>
            <a:rPr lang="en-US" sz="1100" kern="1200" dirty="0">
              <a:solidFill>
                <a:srgbClr val="0070C0"/>
              </a:solidFill>
              <a:hlinkClick xmlns:r="http://schemas.openxmlformats.org/officeDocument/2006/relationships" r:id="rId9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https://test2026.gitbook.io/test-tranche_protocol/fMFG0viXW9hbW0MeCbeh/</a:t>
          </a:r>
          <a:endParaRPr lang="en-US" sz="1100" kern="1200" dirty="0">
            <a:solidFill>
              <a:srgbClr val="0070C0"/>
            </a:solidFill>
          </a:endParaRP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</dsp:txBody>
      <dsp:txXfrm>
        <a:off x="7208178" y="2607123"/>
        <a:ext cx="2889450" cy="81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0D5AE7-B727-42C0-81FD-A4556D1D54A8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01FC22-9142-4997-A30C-48F8C2B59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608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863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294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298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869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260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691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14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91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505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531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554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652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BF4DF2C-F028-4921-9C23-41303F650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336E32-AF1F-8441-82D8-D0397B5E97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598246"/>
            <a:ext cx="4412419" cy="3626217"/>
          </a:xfrm>
        </p:spPr>
        <p:txBody>
          <a:bodyPr anchor="t">
            <a:normAutofit/>
          </a:bodyPr>
          <a:lstStyle/>
          <a:p>
            <a:pPr algn="r"/>
            <a:r>
              <a:rPr lang="en-US" sz="7400">
                <a:solidFill>
                  <a:srgbClr val="FFFFFF"/>
                </a:solidFill>
              </a:rPr>
              <a:t>M</a:t>
            </a:r>
            <a:r>
              <a:rPr lang="en-US" altLang="zh-CN" sz="7400">
                <a:solidFill>
                  <a:srgbClr val="FFFFFF"/>
                </a:solidFill>
              </a:rPr>
              <a:t>artingale Protocol</a:t>
            </a:r>
            <a:endParaRPr lang="en-US" sz="7400">
              <a:solidFill>
                <a:srgbClr val="FFFFFF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ogo with a triangle and a logo in the middle&#10;&#10;AI-generated content may be incorrect.">
            <a:extLst>
              <a:ext uri="{FF2B5EF4-FFF2-40B4-BE49-F238E27FC236}">
                <a16:creationId xmlns:a16="http://schemas.microsoft.com/office/drawing/2014/main" id="{D97C9E31-19E8-19C4-AB87-EE125965C1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62"/>
          <a:stretch>
            <a:fillRect/>
          </a:stretch>
        </p:blipFill>
        <p:spPr>
          <a:xfrm>
            <a:off x="6257750" y="1598246"/>
            <a:ext cx="5122483" cy="4719754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892B7B61-D701-474B-AE8F-EA238B550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12034" y="1267063"/>
            <a:ext cx="368480" cy="519967"/>
            <a:chOff x="11512034" y="1267063"/>
            <a:chExt cx="368480" cy="519967"/>
          </a:xfrm>
          <a:solidFill>
            <a:srgbClr val="FFFFFF"/>
          </a:solidFill>
        </p:grpSpPr>
        <p:sp>
          <p:nvSpPr>
            <p:cNvPr id="27" name="Graphic 17">
              <a:extLst>
                <a:ext uri="{FF2B5EF4-FFF2-40B4-BE49-F238E27FC236}">
                  <a16:creationId xmlns:a16="http://schemas.microsoft.com/office/drawing/2014/main" id="{B71758F4-3F46-45DA-8AC5-4E508DA080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12034" y="1267063"/>
              <a:ext cx="139037" cy="139039"/>
            </a:xfrm>
            <a:custGeom>
              <a:avLst/>
              <a:gdLst>
                <a:gd name="connsiteX0" fmla="*/ 129600 w 139037"/>
                <a:gd name="connsiteY0" fmla="*/ 60082 h 139039"/>
                <a:gd name="connsiteX1" fmla="*/ 78955 w 139037"/>
                <a:gd name="connsiteY1" fmla="*/ 60082 h 139039"/>
                <a:gd name="connsiteX2" fmla="*/ 78955 w 139037"/>
                <a:gd name="connsiteY2" fmla="*/ 9437 h 139039"/>
                <a:gd name="connsiteX3" fmla="*/ 69519 w 139037"/>
                <a:gd name="connsiteY3" fmla="*/ 0 h 139039"/>
                <a:gd name="connsiteX4" fmla="*/ 60082 w 139037"/>
                <a:gd name="connsiteY4" fmla="*/ 9437 h 139039"/>
                <a:gd name="connsiteX5" fmla="*/ 60082 w 139037"/>
                <a:gd name="connsiteY5" fmla="*/ 60082 h 139039"/>
                <a:gd name="connsiteX6" fmla="*/ 9437 w 139037"/>
                <a:gd name="connsiteY6" fmla="*/ 60082 h 139039"/>
                <a:gd name="connsiteX7" fmla="*/ 0 w 139037"/>
                <a:gd name="connsiteY7" fmla="*/ 69520 h 139039"/>
                <a:gd name="connsiteX8" fmla="*/ 9437 w 139037"/>
                <a:gd name="connsiteY8" fmla="*/ 78957 h 139039"/>
                <a:gd name="connsiteX9" fmla="*/ 60082 w 139037"/>
                <a:gd name="connsiteY9" fmla="*/ 78957 h 139039"/>
                <a:gd name="connsiteX10" fmla="*/ 60082 w 139037"/>
                <a:gd name="connsiteY10" fmla="*/ 129602 h 139039"/>
                <a:gd name="connsiteX11" fmla="*/ 69519 w 139037"/>
                <a:gd name="connsiteY11" fmla="*/ 139039 h 139039"/>
                <a:gd name="connsiteX12" fmla="*/ 78955 w 139037"/>
                <a:gd name="connsiteY12" fmla="*/ 129602 h 139039"/>
                <a:gd name="connsiteX13" fmla="*/ 78955 w 139037"/>
                <a:gd name="connsiteY13" fmla="*/ 78957 h 139039"/>
                <a:gd name="connsiteX14" fmla="*/ 129600 w 139037"/>
                <a:gd name="connsiteY14" fmla="*/ 78957 h 139039"/>
                <a:gd name="connsiteX15" fmla="*/ 139037 w 139037"/>
                <a:gd name="connsiteY15" fmla="*/ 69520 h 139039"/>
                <a:gd name="connsiteX16" fmla="*/ 129600 w 139037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7" h="139039">
                  <a:moveTo>
                    <a:pt x="129600" y="60082"/>
                  </a:moveTo>
                  <a:lnTo>
                    <a:pt x="78955" y="60082"/>
                  </a:lnTo>
                  <a:lnTo>
                    <a:pt x="78955" y="9437"/>
                  </a:lnTo>
                  <a:cubicBezTo>
                    <a:pt x="78955" y="4225"/>
                    <a:pt x="74730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7" y="139039"/>
                    <a:pt x="69519" y="139039"/>
                  </a:cubicBezTo>
                  <a:cubicBezTo>
                    <a:pt x="74730" y="139039"/>
                    <a:pt x="78955" y="134814"/>
                    <a:pt x="78955" y="129602"/>
                  </a:cubicBezTo>
                  <a:lnTo>
                    <a:pt x="78955" y="78957"/>
                  </a:lnTo>
                  <a:lnTo>
                    <a:pt x="129600" y="78957"/>
                  </a:lnTo>
                  <a:cubicBezTo>
                    <a:pt x="134812" y="78957"/>
                    <a:pt x="139037" y="74731"/>
                    <a:pt x="139037" y="69520"/>
                  </a:cubicBezTo>
                  <a:cubicBezTo>
                    <a:pt x="139037" y="64308"/>
                    <a:pt x="134812" y="60082"/>
                    <a:pt x="129600" y="60082"/>
                  </a:cubicBezTo>
                  <a:close/>
                </a:path>
              </a:pathLst>
            </a:custGeom>
            <a:grpFill/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8" name="Graphic 21">
              <a:extLst>
                <a:ext uri="{FF2B5EF4-FFF2-40B4-BE49-F238E27FC236}">
                  <a16:creationId xmlns:a16="http://schemas.microsoft.com/office/drawing/2014/main" id="{8D61482F-F3C5-4D66-8C5D-C6BBE3E12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2801" y="1659316"/>
              <a:ext cx="127713" cy="127714"/>
            </a:xfrm>
            <a:custGeom>
              <a:avLst/>
              <a:gdLst>
                <a:gd name="connsiteX0" fmla="*/ 63857 w 127713"/>
                <a:gd name="connsiteY0" fmla="*/ 18874 h 127714"/>
                <a:gd name="connsiteX1" fmla="*/ 108839 w 127713"/>
                <a:gd name="connsiteY1" fmla="*/ 63857 h 127714"/>
                <a:gd name="connsiteX2" fmla="*/ 63857 w 127713"/>
                <a:gd name="connsiteY2" fmla="*/ 108840 h 127714"/>
                <a:gd name="connsiteX3" fmla="*/ 18874 w 127713"/>
                <a:gd name="connsiteY3" fmla="*/ 63857 h 127714"/>
                <a:gd name="connsiteX4" fmla="*/ 63857 w 127713"/>
                <a:gd name="connsiteY4" fmla="*/ 18874 h 127714"/>
                <a:gd name="connsiteX5" fmla="*/ 63857 w 127713"/>
                <a:gd name="connsiteY5" fmla="*/ 0 h 127714"/>
                <a:gd name="connsiteX6" fmla="*/ 0 w 127713"/>
                <a:gd name="connsiteY6" fmla="*/ 63857 h 127714"/>
                <a:gd name="connsiteX7" fmla="*/ 63857 w 127713"/>
                <a:gd name="connsiteY7" fmla="*/ 127714 h 127714"/>
                <a:gd name="connsiteX8" fmla="*/ 127713 w 127713"/>
                <a:gd name="connsiteY8" fmla="*/ 63857 h 127714"/>
                <a:gd name="connsiteX9" fmla="*/ 63857 w 127713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4">
                  <a:moveTo>
                    <a:pt x="63857" y="18874"/>
                  </a:moveTo>
                  <a:cubicBezTo>
                    <a:pt x="88700" y="18874"/>
                    <a:pt x="108839" y="39014"/>
                    <a:pt x="108839" y="63857"/>
                  </a:cubicBezTo>
                  <a:cubicBezTo>
                    <a:pt x="108839" y="88700"/>
                    <a:pt x="88700" y="108840"/>
                    <a:pt x="63857" y="108840"/>
                  </a:cubicBezTo>
                  <a:cubicBezTo>
                    <a:pt x="39013" y="108840"/>
                    <a:pt x="18874" y="88700"/>
                    <a:pt x="18874" y="63857"/>
                  </a:cubicBezTo>
                  <a:cubicBezTo>
                    <a:pt x="18898" y="39024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grpFill/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4346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7" name="Freeform: Shape 46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4" name="Freeform: Shape 4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25CE2D-908C-4BE4-6ED2-AE5403C2F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US" sz="2800"/>
              <a:t>O</a:t>
            </a:r>
            <a:r>
              <a:rPr lang="en-US" altLang="zh-CN" sz="2800"/>
              <a:t>verview</a:t>
            </a:r>
            <a:endParaRPr lang="en-US" sz="28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938BE-542A-A5D2-F12C-443E14F05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sz="1700" dirty="0"/>
              <a:t>Martingale protocol is </a:t>
            </a:r>
            <a:r>
              <a:rPr lang="en-US" sz="17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decentralized </a:t>
            </a:r>
            <a:r>
              <a:rPr lang="en-US" altLang="zh-CN" sz="17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credit</a:t>
            </a:r>
            <a:r>
              <a:rPr lang="en-US" altLang="zh-CN" sz="1700" dirty="0"/>
              <a:t>, which combines</a:t>
            </a:r>
            <a:r>
              <a:rPr lang="en-US" sz="1700" dirty="0"/>
              <a:t> stablecoin and lending Markets.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Pledge underlying to borrow stable coins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Customized DeFi investment tools for users with different risk preferences </a:t>
            </a:r>
          </a:p>
          <a:p>
            <a:pPr marL="0" indent="0">
              <a:buNone/>
            </a:pPr>
            <a:endParaRPr lang="en-US" sz="1700" dirty="0"/>
          </a:p>
          <a:p>
            <a:pPr lvl="1"/>
            <a:endParaRPr lang="en-US" sz="1700" dirty="0"/>
          </a:p>
          <a:p>
            <a:endParaRPr lang="en-US" sz="1700" dirty="0"/>
          </a:p>
          <a:p>
            <a:endParaRPr lang="en-US" sz="1700" dirty="0"/>
          </a:p>
        </p:txBody>
      </p:sp>
      <p:pic>
        <p:nvPicPr>
          <p:cNvPr id="5" name="Picture 4" descr="A diagram of a triangle with blue and purple lights&#10;&#10;AI-generated content may be incorrect.">
            <a:extLst>
              <a:ext uri="{FF2B5EF4-FFF2-40B4-BE49-F238E27FC236}">
                <a16:creationId xmlns:a16="http://schemas.microsoft.com/office/drawing/2014/main" id="{5A4B486E-BFC1-DCEA-14A1-3FF89CDEE4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5061" y="841248"/>
            <a:ext cx="6434254" cy="527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952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5813B-8E13-271B-5054-3824052F4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914" y="2074364"/>
            <a:ext cx="2025955" cy="2036390"/>
          </a:xfrm>
          <a:prstGeom prst="rect">
            <a:avLst/>
          </a:prstGeom>
          <a:solidFill>
            <a:schemeClr val="accent1"/>
          </a:solidFill>
          <a:ln w="174625" cmpd="thinThick">
            <a:solidFill>
              <a:schemeClr val="accent1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</a:t>
            </a:r>
            <a:r>
              <a:rPr lang="en-US" altLang="zh-CN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ystem Architecture</a:t>
            </a:r>
            <a:endParaRPr lang="en-US" sz="28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5" name="Content Placeholder 14" descr="A screenshot of a diagram&#10;&#10;AI-generated content may be incorrect.">
            <a:extLst>
              <a:ext uri="{FF2B5EF4-FFF2-40B4-BE49-F238E27FC236}">
                <a16:creationId xmlns:a16="http://schemas.microsoft.com/office/drawing/2014/main" id="{7C5AEAB5-8C07-DA86-BD0F-6C927C435D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3120" y="1065347"/>
            <a:ext cx="8223656" cy="5081798"/>
          </a:xfrm>
        </p:spPr>
      </p:pic>
    </p:spTree>
    <p:extLst>
      <p:ext uri="{BB962C8B-B14F-4D97-AF65-F5344CB8AC3E}">
        <p14:creationId xmlns:p14="http://schemas.microsoft.com/office/powerpoint/2010/main" val="766862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5813B-8E13-271B-5054-3824052F4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914" y="2074364"/>
            <a:ext cx="2025955" cy="2036390"/>
          </a:xfrm>
          <a:prstGeom prst="rect">
            <a:avLst/>
          </a:prstGeom>
          <a:solidFill>
            <a:schemeClr val="accent1"/>
          </a:solidFill>
          <a:ln w="174625" cmpd="thinThick">
            <a:solidFill>
              <a:schemeClr val="accent1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</a:t>
            </a:r>
            <a:r>
              <a:rPr lang="en-US" altLang="zh-CN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ife Cycle</a:t>
            </a:r>
            <a:endParaRPr lang="en-US" sz="2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" name="Picture 9" descr="A diagram of a flowchart&#10;&#10;AI-generated content may be incorrect.">
            <a:extLst>
              <a:ext uri="{FF2B5EF4-FFF2-40B4-BE49-F238E27FC236}">
                <a16:creationId xmlns:a16="http://schemas.microsoft.com/office/drawing/2014/main" id="{24C3F686-4649-ECB1-3CB5-6847FC9B6E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7229" y="0"/>
            <a:ext cx="60355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565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95D84-7197-9E06-A96E-BBD7A7632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</a:t>
            </a:r>
            <a:r>
              <a:rPr lang="en-US" dirty="0">
                <a:latin typeface="Abadi" panose="020F0502020204030204" pitchFamily="34" charset="0"/>
              </a:rPr>
              <a:t>Ⅰ</a:t>
            </a:r>
            <a:r>
              <a:rPr lang="en-US" altLang="zh-CN" dirty="0"/>
              <a:t>——Mint/Burn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24F62A-E4F8-3498-BACB-014F37908D85}"/>
              </a:ext>
            </a:extLst>
          </p:cNvPr>
          <p:cNvSpPr/>
          <p:nvPr/>
        </p:nvSpPr>
        <p:spPr>
          <a:xfrm>
            <a:off x="1428144" y="3545159"/>
            <a:ext cx="8773297" cy="1864426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8D475AF-40C3-C7EB-FD4C-B4F70FF56C99}"/>
              </a:ext>
            </a:extLst>
          </p:cNvPr>
          <p:cNvSpPr/>
          <p:nvPr/>
        </p:nvSpPr>
        <p:spPr>
          <a:xfrm>
            <a:off x="3071942" y="2220337"/>
            <a:ext cx="1472540" cy="570016"/>
          </a:xfrm>
          <a:prstGeom prst="roundRect">
            <a:avLst/>
          </a:prstGeom>
          <a:solidFill>
            <a:srgbClr val="CC9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</a:t>
            </a:r>
            <a:r>
              <a:rPr lang="en-US" altLang="zh-CN" sz="1600" dirty="0"/>
              <a:t>okenized</a:t>
            </a:r>
          </a:p>
          <a:p>
            <a:pPr algn="ctr"/>
            <a:r>
              <a:rPr lang="en-US" sz="1600" dirty="0"/>
              <a:t>Asset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7BCE51A-F397-3844-674E-719DD3A09B00}"/>
              </a:ext>
            </a:extLst>
          </p:cNvPr>
          <p:cNvSpPr/>
          <p:nvPr/>
        </p:nvSpPr>
        <p:spPr>
          <a:xfrm>
            <a:off x="8627355" y="3849208"/>
            <a:ext cx="1440456" cy="513615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U</a:t>
            </a:r>
          </a:p>
        </p:txBody>
      </p:sp>
      <p:sp>
        <p:nvSpPr>
          <p:cNvPr id="23" name="矩形: 圆角 23">
            <a:extLst>
              <a:ext uri="{FF2B5EF4-FFF2-40B4-BE49-F238E27FC236}">
                <a16:creationId xmlns:a16="http://schemas.microsoft.com/office/drawing/2014/main" id="{3C7B2A51-6FA6-27D9-9F10-C462A0C4A606}"/>
              </a:ext>
            </a:extLst>
          </p:cNvPr>
          <p:cNvSpPr/>
          <p:nvPr/>
        </p:nvSpPr>
        <p:spPr>
          <a:xfrm>
            <a:off x="4226374" y="3849208"/>
            <a:ext cx="1471569" cy="51361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S Token</a:t>
            </a:r>
            <a:endParaRPr lang="zh-CN" altLang="en-US" sz="1600" dirty="0"/>
          </a:p>
        </p:txBody>
      </p:sp>
      <p:sp>
        <p:nvSpPr>
          <p:cNvPr id="24" name="矩形: 圆角 24">
            <a:extLst>
              <a:ext uri="{FF2B5EF4-FFF2-40B4-BE49-F238E27FC236}">
                <a16:creationId xmlns:a16="http://schemas.microsoft.com/office/drawing/2014/main" id="{88B61D2B-8610-FB55-071E-6A79AA2DEBAF}"/>
              </a:ext>
            </a:extLst>
          </p:cNvPr>
          <p:cNvSpPr/>
          <p:nvPr/>
        </p:nvSpPr>
        <p:spPr>
          <a:xfrm>
            <a:off x="2043933" y="3852510"/>
            <a:ext cx="1471569" cy="51361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L Token</a:t>
            </a:r>
            <a:endParaRPr lang="zh-CN" altLang="en-US" sz="1600" dirty="0"/>
          </a:p>
        </p:txBody>
      </p:sp>
      <p:cxnSp>
        <p:nvCxnSpPr>
          <p:cNvPr id="25" name="直接箭头连接符 25">
            <a:extLst>
              <a:ext uri="{FF2B5EF4-FFF2-40B4-BE49-F238E27FC236}">
                <a16:creationId xmlns:a16="http://schemas.microsoft.com/office/drawing/2014/main" id="{8670F00A-C6F0-17BE-48C4-581657B8B5AB}"/>
              </a:ext>
            </a:extLst>
          </p:cNvPr>
          <p:cNvCxnSpPr>
            <a:cxnSpLocks/>
            <a:stCxn id="21" idx="2"/>
            <a:endCxn id="24" idx="0"/>
          </p:cNvCxnSpPr>
          <p:nvPr/>
        </p:nvCxnSpPr>
        <p:spPr>
          <a:xfrm flipH="1">
            <a:off x="2779718" y="2790353"/>
            <a:ext cx="1028494" cy="10621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6" name="直接箭头连接符 28">
            <a:extLst>
              <a:ext uri="{FF2B5EF4-FFF2-40B4-BE49-F238E27FC236}">
                <a16:creationId xmlns:a16="http://schemas.microsoft.com/office/drawing/2014/main" id="{ABE2742B-099F-37F4-61FB-FBB883B86CCE}"/>
              </a:ext>
            </a:extLst>
          </p:cNvPr>
          <p:cNvCxnSpPr>
            <a:cxnSpLocks/>
            <a:stCxn id="21" idx="2"/>
            <a:endCxn id="23" idx="0"/>
          </p:cNvCxnSpPr>
          <p:nvPr/>
        </p:nvCxnSpPr>
        <p:spPr>
          <a:xfrm>
            <a:off x="3808212" y="2790353"/>
            <a:ext cx="1153947" cy="10588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7" name="文本框 33">
            <a:extLst>
              <a:ext uri="{FF2B5EF4-FFF2-40B4-BE49-F238E27FC236}">
                <a16:creationId xmlns:a16="http://schemas.microsoft.com/office/drawing/2014/main" id="{C34A7A2F-0A30-7B54-4FA5-D1C228BD3D46}"/>
              </a:ext>
            </a:extLst>
          </p:cNvPr>
          <p:cNvSpPr txBox="1"/>
          <p:nvPr/>
        </p:nvSpPr>
        <p:spPr>
          <a:xfrm>
            <a:off x="4889728" y="3609649"/>
            <a:ext cx="925065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C00000"/>
                </a:solidFill>
              </a:rPr>
              <a:t>ERC20</a:t>
            </a:r>
          </a:p>
        </p:txBody>
      </p:sp>
      <p:sp>
        <p:nvSpPr>
          <p:cNvPr id="28" name="文本框 34">
            <a:extLst>
              <a:ext uri="{FF2B5EF4-FFF2-40B4-BE49-F238E27FC236}">
                <a16:creationId xmlns:a16="http://schemas.microsoft.com/office/drawing/2014/main" id="{019448B1-1E75-F912-5181-F11EF0704A30}"/>
              </a:ext>
            </a:extLst>
          </p:cNvPr>
          <p:cNvSpPr txBox="1"/>
          <p:nvPr/>
        </p:nvSpPr>
        <p:spPr>
          <a:xfrm>
            <a:off x="1975455" y="3600299"/>
            <a:ext cx="881873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C00000"/>
                </a:solidFill>
              </a:rPr>
              <a:t>ERC1155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731A816-1EA2-0051-B289-A0F5AE429C82}"/>
              </a:ext>
            </a:extLst>
          </p:cNvPr>
          <p:cNvSpPr/>
          <p:nvPr/>
        </p:nvSpPr>
        <p:spPr>
          <a:xfrm>
            <a:off x="6408814" y="3849208"/>
            <a:ext cx="1471569" cy="5136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AMM</a:t>
            </a:r>
            <a:endParaRPr lang="en-US" sz="1600" dirty="0">
              <a:sym typeface="Wingdings" panose="05000000000000000000" pitchFamily="2" charset="2"/>
            </a:endParaRPr>
          </a:p>
          <a:p>
            <a:pPr algn="ctr"/>
            <a:r>
              <a:rPr lang="en-US" sz="1600" dirty="0">
                <a:sym typeface="Wingdings" panose="05000000000000000000" pitchFamily="2" charset="2"/>
              </a:rPr>
              <a:t>(S+U)</a:t>
            </a:r>
            <a:endParaRPr lang="en-US" sz="1600" dirty="0"/>
          </a:p>
        </p:txBody>
      </p:sp>
      <p:cxnSp>
        <p:nvCxnSpPr>
          <p:cNvPr id="30" name="直接箭头连接符 28">
            <a:extLst>
              <a:ext uri="{FF2B5EF4-FFF2-40B4-BE49-F238E27FC236}">
                <a16:creationId xmlns:a16="http://schemas.microsoft.com/office/drawing/2014/main" id="{1B5693D6-75DC-50A4-8BD3-08F334D44638}"/>
              </a:ext>
            </a:extLst>
          </p:cNvPr>
          <p:cNvCxnSpPr>
            <a:cxnSpLocks/>
            <a:stCxn id="23" idx="3"/>
            <a:endCxn id="29" idx="1"/>
          </p:cNvCxnSpPr>
          <p:nvPr/>
        </p:nvCxnSpPr>
        <p:spPr>
          <a:xfrm>
            <a:off x="5697943" y="4106016"/>
            <a:ext cx="7108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AAFA304-B448-D186-3E47-320E32B2BB71}"/>
              </a:ext>
            </a:extLst>
          </p:cNvPr>
          <p:cNvCxnSpPr>
            <a:cxnSpLocks/>
            <a:stCxn id="22" idx="1"/>
            <a:endCxn id="29" idx="3"/>
          </p:cNvCxnSpPr>
          <p:nvPr/>
        </p:nvCxnSpPr>
        <p:spPr>
          <a:xfrm flipH="1">
            <a:off x="7880383" y="4106016"/>
            <a:ext cx="74697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文本框 33">
            <a:extLst>
              <a:ext uri="{FF2B5EF4-FFF2-40B4-BE49-F238E27FC236}">
                <a16:creationId xmlns:a16="http://schemas.microsoft.com/office/drawing/2014/main" id="{42E2F5A1-9982-D805-035A-2A00700B5634}"/>
              </a:ext>
            </a:extLst>
          </p:cNvPr>
          <p:cNvSpPr txBox="1"/>
          <p:nvPr/>
        </p:nvSpPr>
        <p:spPr>
          <a:xfrm>
            <a:off x="3489776" y="1962612"/>
            <a:ext cx="762324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C00000"/>
                </a:solidFill>
              </a:rPr>
              <a:t>ERC20</a:t>
            </a:r>
          </a:p>
        </p:txBody>
      </p:sp>
      <p:sp>
        <p:nvSpPr>
          <p:cNvPr id="33" name="矩形: 圆角 24">
            <a:extLst>
              <a:ext uri="{FF2B5EF4-FFF2-40B4-BE49-F238E27FC236}">
                <a16:creationId xmlns:a16="http://schemas.microsoft.com/office/drawing/2014/main" id="{7D3BF3E2-9244-CC12-F3AA-F4F1794F0262}"/>
              </a:ext>
            </a:extLst>
          </p:cNvPr>
          <p:cNvSpPr/>
          <p:nvPr/>
        </p:nvSpPr>
        <p:spPr>
          <a:xfrm>
            <a:off x="2043933" y="4798089"/>
            <a:ext cx="1471569" cy="513615"/>
          </a:xfrm>
          <a:prstGeom prst="roundRect">
            <a:avLst/>
          </a:prstGeom>
          <a:solidFill>
            <a:srgbClr val="C00000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</a:rPr>
              <a:t>Liquidation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5A23329-F1FA-6064-27C0-D59C1FFC7637}"/>
              </a:ext>
            </a:extLst>
          </p:cNvPr>
          <p:cNvCxnSpPr>
            <a:cxnSpLocks/>
            <a:stCxn id="33" idx="0"/>
            <a:endCxn id="24" idx="2"/>
          </p:cNvCxnSpPr>
          <p:nvPr/>
        </p:nvCxnSpPr>
        <p:spPr>
          <a:xfrm flipV="1">
            <a:off x="2779718" y="4366125"/>
            <a:ext cx="0" cy="431964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AE2D7DF-A684-6409-2541-F7198041D469}"/>
              </a:ext>
            </a:extLst>
          </p:cNvPr>
          <p:cNvSpPr txBox="1"/>
          <p:nvPr/>
        </p:nvSpPr>
        <p:spPr>
          <a:xfrm>
            <a:off x="3373654" y="3256037"/>
            <a:ext cx="9945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7030A0"/>
                </a:solidFill>
              </a:rPr>
              <a:t>Mint/Burn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EBD66A8-E96A-5686-FEF6-8DA10D4D12DD}"/>
              </a:ext>
            </a:extLst>
          </p:cNvPr>
          <p:cNvSpPr/>
          <p:nvPr/>
        </p:nvSpPr>
        <p:spPr>
          <a:xfrm>
            <a:off x="4226374" y="4798088"/>
            <a:ext cx="1471569" cy="5136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ym typeface="Wingdings" panose="05000000000000000000" pitchFamily="2" charset="2"/>
              </a:rPr>
              <a:t>Oracle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12FBD74-57E3-CDC8-CD11-BD741C4DABA2}"/>
              </a:ext>
            </a:extLst>
          </p:cNvPr>
          <p:cNvCxnSpPr>
            <a:cxnSpLocks/>
            <a:stCxn id="36" idx="1"/>
            <a:endCxn id="33" idx="3"/>
          </p:cNvCxnSpPr>
          <p:nvPr/>
        </p:nvCxnSpPr>
        <p:spPr>
          <a:xfrm flipH="1">
            <a:off x="3515502" y="5054896"/>
            <a:ext cx="710872" cy="1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8" name="Plus Sign 37">
            <a:extLst>
              <a:ext uri="{FF2B5EF4-FFF2-40B4-BE49-F238E27FC236}">
                <a16:creationId xmlns:a16="http://schemas.microsoft.com/office/drawing/2014/main" id="{8DF5F8D3-B310-4522-ED36-F19AFA728857}"/>
              </a:ext>
            </a:extLst>
          </p:cNvPr>
          <p:cNvSpPr/>
          <p:nvPr/>
        </p:nvSpPr>
        <p:spPr>
          <a:xfrm>
            <a:off x="3792006" y="3981620"/>
            <a:ext cx="254630" cy="24879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C98F5BD-C211-AAAB-25FE-5E9006069555}"/>
              </a:ext>
            </a:extLst>
          </p:cNvPr>
          <p:cNvSpPr txBox="1"/>
          <p:nvPr/>
        </p:nvSpPr>
        <p:spPr>
          <a:xfrm>
            <a:off x="5211353" y="5575134"/>
            <a:ext cx="8420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7030A0"/>
                </a:solidFill>
              </a:rPr>
              <a:t>Pro</a:t>
            </a:r>
            <a:r>
              <a:rPr lang="en-US" altLang="zh-CN" sz="1200" b="1" dirty="0">
                <a:solidFill>
                  <a:srgbClr val="7030A0"/>
                </a:solidFill>
              </a:rPr>
              <a:t>tocol</a:t>
            </a:r>
            <a:endParaRPr lang="en-US" sz="1200" b="1" dirty="0">
              <a:solidFill>
                <a:srgbClr val="7030A0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1E94DD7-644D-02A6-CD5B-83F930CB02E5}"/>
              </a:ext>
            </a:extLst>
          </p:cNvPr>
          <p:cNvSpPr/>
          <p:nvPr/>
        </p:nvSpPr>
        <p:spPr>
          <a:xfrm>
            <a:off x="6407843" y="2232430"/>
            <a:ext cx="1472540" cy="570016"/>
          </a:xfrm>
          <a:prstGeom prst="roundRect">
            <a:avLst/>
          </a:prstGeom>
          <a:solidFill>
            <a:srgbClr val="CC9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Underlying </a:t>
            </a:r>
          </a:p>
          <a:p>
            <a:pPr algn="ctr"/>
            <a:r>
              <a:rPr lang="en-US" altLang="zh-CN" sz="1600" dirty="0"/>
              <a:t>Asset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BAB0704-2769-A1AC-3760-B6861E8E47F5}"/>
              </a:ext>
            </a:extLst>
          </p:cNvPr>
          <p:cNvCxnSpPr>
            <a:cxnSpLocks/>
            <a:stCxn id="21" idx="3"/>
            <a:endCxn id="6" idx="1"/>
          </p:cNvCxnSpPr>
          <p:nvPr/>
        </p:nvCxnSpPr>
        <p:spPr>
          <a:xfrm>
            <a:off x="4544482" y="2505345"/>
            <a:ext cx="1863361" cy="12093"/>
          </a:xfrm>
          <a:prstGeom prst="straightConnector1">
            <a:avLst/>
          </a:prstGeom>
          <a:ln w="19050">
            <a:prstDash val="dash"/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0315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95D84-7197-9E06-A96E-BBD7A7632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</a:t>
            </a:r>
            <a:r>
              <a:rPr lang="en-US" dirty="0">
                <a:latin typeface="Abadi" panose="020F0502020204030204" pitchFamily="34" charset="0"/>
              </a:rPr>
              <a:t>Ⅰ</a:t>
            </a:r>
            <a:r>
              <a:rPr lang="en-US" altLang="zh-CN" dirty="0"/>
              <a:t>——Mint/Burn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内容占位符 2">
                <a:extLst>
                  <a:ext uri="{FF2B5EF4-FFF2-40B4-BE49-F238E27FC236}">
                    <a16:creationId xmlns:a16="http://schemas.microsoft.com/office/drawing/2014/main" id="{676B384F-FC88-4CDA-ED23-84DA97D5850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7408" y="1875223"/>
                <a:ext cx="11155680" cy="479704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1800" b="1" dirty="0"/>
                  <a:t>Parameters</a:t>
                </a:r>
                <a:r>
                  <a:rPr lang="zh-CN" altLang="en-US" sz="1800" dirty="0"/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dirty="0" smtClean="0">
                            <a:latin typeface="Cambria Math" panose="02040503050406030204" pitchFamily="18" charset="0"/>
                          </a:rPr>
                          <m:t>𝐿𝑇𝑉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800" i="1" dirty="0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en-US" altLang="zh-CN" sz="1800" i="1" dirty="0" smtClean="0">
                        <a:latin typeface="Cambria Math" panose="02040503050406030204" pitchFamily="18" charset="0"/>
                      </a:rPr>
                      <m:t>=75% </m:t>
                    </m:r>
                  </m:oMath>
                </a14:m>
                <a:r>
                  <a:rPr lang="en-US" altLang="zh-CN" sz="1800" dirty="0"/>
                  <a:t>,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 dirty="0" smtClean="0">
                        <a:latin typeface="Cambria Math" panose="02040503050406030204" pitchFamily="18" charset="0"/>
                      </a:rPr>
                      <m:t>L</m:t>
                    </m:r>
                    <m:r>
                      <m:rPr>
                        <m:sty m:val="p"/>
                      </m:rPr>
                      <a:rPr lang="en-US" altLang="zh-CN" sz="1800" i="1" dirty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altLang="zh-CN" sz="1800" i="1" dirty="0" smtClean="0">
                        <a:latin typeface="Cambria Math" panose="02040503050406030204" pitchFamily="18" charset="0"/>
                      </a:rPr>
                      <m:t>𝑞𝑢𝑖𝑑𝑎𝑡𝑖𝑜𝑛</m:t>
                    </m:r>
                    <m:r>
                      <a:rPr lang="en-US" altLang="zh-CN" sz="1800" i="1" dirty="0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altLang="zh-CN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dirty="0">
                            <a:latin typeface="Cambria Math" panose="02040503050406030204" pitchFamily="18" charset="0"/>
                          </a:rPr>
                          <m:t>𝐿𝑇𝑉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800" i="1" dirty="0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en-US" altLang="zh-CN" sz="18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8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800" i="1" dirty="0" smtClean="0">
                        <a:latin typeface="Cambria Math" panose="02040503050406030204" pitchFamily="18" charset="0"/>
                      </a:rPr>
                      <m:t>% </m:t>
                    </m:r>
                  </m:oMath>
                </a14:m>
                <a:endParaRPr lang="zh-CN" altLang="en-US" sz="1800" dirty="0"/>
              </a:p>
              <a:p>
                <a:r>
                  <a:rPr lang="en-US" altLang="zh-CN" sz="1800" b="1" dirty="0"/>
                  <a:t>Mint</a:t>
                </a:r>
                <a:r>
                  <a:rPr lang="zh-CN" altLang="en-US" sz="1800" dirty="0"/>
                  <a:t>：</a:t>
                </a:r>
                <a:r>
                  <a:rPr lang="en-US" altLang="zh-CN" sz="1800" dirty="0"/>
                  <a:t>Stake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18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altLang="zh-CN" sz="1800" dirty="0"/>
                  <a:t> Underlying </a:t>
                </a:r>
                <a:r>
                  <a:rPr lang="en-US" altLang="zh-CN" sz="1800" dirty="0">
                    <a:sym typeface="Wingdings" panose="05000000000000000000" pitchFamily="2" charset="2"/>
                  </a:rPr>
                  <a:t> Mint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18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altLang="zh-CN" sz="1800" dirty="0"/>
                  <a:t> stable token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1800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zh-CN" sz="1800" dirty="0"/>
                  <a:t> leverage token</a:t>
                </a:r>
              </a:p>
              <a:p>
                <a:endParaRPr lang="en-US" altLang="zh-CN" sz="1800" dirty="0"/>
              </a:p>
              <a:p>
                <a:endParaRPr lang="en-US" altLang="zh-CN" sz="1800" dirty="0"/>
              </a:p>
              <a:p>
                <a:endParaRPr lang="en-US" altLang="zh-CN" sz="1800" dirty="0"/>
              </a:p>
              <a:p>
                <a:endParaRPr lang="en-US" altLang="zh-CN" sz="1800" dirty="0"/>
              </a:p>
              <a:p>
                <a:endParaRPr lang="en-US" altLang="zh-CN" sz="1800" dirty="0"/>
              </a:p>
              <a:p>
                <a:r>
                  <a:rPr lang="en-US" altLang="zh-CN" sz="1800" b="1" dirty="0"/>
                  <a:t>Burn</a:t>
                </a:r>
                <a:r>
                  <a:rPr lang="zh-CN" altLang="en-US" sz="1800" dirty="0"/>
                  <a:t>：</a:t>
                </a:r>
                <a:r>
                  <a:rPr lang="en-US" altLang="zh-CN" sz="1800" dirty="0"/>
                  <a:t> Users can burn minted assets in any proportion to redeem the underlying assets.</a:t>
                </a:r>
              </a:p>
              <a:p>
                <a:pPr marL="0" indent="0">
                  <a:buNone/>
                </a:pPr>
                <a:r>
                  <a:rPr lang="en-US" altLang="zh-CN" sz="1800" dirty="0"/>
                  <a:t> </a:t>
                </a:r>
              </a:p>
              <a:p>
                <a:pPr marL="457200" lvl="2" indent="0">
                  <a:buNone/>
                </a:pPr>
                <a:endParaRPr lang="en-US" altLang="zh-CN" sz="1400" b="1" i="1" dirty="0">
                  <a:solidFill>
                    <a:schemeClr val="tx1"/>
                  </a:solidFill>
                  <a:latin typeface="Cambria Math" panose="02040503050406030204" pitchFamily="18" charset="0"/>
                  <a:sym typeface="Wingdings" panose="05000000000000000000" pitchFamily="2" charset="2"/>
                </a:endParaRPr>
              </a:p>
              <a:p>
                <a:pPr lvl="2"/>
                <a:endParaRPr lang="en-US" altLang="zh-CN" sz="1400" b="1" dirty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  <a:p>
                <a:pPr marL="228600" lvl="1" indent="0">
                  <a:buNone/>
                </a:pPr>
                <a:endParaRPr lang="en-US" altLang="zh-CN" sz="1400" dirty="0">
                  <a:sym typeface="Wingdings" panose="05000000000000000000" pitchFamily="2" charset="2"/>
                </a:endParaRPr>
              </a:p>
              <a:p>
                <a:pPr lvl="1" indent="0">
                  <a:buFont typeface="Arial" panose="020B0604020202020204" pitchFamily="34" charset="0"/>
                  <a:buNone/>
                </a:pPr>
                <a:endParaRPr lang="en-US" altLang="zh-CN" sz="1400" dirty="0">
                  <a:sym typeface="Wingdings" panose="05000000000000000000" pitchFamily="2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altLang="zh-CN" sz="1400" dirty="0"/>
              </a:p>
            </p:txBody>
          </p:sp>
        </mc:Choice>
        <mc:Fallback xmlns="">
          <p:sp>
            <p:nvSpPr>
              <p:cNvPr id="24" name="内容占位符 2">
                <a:extLst>
                  <a:ext uri="{FF2B5EF4-FFF2-40B4-BE49-F238E27FC236}">
                    <a16:creationId xmlns:a16="http://schemas.microsoft.com/office/drawing/2014/main" id="{676B384F-FC88-4CDA-ED23-84DA97D585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408" y="1875223"/>
                <a:ext cx="11155680" cy="4797040"/>
              </a:xfrm>
              <a:prstGeom prst="rect">
                <a:avLst/>
              </a:prstGeom>
              <a:blipFill>
                <a:blip r:embed="rId2"/>
                <a:stretch>
                  <a:fillRect l="-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D9AE31B7-F870-0028-F6B7-A111019B9B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57230549"/>
                  </p:ext>
                </p:extLst>
              </p:nvPr>
            </p:nvGraphicFramePr>
            <p:xfrm>
              <a:off x="1254168" y="3040347"/>
              <a:ext cx="8128000" cy="1531521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1968112848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1561499976"/>
                        </a:ext>
                      </a:extLst>
                    </a:gridCol>
                  </a:tblGrid>
                  <a:tr h="4213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 = 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 &gt; 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65446068"/>
                      </a:ext>
                    </a:extLst>
                  </a:tr>
                  <a:tr h="1110211">
                    <a:tc>
                      <a:txBody>
                        <a:bodyPr/>
                        <a:lstStyle/>
                        <a:p>
                          <a:pPr lvl="2"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1" i="1" dirty="0" smtClean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dirty="0" smtClean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𝑵</m:t>
                                    </m:r>
                                  </m:e>
                                  <m:sub>
                                    <m:r>
                                      <a:rPr lang="en-US" altLang="zh-CN" sz="1400" b="1" i="1" dirty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𝑺</m:t>
                                    </m:r>
                                  </m:sub>
                                </m:sSub>
                                <m:r>
                                  <a:rPr lang="en-US" altLang="zh-CN" sz="1400" b="1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∗</m:t>
                                </m:r>
                                <m:r>
                                  <a:rPr lang="en-US" altLang="zh-CN" sz="1400" b="1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𝟏</m:t>
                                </m:r>
                                <m:r>
                                  <a:rPr lang="en-US" altLang="zh-CN" sz="1400" b="1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sz="1400" b="1" i="1" dirty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dirty="0" smtClean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𝑵</m:t>
                                    </m:r>
                                  </m:e>
                                  <m:sub>
                                    <m:r>
                                      <a:rPr lang="en-US" altLang="zh-CN" sz="1400" b="1" i="1" dirty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𝑳</m:t>
                                    </m:r>
                                  </m:sub>
                                </m:sSub>
                                <m:r>
                                  <a:rPr lang="en-US" altLang="zh-CN" sz="1400" b="1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∗  </m:t>
                                </m:r>
                                <m:r>
                                  <a:rPr lang="en-US" altLang="zh-CN" sz="1400" b="1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𝟏</m:t>
                                </m:r>
                                <m:r>
                                  <a:rPr lang="en-US" altLang="zh-CN" sz="1400" b="1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   =</m:t>
                                </m:r>
                                <m:sSub>
                                  <m:sSubPr>
                                    <m:ctrlPr>
                                      <a:rPr lang="en-US" altLang="zh-CN" sz="1400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dirty="0">
                                        <a:latin typeface="Cambria Math" panose="02040503050406030204" pitchFamily="18" charset="0"/>
                                      </a:rPr>
                                      <m:t>𝑵</m:t>
                                    </m:r>
                                  </m:e>
                                  <m:sub>
                                    <m:r>
                                      <a:rPr lang="en-US" altLang="zh-CN" sz="1400" b="1" i="1" dirty="0">
                                        <a:latin typeface="Cambria Math" panose="02040503050406030204" pitchFamily="18" charset="0"/>
                                      </a:rPr>
                                      <m:t>𝑮</m:t>
                                    </m:r>
                                  </m:sub>
                                </m:sSub>
                                <m:r>
                                  <a:rPr lang="en-US" altLang="zh-CN" sz="1400" b="1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∗</m:t>
                                </m:r>
                                <m:sSub>
                                  <m:sSubPr>
                                    <m:ctrlPr>
                                      <a:rPr lang="en-US" altLang="zh-CN" sz="1400" b="1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altLang="zh-CN" sz="1400" b="1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zh-CN" sz="1400" b="1" dirty="0">
                            <a:sym typeface="Wingdings" panose="05000000000000000000" pitchFamily="2" charset="2"/>
                          </a:endParaRPr>
                        </a:p>
                        <a:p>
                          <a:pPr lvl="2"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1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𝑳𝑻𝑽</m:t>
                                    </m:r>
                                  </m:e>
                                  <m:sub>
                                    <m:r>
                                      <a:rPr lang="en-US" altLang="zh-CN" sz="1400" b="1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𝟎</m:t>
                                    </m:r>
                                  </m:sub>
                                </m:sSub>
                                <m:r>
                                  <a:rPr lang="en-US" altLang="zh-CN" sz="1400" b="1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zh-CN" sz="1400" b="1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zh-CN" sz="1400" b="1" i="1" dirty="0">
                                            <a:latin typeface="Cambria Math" panose="02040503050406030204" pitchFamily="18" charset="0"/>
                                            <a:cs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400" b="1" i="1" dirty="0">
                                            <a:latin typeface="Cambria Math" panose="02040503050406030204" pitchFamily="18" charset="0"/>
                                            <a:cs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  <m:t>𝑵</m:t>
                                        </m:r>
                                      </m:e>
                                      <m:sub>
                                        <m:r>
                                          <a:rPr lang="en-US" altLang="zh-CN" sz="1400" b="1" i="1" dirty="0">
                                            <a:latin typeface="Cambria Math" panose="02040503050406030204" pitchFamily="18" charset="0"/>
                                            <a:cs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  <m:t>𝑺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zh-CN" sz="1400" b="1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400" b="1" i="1" dirty="0">
                                            <a:latin typeface="Cambria Math" panose="02040503050406030204" pitchFamily="18" charset="0"/>
                                          </a:rPr>
                                          <m:t>𝑵</m:t>
                                        </m:r>
                                      </m:e>
                                      <m:sub>
                                        <m:r>
                                          <a:rPr lang="en-US" altLang="zh-CN" sz="1400" b="1" i="1" dirty="0">
                                            <a:latin typeface="Cambria Math" panose="02040503050406030204" pitchFamily="18" charset="0"/>
                                          </a:rPr>
                                          <m:t>𝑮</m:t>
                                        </m:r>
                                      </m:sub>
                                    </m:sSub>
                                    <m:r>
                                      <a:rPr lang="en-US" altLang="zh-CN" sz="1400" b="1" i="1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∗</m:t>
                                    </m:r>
                                    <m:sSub>
                                      <m:sSubPr>
                                        <m:ctrlPr>
                                          <a:rPr lang="en-US" altLang="zh-CN" sz="1400" b="1" i="1"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400" b="1" i="1"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US" altLang="zh-CN" sz="1400" b="1" i="1"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  <m:t>𝟎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US" altLang="zh-CN" sz="1400" b="1" i="1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endParaRPr>
                        </a:p>
                        <a:p>
                          <a:pPr lvl="2" algn="l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b="1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𝑵𝑨𝑽</m:t>
                                  </m:r>
                                </m:e>
                                <m:sub>
                                  <m:r>
                                    <a:rPr lang="en-US" altLang="zh-CN" sz="1400" b="1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𝟎</m:t>
                                  </m:r>
                                </m:sub>
                              </m:sSub>
                              <m:r>
                                <a:rPr lang="en-US" altLang="zh-CN" sz="1400" b="1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=</m:t>
                              </m:r>
                              <m:r>
                                <a:rPr lang="en-US" altLang="zh-CN" sz="1400" b="1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𝟏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lvl="2" algn="l"/>
                          <a:r>
                            <a:rPr lang="en-US" altLang="zh-CN" sz="1400" b="1" dirty="0">
                              <a:sym typeface="Wingdings" panose="05000000000000000000" pitchFamily="2" charset="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𝑵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𝑺</m:t>
                                  </m:r>
                                </m:sub>
                              </m:sSub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∗</m:t>
                              </m:r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𝟏</m:t>
                              </m:r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𝑵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𝑳</m:t>
                                  </m:r>
                                </m:sub>
                              </m:sSub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altLang="zh-CN" sz="1400" b="1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𝑵𝑨𝑽</m:t>
                                  </m:r>
                                </m:e>
                                <m:sub>
                                  <m:r>
                                    <a:rPr lang="en-US" altLang="zh-CN" sz="1400" b="1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𝒕</m:t>
                                  </m:r>
                                </m:sub>
                              </m:sSub>
                              <m:r>
                                <a:rPr lang="en-US" altLang="zh-CN" sz="1400" b="1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1400" b="1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𝑵</m:t>
                                  </m:r>
                                </m:e>
                                <m:sub>
                                  <m:r>
                                    <a:rPr lang="en-US" altLang="zh-CN" sz="1400" b="1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𝑮</m:t>
                                  </m:r>
                                </m:sub>
                              </m:sSub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US" altLang="zh-CN" sz="1400" b="1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𝒕</m:t>
                                  </m:r>
                                </m:sub>
                              </m:sSub>
                            </m:oMath>
                          </a14:m>
                          <a:endParaRPr lang="en-US" altLang="zh-CN" sz="1400" b="1" dirty="0">
                            <a:sym typeface="Wingdings" panose="05000000000000000000" pitchFamily="2" charset="2"/>
                          </a:endParaRPr>
                        </a:p>
                        <a:p>
                          <a:pPr lvl="2" algn="l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b="1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𝑳𝑻𝑽</m:t>
                                  </m:r>
                                </m:e>
                                <m:sub>
                                  <m:r>
                                    <a:rPr lang="en-US" altLang="zh-CN" sz="1400" b="1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𝒕</m:t>
                                  </m:r>
                                </m:sub>
                              </m:sSub>
                              <m:r>
                                <a:rPr lang="en-US" altLang="zh-CN" sz="1400" b="1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sz="1400" b="1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  <a:cs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  <a:cs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  <m:t>𝑵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  <a:cs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  <m:t>𝑺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𝑵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𝑮</m:t>
                                      </m:r>
                                    </m:sub>
                                  </m:s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∗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  <m:t>𝑷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smtClean="0">
                                          <a:latin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  <m:t>𝒕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r>
                            <a:rPr lang="en-US" altLang="zh-CN" sz="1400" b="1" dirty="0">
                              <a:sym typeface="Wingdings" panose="05000000000000000000" pitchFamily="2" charset="2"/>
                            </a:rPr>
                            <a:t> </a:t>
                          </a:r>
                        </a:p>
                        <a:p>
                          <a:pPr lvl="2"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𝑵𝑨𝑽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zh-CN" sz="1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t</m:t>
                                    </m:r>
                                  </m:sub>
                                </m:sSub>
                                <m:r>
                                  <a:rPr lang="en-US" altLang="zh-CN" sz="1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zh-CN" sz="14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4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US" altLang="zh-CN" sz="14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  <m:t>𝒕</m:t>
                                        </m:r>
                                      </m:sub>
                                    </m:sSub>
                                    <m:r>
                                      <a:rPr lang="en-US" altLang="zh-CN" sz="1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 −</m:t>
                                    </m:r>
                                    <m:sSub>
                                      <m:sSubPr>
                                        <m:ctrlPr>
                                          <a:rPr lang="en-US" altLang="zh-CN" sz="14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4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US" altLang="zh-CN" sz="14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  <m:t>𝟎</m:t>
                                        </m:r>
                                      </m:sub>
                                    </m:sSub>
                                    <m:r>
                                      <a:rPr lang="en-US" altLang="zh-CN" sz="1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∗</m:t>
                                    </m:r>
                                    <m:sSub>
                                      <m:sSubPr>
                                        <m:ctrlPr>
                                          <a:rPr lang="en-US" altLang="zh-CN" sz="14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4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  <m:t>𝑳𝑻𝑽</m:t>
                                        </m:r>
                                      </m:e>
                                      <m:sub>
                                        <m:r>
                                          <a:rPr lang="en-US" altLang="zh-CN" sz="14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  <m:t>𝟎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zh-CN" sz="14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4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US" altLang="zh-CN" sz="14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  <m:t>𝟎</m:t>
                                        </m:r>
                                      </m:sub>
                                    </m:sSub>
                                    <m:r>
                                      <a:rPr lang="en-US" altLang="zh-CN" sz="1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sz="14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4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US" altLang="zh-CN" sz="14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  <m:t>𝟎</m:t>
                                        </m:r>
                                      </m:sub>
                                    </m:sSub>
                                    <m:r>
                                      <a:rPr lang="en-US" altLang="zh-CN" sz="1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∗</m:t>
                                    </m:r>
                                    <m:sSub>
                                      <m:sSubPr>
                                        <m:ctrlPr>
                                          <a:rPr lang="en-US" altLang="zh-CN" sz="14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4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  <m:t>𝑳𝑻𝑽</m:t>
                                        </m:r>
                                      </m:e>
                                      <m:sub>
                                        <m:r>
                                          <a:rPr lang="en-US" altLang="zh-CN" sz="14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  <m:t>𝟎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474321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D9AE31B7-F870-0028-F6B7-A111019B9B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57230549"/>
                  </p:ext>
                </p:extLst>
              </p:nvPr>
            </p:nvGraphicFramePr>
            <p:xfrm>
              <a:off x="1254168" y="3040347"/>
              <a:ext cx="8128000" cy="1531521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1968112848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1561499976"/>
                        </a:ext>
                      </a:extLst>
                    </a:gridCol>
                  </a:tblGrid>
                  <a:tr h="4213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 = 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 &gt; 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65446068"/>
                      </a:ext>
                    </a:extLst>
                  </a:tr>
                  <a:tr h="111021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" t="-38251" r="-100449" b="-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300" t="-38251" r="-600" b="-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743211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48935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399C1707-5372-D654-4875-8F8E62E16547}"/>
              </a:ext>
            </a:extLst>
          </p:cNvPr>
          <p:cNvSpPr/>
          <p:nvPr/>
        </p:nvSpPr>
        <p:spPr>
          <a:xfrm>
            <a:off x="6063701" y="2400408"/>
            <a:ext cx="3364891" cy="3072305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495D84-7197-9E06-A96E-BBD7A7632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</a:t>
            </a:r>
            <a:r>
              <a:rPr lang="en-US" dirty="0">
                <a:latin typeface="Abadi" panose="020B0604020104020204" pitchFamily="34" charset="0"/>
              </a:rPr>
              <a:t>Ⅱ</a:t>
            </a:r>
            <a:r>
              <a:rPr lang="en-US" altLang="zh-CN" dirty="0"/>
              <a:t>——Interest Rate Model</a:t>
            </a:r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F74B9EA-C4AA-E10E-ECE8-BB1238026C02}"/>
              </a:ext>
            </a:extLst>
          </p:cNvPr>
          <p:cNvSpPr/>
          <p:nvPr/>
        </p:nvSpPr>
        <p:spPr>
          <a:xfrm>
            <a:off x="2274127" y="2446317"/>
            <a:ext cx="1715984" cy="593766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  <a:r>
              <a:rPr lang="en-US" altLang="zh-CN" dirty="0"/>
              <a:t>ser</a:t>
            </a: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10A0278-2014-C414-A17D-183D83DDCA82}"/>
              </a:ext>
            </a:extLst>
          </p:cNvPr>
          <p:cNvSpPr/>
          <p:nvPr/>
        </p:nvSpPr>
        <p:spPr>
          <a:xfrm>
            <a:off x="6810964" y="4243449"/>
            <a:ext cx="1715984" cy="593766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AMM(U+S)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1634465-A4F1-CF35-6A37-76670F6AFE10}"/>
              </a:ext>
            </a:extLst>
          </p:cNvPr>
          <p:cNvSpPr/>
          <p:nvPr/>
        </p:nvSpPr>
        <p:spPr>
          <a:xfrm>
            <a:off x="2280477" y="4837215"/>
            <a:ext cx="1715984" cy="593766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  <a:r>
              <a:rPr lang="en-US" altLang="zh-CN" dirty="0"/>
              <a:t>nderlying</a:t>
            </a:r>
            <a:r>
              <a:rPr lang="en-US" dirty="0"/>
              <a:t> token issuer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56C13A-842A-8891-7E53-F8FB95BCC901}"/>
              </a:ext>
            </a:extLst>
          </p:cNvPr>
          <p:cNvSpPr txBox="1"/>
          <p:nvPr/>
        </p:nvSpPr>
        <p:spPr>
          <a:xfrm>
            <a:off x="3239146" y="3784361"/>
            <a:ext cx="11573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u="sng" dirty="0">
                <a:solidFill>
                  <a:schemeClr val="accent4">
                    <a:lumMod val="75000"/>
                  </a:schemeClr>
                </a:solidFill>
              </a:rPr>
              <a:t>Tokenized Asset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A8093B-27FB-3766-ACBD-2BC6372D9016}"/>
              </a:ext>
            </a:extLst>
          </p:cNvPr>
          <p:cNvSpPr txBox="1"/>
          <p:nvPr/>
        </p:nvSpPr>
        <p:spPr>
          <a:xfrm>
            <a:off x="1899922" y="3784360"/>
            <a:ext cx="12321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u="sng" dirty="0">
                <a:solidFill>
                  <a:schemeClr val="accent6"/>
                </a:solidFill>
              </a:rPr>
              <a:t>U</a:t>
            </a:r>
            <a:r>
              <a:rPr lang="en-US" altLang="zh-CN" sz="1200" i="1" u="sng" dirty="0">
                <a:solidFill>
                  <a:schemeClr val="accent6"/>
                </a:solidFill>
              </a:rPr>
              <a:t>nderlying Asset</a:t>
            </a:r>
            <a:endParaRPr lang="en-US" sz="1200" i="1" u="sng" dirty="0">
              <a:solidFill>
                <a:schemeClr val="accent6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BA7F9E1-32CB-8CD6-94AB-E418629AC6B3}"/>
              </a:ext>
            </a:extLst>
          </p:cNvPr>
          <p:cNvSpPr/>
          <p:nvPr/>
        </p:nvSpPr>
        <p:spPr>
          <a:xfrm>
            <a:off x="6810964" y="3040083"/>
            <a:ext cx="1715984" cy="59376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  <a:r>
              <a:rPr lang="en-US" altLang="zh-CN" dirty="0"/>
              <a:t>rancheVault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061EE8-7B54-1285-1BC3-C32C0230EB16}"/>
              </a:ext>
            </a:extLst>
          </p:cNvPr>
          <p:cNvSpPr txBox="1"/>
          <p:nvPr/>
        </p:nvSpPr>
        <p:spPr>
          <a:xfrm>
            <a:off x="7009407" y="2031077"/>
            <a:ext cx="1715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Protocol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91B7DD9-FBAF-7701-66AF-B897226590C4}"/>
              </a:ext>
            </a:extLst>
          </p:cNvPr>
          <p:cNvCxnSpPr>
            <a:stCxn id="10" idx="3"/>
            <a:endCxn id="29" idx="1"/>
          </p:cNvCxnSpPr>
          <p:nvPr/>
        </p:nvCxnSpPr>
        <p:spPr>
          <a:xfrm>
            <a:off x="3990111" y="2743200"/>
            <a:ext cx="2820853" cy="593766"/>
          </a:xfrm>
          <a:prstGeom prst="straightConnector1">
            <a:avLst/>
          </a:prstGeom>
          <a:ln w="19050">
            <a:solidFill>
              <a:srgbClr val="C00000"/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B7C3E55-A859-14E4-AB6C-425B73DADFC5}"/>
              </a:ext>
            </a:extLst>
          </p:cNvPr>
          <p:cNvCxnSpPr>
            <a:cxnSpLocks/>
            <a:stCxn id="11" idx="1"/>
            <a:endCxn id="10" idx="3"/>
          </p:cNvCxnSpPr>
          <p:nvPr/>
        </p:nvCxnSpPr>
        <p:spPr>
          <a:xfrm flipH="1" flipV="1">
            <a:off x="3990111" y="2743200"/>
            <a:ext cx="2820853" cy="1797132"/>
          </a:xfrm>
          <a:prstGeom prst="straightConnector1">
            <a:avLst/>
          </a:prstGeom>
          <a:ln w="19050">
            <a:solidFill>
              <a:srgbClr val="7030A0"/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9ED168F2-B9C8-4C06-F9A5-BFF2572A0B8E}"/>
              </a:ext>
            </a:extLst>
          </p:cNvPr>
          <p:cNvSpPr txBox="1"/>
          <p:nvPr/>
        </p:nvSpPr>
        <p:spPr>
          <a:xfrm>
            <a:off x="4258792" y="2604699"/>
            <a:ext cx="19513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rgbClr val="C00000"/>
                </a:solidFill>
                <a:sym typeface="Wingdings" panose="05000000000000000000" pitchFamily="2" charset="2"/>
              </a:rPr>
              <a:t>T</a:t>
            </a:r>
            <a:r>
              <a:rPr lang="en-US" altLang="zh-CN" sz="1200" i="1" dirty="0">
                <a:solidFill>
                  <a:srgbClr val="C00000"/>
                </a:solidFill>
                <a:sym typeface="Wingdings" panose="05000000000000000000" pitchFamily="2" charset="2"/>
              </a:rPr>
              <a:t>okenized Asset</a:t>
            </a:r>
            <a:r>
              <a:rPr lang="en-US" sz="1200" i="1" dirty="0">
                <a:solidFill>
                  <a:srgbClr val="C00000"/>
                </a:solidFill>
                <a:sym typeface="Wingdings" panose="05000000000000000000" pitchFamily="2" charset="2"/>
              </a:rPr>
              <a:t> </a:t>
            </a:r>
            <a:r>
              <a:rPr lang="en-US" sz="1200" i="1" dirty="0">
                <a:solidFill>
                  <a:srgbClr val="C00000"/>
                </a:solidFill>
              </a:rPr>
              <a:t>S &amp; 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265AE5-5503-84ED-FAAC-DE47D8E40207}"/>
              </a:ext>
            </a:extLst>
          </p:cNvPr>
          <p:cNvSpPr txBox="1"/>
          <p:nvPr/>
        </p:nvSpPr>
        <p:spPr>
          <a:xfrm>
            <a:off x="5179457" y="3871400"/>
            <a:ext cx="7248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rgbClr val="7030A0"/>
                </a:solidFill>
              </a:rPr>
              <a:t>U </a:t>
            </a:r>
            <a:r>
              <a:rPr lang="en-US" sz="1200" i="1" dirty="0">
                <a:solidFill>
                  <a:srgbClr val="7030A0"/>
                </a:solidFill>
                <a:sym typeface="Wingdings" panose="05000000000000000000" pitchFamily="2" charset="2"/>
              </a:rPr>
              <a:t> S</a:t>
            </a:r>
            <a:endParaRPr lang="en-US" sz="1200" i="1" dirty="0">
              <a:solidFill>
                <a:srgbClr val="7030A0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A3C6F3C-687B-86B0-6827-63DEF902770F}"/>
              </a:ext>
            </a:extLst>
          </p:cNvPr>
          <p:cNvSpPr txBox="1"/>
          <p:nvPr/>
        </p:nvSpPr>
        <p:spPr>
          <a:xfrm>
            <a:off x="1582594" y="5668532"/>
            <a:ext cx="3511917" cy="461665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b="1" dirty="0"/>
              <a:t>First lending</a:t>
            </a:r>
            <a:r>
              <a:rPr lang="en-US" altLang="zh-CN" sz="1200" dirty="0"/>
              <a:t>: Lend out physical gold to receive tokens and </a:t>
            </a:r>
            <a:r>
              <a:rPr lang="en-US" altLang="zh-CN" sz="1200" dirty="0">
                <a:solidFill>
                  <a:srgbClr val="C00000"/>
                </a:solidFill>
              </a:rPr>
              <a:t>earn interest</a:t>
            </a:r>
            <a:r>
              <a:rPr lang="en-US" altLang="zh-CN" sz="1200" dirty="0"/>
              <a:t>.</a:t>
            </a:r>
            <a:endParaRPr lang="en-US" sz="12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FF76118-7711-6EED-B583-6005C8F49174}"/>
              </a:ext>
            </a:extLst>
          </p:cNvPr>
          <p:cNvSpPr txBox="1"/>
          <p:nvPr/>
        </p:nvSpPr>
        <p:spPr>
          <a:xfrm>
            <a:off x="5990187" y="5664619"/>
            <a:ext cx="3511917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b="1" dirty="0"/>
              <a:t>Second lending</a:t>
            </a:r>
            <a:r>
              <a:rPr lang="en-US" altLang="zh-CN" sz="1200" dirty="0"/>
              <a:t>: Pledge tokens to borrow USDT and </a:t>
            </a:r>
            <a:r>
              <a:rPr lang="en-US" altLang="zh-CN" sz="1200" dirty="0">
                <a:solidFill>
                  <a:schemeClr val="accent6"/>
                </a:solidFill>
              </a:rPr>
              <a:t>pay interest</a:t>
            </a:r>
            <a:r>
              <a:rPr lang="en-US" altLang="zh-CN" sz="1200" dirty="0"/>
              <a:t>.</a:t>
            </a:r>
            <a:endParaRPr lang="en-US" sz="1200" dirty="0"/>
          </a:p>
        </p:txBody>
      </p:sp>
      <p:cxnSp>
        <p:nvCxnSpPr>
          <p:cNvPr id="60" name="Connector: Curved 59">
            <a:extLst>
              <a:ext uri="{FF2B5EF4-FFF2-40B4-BE49-F238E27FC236}">
                <a16:creationId xmlns:a16="http://schemas.microsoft.com/office/drawing/2014/main" id="{E77D5D7D-9412-AB85-4888-920BFAD8A781}"/>
              </a:ext>
            </a:extLst>
          </p:cNvPr>
          <p:cNvCxnSpPr>
            <a:stCxn id="10" idx="1"/>
            <a:endCxn id="17" idx="1"/>
          </p:cNvCxnSpPr>
          <p:nvPr/>
        </p:nvCxnSpPr>
        <p:spPr>
          <a:xfrm rot="10800000" flipH="1" flipV="1">
            <a:off x="2274127" y="2743200"/>
            <a:ext cx="6350" cy="2390898"/>
          </a:xfrm>
          <a:prstGeom prst="curvedConnector3">
            <a:avLst>
              <a:gd name="adj1" fmla="val -5376630"/>
            </a:avLst>
          </a:prstGeom>
          <a:ln w="190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2" name="Connector: Curved 61">
            <a:extLst>
              <a:ext uri="{FF2B5EF4-FFF2-40B4-BE49-F238E27FC236}">
                <a16:creationId xmlns:a16="http://schemas.microsoft.com/office/drawing/2014/main" id="{49E5EA87-C500-F079-BB6D-852CBCF8E1AD}"/>
              </a:ext>
            </a:extLst>
          </p:cNvPr>
          <p:cNvCxnSpPr>
            <a:cxnSpLocks/>
            <a:stCxn id="17" idx="3"/>
            <a:endCxn id="10" idx="3"/>
          </p:cNvCxnSpPr>
          <p:nvPr/>
        </p:nvCxnSpPr>
        <p:spPr>
          <a:xfrm flipH="1" flipV="1">
            <a:off x="3990111" y="2743200"/>
            <a:ext cx="6350" cy="2390898"/>
          </a:xfrm>
          <a:prstGeom prst="curvedConnector3">
            <a:avLst>
              <a:gd name="adj1" fmla="val -5376630"/>
            </a:avLst>
          </a:prstGeom>
          <a:ln w="190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5727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D8233B0-41B5-4D9A-AEEC-13DB66A8C9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495D84-7197-9E06-A96E-BBD7A7632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000" dirty="0"/>
              <a:t>Model </a:t>
            </a:r>
            <a:r>
              <a:rPr lang="en-US" sz="5000" dirty="0">
                <a:latin typeface="Abadi" panose="020B0604020104020204" pitchFamily="34" charset="0"/>
              </a:rPr>
              <a:t>Ⅱ</a:t>
            </a:r>
            <a:r>
              <a:rPr lang="en-US" altLang="zh-CN" sz="5000" dirty="0"/>
              <a:t>——Interest Rate Model</a:t>
            </a:r>
            <a:endParaRPr lang="en-US" sz="50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AC2296A3-FE12-4A3A-2858-43BD421004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5202929"/>
              </p:ext>
            </p:extLst>
          </p:nvPr>
        </p:nvGraphicFramePr>
        <p:xfrm>
          <a:off x="825264" y="2598710"/>
          <a:ext cx="10039472" cy="34381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1214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495D84-7197-9E06-A96E-BBD7A7632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sz="3400"/>
              <a:t>Model </a:t>
            </a:r>
            <a:r>
              <a:rPr lang="en-US" sz="3400">
                <a:latin typeface="Abadi" panose="020B0604020104020204" pitchFamily="34" charset="0"/>
              </a:rPr>
              <a:t>Ⅲ</a:t>
            </a:r>
            <a:r>
              <a:rPr lang="en-US" altLang="zh-CN" sz="3400"/>
              <a:t>——AMM</a:t>
            </a:r>
            <a:endParaRPr lang="en-US" sz="3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922F5-980B-4709-4144-4D65E65CD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r>
              <a:rPr lang="en-US" sz="1800" b="1" dirty="0">
                <a:effectLst/>
                <a:latin typeface="KaTeX_Math"/>
              </a:rPr>
              <a:t>AMM</a:t>
            </a:r>
            <a:r>
              <a:rPr lang="en-US" sz="1800" b="1" dirty="0">
                <a:latin typeface="KaTeX_Math"/>
              </a:rPr>
              <a:t>:</a:t>
            </a:r>
          </a:p>
          <a:p>
            <a:pPr lvl="1"/>
            <a:r>
              <a:rPr lang="en-US" altLang="zh-CN" sz="1800" dirty="0">
                <a:effectLst/>
                <a:latin typeface="KaTeX_Math"/>
              </a:rPr>
              <a:t>S token + U</a:t>
            </a:r>
          </a:p>
          <a:p>
            <a:pPr lvl="1"/>
            <a:r>
              <a:rPr lang="en-US" altLang="zh-CN" sz="1800" dirty="0">
                <a:latin typeface="KaTeX_Math"/>
              </a:rPr>
              <a:t>Stableswap invariant</a:t>
            </a:r>
          </a:p>
          <a:p>
            <a:r>
              <a:rPr lang="en-US" altLang="zh-CN" sz="2200" b="1" dirty="0">
                <a:latin typeface="KaTeX_Math"/>
              </a:rPr>
              <a:t>Arbitrage:</a:t>
            </a:r>
          </a:p>
          <a:p>
            <a:pPr lvl="1"/>
            <a:r>
              <a:rPr lang="en-US" altLang="zh-CN" sz="1800" dirty="0">
                <a:latin typeface="KaTeX_Math"/>
              </a:rPr>
              <a:t>Use an arbitrage program to monitor AMM deviations.</a:t>
            </a:r>
          </a:p>
          <a:p>
            <a:endParaRPr lang="en-US" altLang="zh-CN" sz="2200" dirty="0">
              <a:effectLst/>
              <a:latin typeface="KaTeX_Math"/>
            </a:endParaRPr>
          </a:p>
          <a:p>
            <a:pPr lvl="1"/>
            <a:endParaRPr lang="en-US" sz="1800" b="1" dirty="0">
              <a:effectLst/>
              <a:latin typeface="KaTeX_Math"/>
            </a:endParaRPr>
          </a:p>
          <a:p>
            <a:pPr lvl="1"/>
            <a:endParaRPr lang="en-US" sz="1800" b="0" dirty="0">
              <a:effectLst/>
              <a:latin typeface="KaTeX_Math"/>
            </a:endParaRP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5" name="Picture 4" descr="A graph of a function">
            <a:extLst>
              <a:ext uri="{FF2B5EF4-FFF2-40B4-BE49-F238E27FC236}">
                <a16:creationId xmlns:a16="http://schemas.microsoft.com/office/drawing/2014/main" id="{09709748-4858-E84C-04FE-BCACB1B613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16" y="1662409"/>
            <a:ext cx="6440424" cy="3477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646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95D84-7197-9E06-A96E-BBD7A7632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</a:t>
            </a:r>
            <a:r>
              <a:rPr lang="en-US" dirty="0">
                <a:latin typeface="Abadi" panose="020B0604020104020204" pitchFamily="34" charset="0"/>
              </a:rPr>
              <a:t>Ⅳ</a:t>
            </a:r>
            <a:r>
              <a:rPr lang="en-US" altLang="zh-CN" dirty="0"/>
              <a:t>——Oracle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14DB1C5-95BD-475C-D4B8-78E91F0421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079359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895781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95D84-7197-9E06-A96E-BBD7A7632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</a:t>
            </a:r>
            <a:r>
              <a:rPr lang="en-US" dirty="0">
                <a:latin typeface="Abadi" panose="020B0604020104020204" pitchFamily="34" charset="0"/>
              </a:rPr>
              <a:t>Ⅴ</a:t>
            </a:r>
            <a:r>
              <a:rPr lang="en-US" altLang="zh-CN" dirty="0"/>
              <a:t>——Liquidation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2C8E76A-10E7-3760-6D84-B7E3ED9A8BEF}"/>
              </a:ext>
            </a:extLst>
          </p:cNvPr>
          <p:cNvSpPr/>
          <p:nvPr/>
        </p:nvSpPr>
        <p:spPr>
          <a:xfrm>
            <a:off x="7664382" y="1679337"/>
            <a:ext cx="2677884" cy="865414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Keeper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8444ACA-2414-4E78-262D-F78D0A36DE01}"/>
              </a:ext>
            </a:extLst>
          </p:cNvPr>
          <p:cNvSpPr/>
          <p:nvPr/>
        </p:nvSpPr>
        <p:spPr>
          <a:xfrm>
            <a:off x="2316772" y="1692258"/>
            <a:ext cx="2865665" cy="865414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D8CA94B-B8AD-F6C6-706E-D996349E92A5}"/>
              </a:ext>
            </a:extLst>
          </p:cNvPr>
          <p:cNvSpPr/>
          <p:nvPr/>
        </p:nvSpPr>
        <p:spPr>
          <a:xfrm>
            <a:off x="2358203" y="3675631"/>
            <a:ext cx="5225143" cy="2423345"/>
          </a:xfrm>
          <a:prstGeom prst="round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8EFBDA-390B-3E49-686A-85880D57964E}"/>
              </a:ext>
            </a:extLst>
          </p:cNvPr>
          <p:cNvSpPr txBox="1"/>
          <p:nvPr/>
        </p:nvSpPr>
        <p:spPr>
          <a:xfrm>
            <a:off x="2462025" y="4061889"/>
            <a:ext cx="1657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Custodian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D656626-A99F-0516-98A4-E7E2CF8EB9DB}"/>
              </a:ext>
            </a:extLst>
          </p:cNvPr>
          <p:cNvSpPr/>
          <p:nvPr/>
        </p:nvSpPr>
        <p:spPr>
          <a:xfrm>
            <a:off x="2629328" y="4588669"/>
            <a:ext cx="4428472" cy="136509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FF26A65-3175-DCEB-4E9F-A19EB5228536}"/>
              </a:ext>
            </a:extLst>
          </p:cNvPr>
          <p:cNvSpPr txBox="1"/>
          <p:nvPr/>
        </p:nvSpPr>
        <p:spPr>
          <a:xfrm>
            <a:off x="2831126" y="4628589"/>
            <a:ext cx="125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Auction</a:t>
            </a:r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31F02621-03A9-786A-2854-638296197E54}"/>
              </a:ext>
            </a:extLst>
          </p:cNvPr>
          <p:cNvSpPr txBox="1"/>
          <p:nvPr/>
        </p:nvSpPr>
        <p:spPr>
          <a:xfrm>
            <a:off x="5364065" y="1820077"/>
            <a:ext cx="20737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①</a:t>
            </a:r>
            <a:r>
              <a:rPr lang="en-US" sz="1200" dirty="0"/>
              <a:t>Bark</a:t>
            </a:r>
          </a:p>
        </p:txBody>
      </p:sp>
      <p:sp>
        <p:nvSpPr>
          <p:cNvPr id="11" name="TextBox 13">
            <a:extLst>
              <a:ext uri="{FF2B5EF4-FFF2-40B4-BE49-F238E27FC236}">
                <a16:creationId xmlns:a16="http://schemas.microsoft.com/office/drawing/2014/main" id="{E5EC2324-C1F6-C4B1-7475-C8EAD22AEBCD}"/>
              </a:ext>
            </a:extLst>
          </p:cNvPr>
          <p:cNvSpPr txBox="1"/>
          <p:nvPr/>
        </p:nvSpPr>
        <p:spPr>
          <a:xfrm>
            <a:off x="2723952" y="1874977"/>
            <a:ext cx="2363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User</a:t>
            </a:r>
            <a:r>
              <a:rPr lang="en-SG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L token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Oval 17">
            <a:extLst>
              <a:ext uri="{FF2B5EF4-FFF2-40B4-BE49-F238E27FC236}">
                <a16:creationId xmlns:a16="http://schemas.microsoft.com/office/drawing/2014/main" id="{C0B85151-2080-E726-8E89-75E75159E966}"/>
              </a:ext>
            </a:extLst>
          </p:cNvPr>
          <p:cNvSpPr/>
          <p:nvPr/>
        </p:nvSpPr>
        <p:spPr>
          <a:xfrm>
            <a:off x="831636" y="2805712"/>
            <a:ext cx="2049236" cy="84451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8">
            <a:extLst>
              <a:ext uri="{FF2B5EF4-FFF2-40B4-BE49-F238E27FC236}">
                <a16:creationId xmlns:a16="http://schemas.microsoft.com/office/drawing/2014/main" id="{C6DEB884-DD06-BC5B-042E-DCA411A0A931}"/>
              </a:ext>
            </a:extLst>
          </p:cNvPr>
          <p:cNvSpPr txBox="1"/>
          <p:nvPr/>
        </p:nvSpPr>
        <p:spPr>
          <a:xfrm>
            <a:off x="1356818" y="2999812"/>
            <a:ext cx="12246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Burn  L token</a:t>
            </a:r>
          </a:p>
          <a:p>
            <a:r>
              <a:rPr lang="en-US" sz="1200" dirty="0">
                <a:solidFill>
                  <a:schemeClr val="bg1"/>
                </a:solidFill>
              </a:rPr>
              <a:t>Burn  S token</a:t>
            </a:r>
          </a:p>
        </p:txBody>
      </p:sp>
      <p:cxnSp>
        <p:nvCxnSpPr>
          <p:cNvPr id="14" name="Elbow Connector 24">
            <a:extLst>
              <a:ext uri="{FF2B5EF4-FFF2-40B4-BE49-F238E27FC236}">
                <a16:creationId xmlns:a16="http://schemas.microsoft.com/office/drawing/2014/main" id="{9EEE1B21-8443-779E-1838-54F8573C0C22}"/>
              </a:ext>
            </a:extLst>
          </p:cNvPr>
          <p:cNvCxnSpPr>
            <a:cxnSpLocks/>
          </p:cNvCxnSpPr>
          <p:nvPr/>
        </p:nvCxnSpPr>
        <p:spPr>
          <a:xfrm rot="10800000" flipV="1">
            <a:off x="1770804" y="2065071"/>
            <a:ext cx="1060322" cy="761222"/>
          </a:xfrm>
          <a:prstGeom prst="bentConnector4">
            <a:avLst>
              <a:gd name="adj1" fmla="val 82594"/>
              <a:gd name="adj2" fmla="val 16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38">
            <a:extLst>
              <a:ext uri="{FF2B5EF4-FFF2-40B4-BE49-F238E27FC236}">
                <a16:creationId xmlns:a16="http://schemas.microsoft.com/office/drawing/2014/main" id="{E9AC1FCF-FA4A-98B7-DE63-9C91C74F1C0C}"/>
              </a:ext>
            </a:extLst>
          </p:cNvPr>
          <p:cNvSpPr txBox="1"/>
          <p:nvPr/>
        </p:nvSpPr>
        <p:spPr>
          <a:xfrm>
            <a:off x="3682614" y="2826294"/>
            <a:ext cx="12202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② </a:t>
            </a:r>
          </a:p>
          <a:p>
            <a:r>
              <a:rPr lang="en-SG" sz="1200" dirty="0"/>
              <a:t>Remaining</a:t>
            </a:r>
          </a:p>
          <a:p>
            <a:r>
              <a:rPr lang="en-US" altLang="zh-CN" sz="1200" dirty="0"/>
              <a:t>Tokenized Asset</a:t>
            </a:r>
            <a:endParaRPr lang="en-US" sz="1200" dirty="0"/>
          </a:p>
        </p:txBody>
      </p:sp>
      <p:sp>
        <p:nvSpPr>
          <p:cNvPr id="16" name="TextBox 43">
            <a:extLst>
              <a:ext uri="{FF2B5EF4-FFF2-40B4-BE49-F238E27FC236}">
                <a16:creationId xmlns:a16="http://schemas.microsoft.com/office/drawing/2014/main" id="{A08E8D2A-F7DD-FDCF-02D6-55A21F4C444C}"/>
              </a:ext>
            </a:extLst>
          </p:cNvPr>
          <p:cNvSpPr txBox="1"/>
          <p:nvPr/>
        </p:nvSpPr>
        <p:spPr>
          <a:xfrm>
            <a:off x="6543773" y="2764809"/>
            <a:ext cx="9504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② </a:t>
            </a:r>
            <a:r>
              <a:rPr lang="en-US" sz="1200" dirty="0"/>
              <a:t>reward</a:t>
            </a:r>
          </a:p>
        </p:txBody>
      </p:sp>
      <p:cxnSp>
        <p:nvCxnSpPr>
          <p:cNvPr id="17" name="Straight Arrow Connector 45">
            <a:extLst>
              <a:ext uri="{FF2B5EF4-FFF2-40B4-BE49-F238E27FC236}">
                <a16:creationId xmlns:a16="http://schemas.microsoft.com/office/drawing/2014/main" id="{0A939705-C138-C39A-340E-CF7971C7627A}"/>
              </a:ext>
            </a:extLst>
          </p:cNvPr>
          <p:cNvCxnSpPr/>
          <p:nvPr/>
        </p:nvCxnSpPr>
        <p:spPr>
          <a:xfrm flipH="1">
            <a:off x="6487630" y="2448131"/>
            <a:ext cx="2025837" cy="23410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48">
            <a:extLst>
              <a:ext uri="{FF2B5EF4-FFF2-40B4-BE49-F238E27FC236}">
                <a16:creationId xmlns:a16="http://schemas.microsoft.com/office/drawing/2014/main" id="{FA9A962C-97F7-354A-3133-A5A7F17253A0}"/>
              </a:ext>
            </a:extLst>
          </p:cNvPr>
          <p:cNvSpPr txBox="1"/>
          <p:nvPr/>
        </p:nvSpPr>
        <p:spPr>
          <a:xfrm>
            <a:off x="7266423" y="3123952"/>
            <a:ext cx="8904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reset</a:t>
            </a:r>
          </a:p>
        </p:txBody>
      </p:sp>
      <p:sp>
        <p:nvSpPr>
          <p:cNvPr id="19" name="Rounded Rectangle 49">
            <a:extLst>
              <a:ext uri="{FF2B5EF4-FFF2-40B4-BE49-F238E27FC236}">
                <a16:creationId xmlns:a16="http://schemas.microsoft.com/office/drawing/2014/main" id="{2BF62FA1-B91F-47EF-EC08-D2F91F3D396A}"/>
              </a:ext>
            </a:extLst>
          </p:cNvPr>
          <p:cNvSpPr/>
          <p:nvPr/>
        </p:nvSpPr>
        <p:spPr>
          <a:xfrm>
            <a:off x="9514866" y="4726267"/>
            <a:ext cx="1050558" cy="1315282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Bidder</a:t>
            </a:r>
          </a:p>
        </p:txBody>
      </p:sp>
      <p:cxnSp>
        <p:nvCxnSpPr>
          <p:cNvPr id="20" name="Straight Arrow Connector 51">
            <a:extLst>
              <a:ext uri="{FF2B5EF4-FFF2-40B4-BE49-F238E27FC236}">
                <a16:creationId xmlns:a16="http://schemas.microsoft.com/office/drawing/2014/main" id="{3926F1CE-21F6-153F-95FB-4D3E9F66FEAA}"/>
              </a:ext>
            </a:extLst>
          </p:cNvPr>
          <p:cNvCxnSpPr/>
          <p:nvPr/>
        </p:nvCxnSpPr>
        <p:spPr>
          <a:xfrm>
            <a:off x="6952212" y="5167138"/>
            <a:ext cx="27595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57">
            <a:extLst>
              <a:ext uri="{FF2B5EF4-FFF2-40B4-BE49-F238E27FC236}">
                <a16:creationId xmlns:a16="http://schemas.microsoft.com/office/drawing/2014/main" id="{5CCC166E-C011-F2E7-0B37-BA518B0B1753}"/>
              </a:ext>
            </a:extLst>
          </p:cNvPr>
          <p:cNvSpPr txBox="1"/>
          <p:nvPr/>
        </p:nvSpPr>
        <p:spPr>
          <a:xfrm>
            <a:off x="7685120" y="4895412"/>
            <a:ext cx="16757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③Buy tokenized Asset</a:t>
            </a:r>
            <a:endParaRPr lang="en-US" sz="1200" dirty="0"/>
          </a:p>
        </p:txBody>
      </p:sp>
      <p:sp>
        <p:nvSpPr>
          <p:cNvPr id="22" name="TextBox 58">
            <a:extLst>
              <a:ext uri="{FF2B5EF4-FFF2-40B4-BE49-F238E27FC236}">
                <a16:creationId xmlns:a16="http://schemas.microsoft.com/office/drawing/2014/main" id="{16F7C2BD-8A0C-C563-67FB-737CC67A47F8}"/>
              </a:ext>
            </a:extLst>
          </p:cNvPr>
          <p:cNvSpPr txBox="1"/>
          <p:nvPr/>
        </p:nvSpPr>
        <p:spPr>
          <a:xfrm>
            <a:off x="7685121" y="5438865"/>
            <a:ext cx="18916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③</a:t>
            </a:r>
            <a:r>
              <a:rPr lang="en-US" sz="1200" dirty="0"/>
              <a:t>Pay S token</a:t>
            </a:r>
          </a:p>
        </p:txBody>
      </p:sp>
      <p:sp>
        <p:nvSpPr>
          <p:cNvPr id="23" name="Rounded Rectangle 60">
            <a:extLst>
              <a:ext uri="{FF2B5EF4-FFF2-40B4-BE49-F238E27FC236}">
                <a16:creationId xmlns:a16="http://schemas.microsoft.com/office/drawing/2014/main" id="{5530153B-50B2-1913-BE61-5DA1869E00B2}"/>
              </a:ext>
            </a:extLst>
          </p:cNvPr>
          <p:cNvSpPr/>
          <p:nvPr/>
        </p:nvSpPr>
        <p:spPr>
          <a:xfrm>
            <a:off x="4544309" y="4895470"/>
            <a:ext cx="2063150" cy="10116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61">
            <a:extLst>
              <a:ext uri="{FF2B5EF4-FFF2-40B4-BE49-F238E27FC236}">
                <a16:creationId xmlns:a16="http://schemas.microsoft.com/office/drawing/2014/main" id="{1EB7D471-2BB6-A733-7023-B03B374C88E8}"/>
              </a:ext>
            </a:extLst>
          </p:cNvPr>
          <p:cNvSpPr txBox="1"/>
          <p:nvPr/>
        </p:nvSpPr>
        <p:spPr>
          <a:xfrm>
            <a:off x="4827763" y="5227294"/>
            <a:ext cx="17306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 token</a:t>
            </a:r>
          </a:p>
        </p:txBody>
      </p:sp>
      <p:cxnSp>
        <p:nvCxnSpPr>
          <p:cNvPr id="25" name="Straight Arrow Connector 64">
            <a:extLst>
              <a:ext uri="{FF2B5EF4-FFF2-40B4-BE49-F238E27FC236}">
                <a16:creationId xmlns:a16="http://schemas.microsoft.com/office/drawing/2014/main" id="{32FD0CAE-38AF-11E4-90B3-DA1664ECC657}"/>
              </a:ext>
            </a:extLst>
          </p:cNvPr>
          <p:cNvCxnSpPr/>
          <p:nvPr/>
        </p:nvCxnSpPr>
        <p:spPr>
          <a:xfrm flipH="1">
            <a:off x="6325438" y="5773531"/>
            <a:ext cx="33863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Elbow Connector 69">
            <a:extLst>
              <a:ext uri="{FF2B5EF4-FFF2-40B4-BE49-F238E27FC236}">
                <a16:creationId xmlns:a16="http://schemas.microsoft.com/office/drawing/2014/main" id="{E0E8ACBA-2158-A4A9-867F-2C1DB528CD54}"/>
              </a:ext>
            </a:extLst>
          </p:cNvPr>
          <p:cNvCxnSpPr>
            <a:cxnSpLocks/>
          </p:cNvCxnSpPr>
          <p:nvPr/>
        </p:nvCxnSpPr>
        <p:spPr>
          <a:xfrm rot="10800000">
            <a:off x="1759602" y="3432517"/>
            <a:ext cx="2900322" cy="2341014"/>
          </a:xfrm>
          <a:prstGeom prst="bentConnector3">
            <a:avLst>
              <a:gd name="adj1" fmla="val 10010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74">
            <a:extLst>
              <a:ext uri="{FF2B5EF4-FFF2-40B4-BE49-F238E27FC236}">
                <a16:creationId xmlns:a16="http://schemas.microsoft.com/office/drawing/2014/main" id="{F8D42FF2-8363-D6DD-27C7-36DF766FAF84}"/>
              </a:ext>
            </a:extLst>
          </p:cNvPr>
          <p:cNvCxnSpPr/>
          <p:nvPr/>
        </p:nvCxnSpPr>
        <p:spPr>
          <a:xfrm flipH="1" flipV="1">
            <a:off x="3708673" y="2428934"/>
            <a:ext cx="13226" cy="22781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Rounded Rectangle 81">
            <a:extLst>
              <a:ext uri="{FF2B5EF4-FFF2-40B4-BE49-F238E27FC236}">
                <a16:creationId xmlns:a16="http://schemas.microsoft.com/office/drawing/2014/main" id="{4A76D577-7409-2A4B-30AF-C4A475B8D6E7}"/>
              </a:ext>
            </a:extLst>
          </p:cNvPr>
          <p:cNvSpPr/>
          <p:nvPr/>
        </p:nvSpPr>
        <p:spPr>
          <a:xfrm>
            <a:off x="5386477" y="3873489"/>
            <a:ext cx="1223997" cy="566154"/>
          </a:xfrm>
          <a:prstGeom prst="round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82">
            <a:extLst>
              <a:ext uri="{FF2B5EF4-FFF2-40B4-BE49-F238E27FC236}">
                <a16:creationId xmlns:a16="http://schemas.microsoft.com/office/drawing/2014/main" id="{2F1CBD18-2DD2-2FA9-81B7-AD30AE48AAB8}"/>
              </a:ext>
            </a:extLst>
          </p:cNvPr>
          <p:cNvSpPr txBox="1"/>
          <p:nvPr/>
        </p:nvSpPr>
        <p:spPr>
          <a:xfrm>
            <a:off x="5550698" y="3910553"/>
            <a:ext cx="1126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Penalty</a:t>
            </a:r>
          </a:p>
        </p:txBody>
      </p:sp>
      <p:cxnSp>
        <p:nvCxnSpPr>
          <p:cNvPr id="30" name="Elbow Connector 84">
            <a:extLst>
              <a:ext uri="{FF2B5EF4-FFF2-40B4-BE49-F238E27FC236}">
                <a16:creationId xmlns:a16="http://schemas.microsoft.com/office/drawing/2014/main" id="{58C2179C-1BB1-19C4-0E6B-242B996E1968}"/>
              </a:ext>
            </a:extLst>
          </p:cNvPr>
          <p:cNvCxnSpPr/>
          <p:nvPr/>
        </p:nvCxnSpPr>
        <p:spPr>
          <a:xfrm rot="10800000" flipV="1">
            <a:off x="4941534" y="2120625"/>
            <a:ext cx="2918791" cy="2605642"/>
          </a:xfrm>
          <a:prstGeom prst="bentConnector3">
            <a:avLst>
              <a:gd name="adj1" fmla="val 10006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88">
            <a:extLst>
              <a:ext uri="{FF2B5EF4-FFF2-40B4-BE49-F238E27FC236}">
                <a16:creationId xmlns:a16="http://schemas.microsoft.com/office/drawing/2014/main" id="{D12D7218-6A25-0CD2-F0D5-3631A4272FD7}"/>
              </a:ext>
            </a:extLst>
          </p:cNvPr>
          <p:cNvCxnSpPr/>
          <p:nvPr/>
        </p:nvCxnSpPr>
        <p:spPr>
          <a:xfrm flipV="1">
            <a:off x="6412524" y="2316150"/>
            <a:ext cx="1545771" cy="17293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92">
            <a:extLst>
              <a:ext uri="{FF2B5EF4-FFF2-40B4-BE49-F238E27FC236}">
                <a16:creationId xmlns:a16="http://schemas.microsoft.com/office/drawing/2014/main" id="{15CD0A0D-1074-FE09-2F24-CF3E071AEE62}"/>
              </a:ext>
            </a:extLst>
          </p:cNvPr>
          <p:cNvSpPr txBox="1"/>
          <p:nvPr/>
        </p:nvSpPr>
        <p:spPr>
          <a:xfrm>
            <a:off x="1465133" y="2266867"/>
            <a:ext cx="39699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② </a:t>
            </a:r>
          </a:p>
          <a:p>
            <a:endParaRPr lang="en-US" dirty="0"/>
          </a:p>
        </p:txBody>
      </p:sp>
      <p:sp>
        <p:nvSpPr>
          <p:cNvPr id="33" name="TextBox 93">
            <a:extLst>
              <a:ext uri="{FF2B5EF4-FFF2-40B4-BE49-F238E27FC236}">
                <a16:creationId xmlns:a16="http://schemas.microsoft.com/office/drawing/2014/main" id="{FA61EC19-68E9-DC0E-CD12-5F0C9CFF8F63}"/>
              </a:ext>
            </a:extLst>
          </p:cNvPr>
          <p:cNvSpPr txBox="1"/>
          <p:nvPr/>
        </p:nvSpPr>
        <p:spPr>
          <a:xfrm>
            <a:off x="1406752" y="4906468"/>
            <a:ext cx="4735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④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A2AF04B-FA45-BDFC-1678-EB0A64EDE79E}"/>
              </a:ext>
            </a:extLst>
          </p:cNvPr>
          <p:cNvSpPr txBox="1"/>
          <p:nvPr/>
        </p:nvSpPr>
        <p:spPr>
          <a:xfrm>
            <a:off x="1180658" y="6377518"/>
            <a:ext cx="10724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7030A0"/>
                </a:solidFill>
              </a:rPr>
              <a:t>NOTE: The liquidation model determines the optimal liquidation boundary based on system parameters </a:t>
            </a:r>
            <a:r>
              <a:rPr lang="en-US" altLang="zh-CN" i="1" dirty="0">
                <a:solidFill>
                  <a:srgbClr val="7030A0"/>
                </a:solidFill>
              </a:rPr>
              <a:t>for users</a:t>
            </a:r>
            <a:r>
              <a:rPr lang="en-US" i="1" dirty="0">
                <a:solidFill>
                  <a:srgbClr val="7030A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57216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67B45-05E2-AAE8-7FC6-E1D392E16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Mechanism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089FB24-CA01-B01C-B403-18D3166F7F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198769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4895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FD362-8D80-6494-8FEA-ECABC461D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Website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AF0AE69-03AE-7B3C-E735-17B3E5250C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966900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05304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3072</TotalTime>
  <Words>479</Words>
  <Application>Microsoft Office PowerPoint</Application>
  <PresentationFormat>Widescreen</PresentationFormat>
  <Paragraphs>126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KaTeX_Math</vt:lpstr>
      <vt:lpstr>Abadi</vt:lpstr>
      <vt:lpstr>Aptos</vt:lpstr>
      <vt:lpstr>Arial</vt:lpstr>
      <vt:lpstr>Calibri</vt:lpstr>
      <vt:lpstr>Calibri Light</vt:lpstr>
      <vt:lpstr>Cambria Math</vt:lpstr>
      <vt:lpstr>Wingdings</vt:lpstr>
      <vt:lpstr>Office 2013 - 2022 Theme</vt:lpstr>
      <vt:lpstr>Martingale Protocol</vt:lpstr>
      <vt:lpstr>Overview</vt:lpstr>
      <vt:lpstr>System Architecture</vt:lpstr>
      <vt:lpstr>Life Cycle</vt:lpstr>
      <vt:lpstr>Model Ⅰ——Mint/Burn</vt:lpstr>
      <vt:lpstr>Model Ⅰ——Mint/Burn</vt:lpstr>
      <vt:lpstr>Model Ⅱ——Interest Rate Model</vt:lpstr>
      <vt:lpstr>Model Ⅱ——Interest Rate Model</vt:lpstr>
      <vt:lpstr>Model Ⅲ——AMM</vt:lpstr>
      <vt:lpstr>Model Ⅳ——Oracle</vt:lpstr>
      <vt:lpstr>Model Ⅴ——Liquidation</vt:lpstr>
      <vt:lpstr>Mechanism</vt:lpstr>
      <vt:lpstr>Website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Green</dc:creator>
  <cp:lastModifiedBy>Green</cp:lastModifiedBy>
  <cp:revision>173</cp:revision>
  <dcterms:created xsi:type="dcterms:W3CDTF">2026-03-05T03:00:59Z</dcterms:created>
  <dcterms:modified xsi:type="dcterms:W3CDTF">2026-03-15T10:37:25Z</dcterms:modified>
</cp:coreProperties>
</file>