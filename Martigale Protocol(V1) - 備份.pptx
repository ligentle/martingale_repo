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23"/>
  </p:notesMasterIdLst>
  <p:sldIdLst>
    <p:sldId id="256" r:id="rId2"/>
    <p:sldId id="257" r:id="rId3"/>
    <p:sldId id="271" r:id="rId4"/>
    <p:sldId id="272" r:id="rId5"/>
    <p:sldId id="280" r:id="rId6"/>
    <p:sldId id="293" r:id="rId7"/>
    <p:sldId id="278" r:id="rId8"/>
    <p:sldId id="277" r:id="rId9"/>
    <p:sldId id="276" r:id="rId10"/>
    <p:sldId id="263" r:id="rId11"/>
    <p:sldId id="279" r:id="rId12"/>
    <p:sldId id="290" r:id="rId13"/>
    <p:sldId id="291" r:id="rId14"/>
    <p:sldId id="292" r:id="rId15"/>
    <p:sldId id="259" r:id="rId16"/>
    <p:sldId id="260" r:id="rId17"/>
    <p:sldId id="265" r:id="rId18"/>
    <p:sldId id="267" r:id="rId19"/>
    <p:sldId id="281" r:id="rId20"/>
    <p:sldId id="287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6" autoAdjust="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938E8-FFFC-41BB-809B-61823A0BD405}" type="doc">
      <dgm:prSet loTypeId="urn:microsoft.com/office/officeart/2005/8/layout/radial4" loCatId="relationship" qsTypeId="urn:microsoft.com/office/officeart/2005/8/quickstyle/simple3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099D0450-D366-485C-AECE-52E2F2E23447}">
      <dgm:prSet phldrT="[Text]" custT="1"/>
      <dgm:spPr/>
      <dgm:t>
        <a:bodyPr/>
        <a:lstStyle/>
        <a:p>
          <a:r>
            <a:rPr lang="en-US" sz="1800" dirty="0"/>
            <a:t>M</a:t>
          </a:r>
          <a:r>
            <a:rPr lang="en-US" altLang="zh-CN" sz="1800" dirty="0"/>
            <a:t>artingale</a:t>
          </a:r>
        </a:p>
        <a:p>
          <a:r>
            <a:rPr lang="en-US" sz="1800" dirty="0"/>
            <a:t>Protocol</a:t>
          </a:r>
        </a:p>
      </dgm:t>
    </dgm:pt>
    <dgm:pt modelId="{3A72E67E-F9A9-44B6-BCB5-D888A9AAF68A}" type="parTrans" cxnId="{0B4EE63E-3B15-40A8-A9E0-6B3782BE4662}">
      <dgm:prSet/>
      <dgm:spPr/>
      <dgm:t>
        <a:bodyPr/>
        <a:lstStyle/>
        <a:p>
          <a:endParaRPr lang="en-US" sz="1800"/>
        </a:p>
      </dgm:t>
    </dgm:pt>
    <dgm:pt modelId="{834658EA-5C34-43CC-94A4-FA7EB1755D0D}" type="sibTrans" cxnId="{0B4EE63E-3B15-40A8-A9E0-6B3782BE4662}">
      <dgm:prSet/>
      <dgm:spPr/>
      <dgm:t>
        <a:bodyPr/>
        <a:lstStyle/>
        <a:p>
          <a:endParaRPr lang="en-US" sz="1800"/>
        </a:p>
      </dgm:t>
    </dgm:pt>
    <dgm:pt modelId="{6A846814-021E-444A-9B8F-1E9E04040319}">
      <dgm:prSet phldrT="[Text]" custT="1"/>
      <dgm:spPr/>
      <dgm:t>
        <a:bodyPr/>
        <a:lstStyle/>
        <a:p>
          <a:r>
            <a:rPr lang="en-US" sz="1800" dirty="0"/>
            <a:t>F</a:t>
          </a:r>
          <a:r>
            <a:rPr lang="en-US" altLang="zh-CN" sz="1800" dirty="0"/>
            <a:t>rontend</a:t>
          </a:r>
          <a:endParaRPr lang="en-US" sz="1800" dirty="0"/>
        </a:p>
      </dgm:t>
    </dgm:pt>
    <dgm:pt modelId="{DC490BCF-9F78-4980-8C02-D5AC8755BDE1}" type="parTrans" cxnId="{2176AA6E-8CD3-4800-A730-985CC17E6C63}">
      <dgm:prSet/>
      <dgm:spPr/>
      <dgm:t>
        <a:bodyPr/>
        <a:lstStyle/>
        <a:p>
          <a:endParaRPr lang="en-US" sz="1800"/>
        </a:p>
      </dgm:t>
    </dgm:pt>
    <dgm:pt modelId="{56D28636-90D4-4B87-957E-FC93243E1531}" type="sibTrans" cxnId="{2176AA6E-8CD3-4800-A730-985CC17E6C63}">
      <dgm:prSet/>
      <dgm:spPr/>
      <dgm:t>
        <a:bodyPr/>
        <a:lstStyle/>
        <a:p>
          <a:endParaRPr lang="en-US" sz="1800"/>
        </a:p>
      </dgm:t>
    </dgm:pt>
    <dgm:pt modelId="{3E336E78-5B80-47EF-BF70-56F66CFBCEBF}">
      <dgm:prSet phldrT="[Text]" custT="1"/>
      <dgm:spPr/>
      <dgm:t>
        <a:bodyPr/>
        <a:lstStyle/>
        <a:p>
          <a:r>
            <a:rPr lang="en-US" sz="1800" dirty="0"/>
            <a:t>On Chain</a:t>
          </a:r>
        </a:p>
        <a:p>
          <a:r>
            <a:rPr lang="en-US" sz="1800" dirty="0"/>
            <a:t> (Smart Contract)</a:t>
          </a:r>
        </a:p>
      </dgm:t>
    </dgm:pt>
    <dgm:pt modelId="{2F1118A5-297B-4FDC-B950-088026711DC9}" type="parTrans" cxnId="{689D4378-2771-4437-B73E-FA5E7EB1932B}">
      <dgm:prSet/>
      <dgm:spPr/>
      <dgm:t>
        <a:bodyPr/>
        <a:lstStyle/>
        <a:p>
          <a:endParaRPr lang="en-US" sz="1800"/>
        </a:p>
      </dgm:t>
    </dgm:pt>
    <dgm:pt modelId="{40CA0F81-102D-4480-9E31-29DD158DADEB}" type="sibTrans" cxnId="{689D4378-2771-4437-B73E-FA5E7EB1932B}">
      <dgm:prSet/>
      <dgm:spPr/>
      <dgm:t>
        <a:bodyPr/>
        <a:lstStyle/>
        <a:p>
          <a:endParaRPr lang="en-US" sz="1800"/>
        </a:p>
      </dgm:t>
    </dgm:pt>
    <dgm:pt modelId="{64198DC0-67FA-4659-A284-F57D9DA7CD19}">
      <dgm:prSet phldrT="[Text]" custT="1"/>
      <dgm:spPr/>
      <dgm:t>
        <a:bodyPr/>
        <a:lstStyle/>
        <a:p>
          <a:r>
            <a:rPr lang="en-US" sz="1800" dirty="0"/>
            <a:t>O</a:t>
          </a:r>
          <a:r>
            <a:rPr lang="en-US" altLang="zh-CN" sz="1800" dirty="0"/>
            <a:t>thers</a:t>
          </a:r>
          <a:endParaRPr lang="en-US" sz="1800" dirty="0"/>
        </a:p>
      </dgm:t>
    </dgm:pt>
    <dgm:pt modelId="{88714118-7298-42E1-B836-0AF64D1AB3A5}" type="parTrans" cxnId="{A6468860-16D4-4865-807D-B59CF45F7AD5}">
      <dgm:prSet/>
      <dgm:spPr/>
      <dgm:t>
        <a:bodyPr/>
        <a:lstStyle/>
        <a:p>
          <a:endParaRPr lang="en-US" sz="1800"/>
        </a:p>
      </dgm:t>
    </dgm:pt>
    <dgm:pt modelId="{E75B1489-D57F-4BC4-90A4-624F38C3EEEE}" type="sibTrans" cxnId="{A6468860-16D4-4865-807D-B59CF45F7AD5}">
      <dgm:prSet/>
      <dgm:spPr/>
      <dgm:t>
        <a:bodyPr/>
        <a:lstStyle/>
        <a:p>
          <a:endParaRPr lang="en-US" sz="1800"/>
        </a:p>
      </dgm:t>
    </dgm:pt>
    <dgm:pt modelId="{91A63B6A-32E6-44FC-B902-B35D5FB0190E}">
      <dgm:prSet custT="1"/>
      <dgm:spPr/>
      <dgm:t>
        <a:bodyPr/>
        <a:lstStyle/>
        <a:p>
          <a:r>
            <a:rPr lang="en-US" altLang="zh-CN" sz="1800" dirty="0"/>
            <a:t>Off chain</a:t>
          </a:r>
        </a:p>
        <a:p>
          <a:r>
            <a:rPr lang="en-US" sz="1800" dirty="0"/>
            <a:t>(Service)</a:t>
          </a:r>
        </a:p>
      </dgm:t>
    </dgm:pt>
    <dgm:pt modelId="{52BFFF16-2A59-4415-A398-A8DE1C469A80}" type="parTrans" cxnId="{D79B5906-46BD-4DA5-8D0C-896022D642C3}">
      <dgm:prSet/>
      <dgm:spPr/>
      <dgm:t>
        <a:bodyPr/>
        <a:lstStyle/>
        <a:p>
          <a:endParaRPr lang="en-US" sz="1800"/>
        </a:p>
      </dgm:t>
    </dgm:pt>
    <dgm:pt modelId="{7D6FCCEE-8E48-45FC-A912-BB6623C49C63}" type="sibTrans" cxnId="{D79B5906-46BD-4DA5-8D0C-896022D642C3}">
      <dgm:prSet/>
      <dgm:spPr/>
      <dgm:t>
        <a:bodyPr/>
        <a:lstStyle/>
        <a:p>
          <a:endParaRPr lang="en-US" sz="1800"/>
        </a:p>
      </dgm:t>
    </dgm:pt>
    <dgm:pt modelId="{A1F76F79-D83B-4B32-8989-C7851EA6885A}" type="pres">
      <dgm:prSet presAssocID="{D3D938E8-FFFC-41BB-809B-61823A0BD40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2333688-4B47-494B-BB0F-55E32D2A1959}" type="pres">
      <dgm:prSet presAssocID="{099D0450-D366-485C-AECE-52E2F2E23447}" presName="centerShape" presStyleLbl="node0" presStyleIdx="0" presStyleCnt="1"/>
      <dgm:spPr/>
    </dgm:pt>
    <dgm:pt modelId="{0B508851-791F-461A-8B13-C03D5C8D2D01}" type="pres">
      <dgm:prSet presAssocID="{DC490BCF-9F78-4980-8C02-D5AC8755BDE1}" presName="parTrans" presStyleLbl="bgSibTrans2D1" presStyleIdx="0" presStyleCnt="4"/>
      <dgm:spPr/>
    </dgm:pt>
    <dgm:pt modelId="{8A1374A4-490C-47E6-8C6D-7032CFB994D9}" type="pres">
      <dgm:prSet presAssocID="{6A846814-021E-444A-9B8F-1E9E04040319}" presName="node" presStyleLbl="node1" presStyleIdx="0" presStyleCnt="4">
        <dgm:presLayoutVars>
          <dgm:bulletEnabled val="1"/>
        </dgm:presLayoutVars>
      </dgm:prSet>
      <dgm:spPr/>
    </dgm:pt>
    <dgm:pt modelId="{C99E5C73-92B9-432A-8542-A0E080AE70D8}" type="pres">
      <dgm:prSet presAssocID="{2F1118A5-297B-4FDC-B950-088026711DC9}" presName="parTrans" presStyleLbl="bgSibTrans2D1" presStyleIdx="1" presStyleCnt="4"/>
      <dgm:spPr/>
    </dgm:pt>
    <dgm:pt modelId="{39910C24-E8BB-4E83-9EE3-8B38AF49F0BE}" type="pres">
      <dgm:prSet presAssocID="{3E336E78-5B80-47EF-BF70-56F66CFBCEBF}" presName="node" presStyleLbl="node1" presStyleIdx="1" presStyleCnt="4">
        <dgm:presLayoutVars>
          <dgm:bulletEnabled val="1"/>
        </dgm:presLayoutVars>
      </dgm:prSet>
      <dgm:spPr/>
    </dgm:pt>
    <dgm:pt modelId="{A4A4E5B1-E85F-4670-A1B4-A4F340CE56DE}" type="pres">
      <dgm:prSet presAssocID="{52BFFF16-2A59-4415-A398-A8DE1C469A80}" presName="parTrans" presStyleLbl="bgSibTrans2D1" presStyleIdx="2" presStyleCnt="4"/>
      <dgm:spPr/>
    </dgm:pt>
    <dgm:pt modelId="{E4CC503B-7FB7-408A-AF3A-9F3803F6DE5A}" type="pres">
      <dgm:prSet presAssocID="{91A63B6A-32E6-44FC-B902-B35D5FB0190E}" presName="node" presStyleLbl="node1" presStyleIdx="2" presStyleCnt="4">
        <dgm:presLayoutVars>
          <dgm:bulletEnabled val="1"/>
        </dgm:presLayoutVars>
      </dgm:prSet>
      <dgm:spPr/>
    </dgm:pt>
    <dgm:pt modelId="{20072A80-5B85-456F-B135-F09F39FB8421}" type="pres">
      <dgm:prSet presAssocID="{88714118-7298-42E1-B836-0AF64D1AB3A5}" presName="parTrans" presStyleLbl="bgSibTrans2D1" presStyleIdx="3" presStyleCnt="4"/>
      <dgm:spPr/>
    </dgm:pt>
    <dgm:pt modelId="{F63DE1F6-8FB7-478D-A720-8372BB2F7DB0}" type="pres">
      <dgm:prSet presAssocID="{64198DC0-67FA-4659-A284-F57D9DA7CD19}" presName="node" presStyleLbl="node1" presStyleIdx="3" presStyleCnt="4">
        <dgm:presLayoutVars>
          <dgm:bulletEnabled val="1"/>
        </dgm:presLayoutVars>
      </dgm:prSet>
      <dgm:spPr/>
    </dgm:pt>
  </dgm:ptLst>
  <dgm:cxnLst>
    <dgm:cxn modelId="{D79B5906-46BD-4DA5-8D0C-896022D642C3}" srcId="{099D0450-D366-485C-AECE-52E2F2E23447}" destId="{91A63B6A-32E6-44FC-B902-B35D5FB0190E}" srcOrd="2" destOrd="0" parTransId="{52BFFF16-2A59-4415-A398-A8DE1C469A80}" sibTransId="{7D6FCCEE-8E48-45FC-A912-BB6623C49C63}"/>
    <dgm:cxn modelId="{797EF012-7118-423C-A1CE-9EA85C4678E8}" type="presOf" srcId="{D3D938E8-FFFC-41BB-809B-61823A0BD405}" destId="{A1F76F79-D83B-4B32-8989-C7851EA6885A}" srcOrd="0" destOrd="0" presId="urn:microsoft.com/office/officeart/2005/8/layout/radial4"/>
    <dgm:cxn modelId="{BDD9DE28-95A1-4C14-93FC-13D01299B910}" type="presOf" srcId="{DC490BCF-9F78-4980-8C02-D5AC8755BDE1}" destId="{0B508851-791F-461A-8B13-C03D5C8D2D01}" srcOrd="0" destOrd="0" presId="urn:microsoft.com/office/officeart/2005/8/layout/radial4"/>
    <dgm:cxn modelId="{0B4EE63E-3B15-40A8-A9E0-6B3782BE4662}" srcId="{D3D938E8-FFFC-41BB-809B-61823A0BD405}" destId="{099D0450-D366-485C-AECE-52E2F2E23447}" srcOrd="0" destOrd="0" parTransId="{3A72E67E-F9A9-44B6-BCB5-D888A9AAF68A}" sibTransId="{834658EA-5C34-43CC-94A4-FA7EB1755D0D}"/>
    <dgm:cxn modelId="{A6468860-16D4-4865-807D-B59CF45F7AD5}" srcId="{099D0450-D366-485C-AECE-52E2F2E23447}" destId="{64198DC0-67FA-4659-A284-F57D9DA7CD19}" srcOrd="3" destOrd="0" parTransId="{88714118-7298-42E1-B836-0AF64D1AB3A5}" sibTransId="{E75B1489-D57F-4BC4-90A4-624F38C3EEEE}"/>
    <dgm:cxn modelId="{2176AA6E-8CD3-4800-A730-985CC17E6C63}" srcId="{099D0450-D366-485C-AECE-52E2F2E23447}" destId="{6A846814-021E-444A-9B8F-1E9E04040319}" srcOrd="0" destOrd="0" parTransId="{DC490BCF-9F78-4980-8C02-D5AC8755BDE1}" sibTransId="{56D28636-90D4-4B87-957E-FC93243E1531}"/>
    <dgm:cxn modelId="{C1A9C672-F9C6-4603-BE34-154381F8445B}" type="presOf" srcId="{3E336E78-5B80-47EF-BF70-56F66CFBCEBF}" destId="{39910C24-E8BB-4E83-9EE3-8B38AF49F0BE}" srcOrd="0" destOrd="0" presId="urn:microsoft.com/office/officeart/2005/8/layout/radial4"/>
    <dgm:cxn modelId="{689D4378-2771-4437-B73E-FA5E7EB1932B}" srcId="{099D0450-D366-485C-AECE-52E2F2E23447}" destId="{3E336E78-5B80-47EF-BF70-56F66CFBCEBF}" srcOrd="1" destOrd="0" parTransId="{2F1118A5-297B-4FDC-B950-088026711DC9}" sibTransId="{40CA0F81-102D-4480-9E31-29DD158DADEB}"/>
    <dgm:cxn modelId="{F4974658-5788-42A2-96EF-5CA0CA9A44C7}" type="presOf" srcId="{2F1118A5-297B-4FDC-B950-088026711DC9}" destId="{C99E5C73-92B9-432A-8542-A0E080AE70D8}" srcOrd="0" destOrd="0" presId="urn:microsoft.com/office/officeart/2005/8/layout/radial4"/>
    <dgm:cxn modelId="{091B5EBC-856E-44E7-BDB6-4FC1A5C24B78}" type="presOf" srcId="{88714118-7298-42E1-B836-0AF64D1AB3A5}" destId="{20072A80-5B85-456F-B135-F09F39FB8421}" srcOrd="0" destOrd="0" presId="urn:microsoft.com/office/officeart/2005/8/layout/radial4"/>
    <dgm:cxn modelId="{A5260FBD-B8F9-4D78-BF8B-3B294CF3C947}" type="presOf" srcId="{64198DC0-67FA-4659-A284-F57D9DA7CD19}" destId="{F63DE1F6-8FB7-478D-A720-8372BB2F7DB0}" srcOrd="0" destOrd="0" presId="urn:microsoft.com/office/officeart/2005/8/layout/radial4"/>
    <dgm:cxn modelId="{1C2348BD-1BD8-4429-8CD7-15274CC07195}" type="presOf" srcId="{099D0450-D366-485C-AECE-52E2F2E23447}" destId="{02333688-4B47-494B-BB0F-55E32D2A1959}" srcOrd="0" destOrd="0" presId="urn:microsoft.com/office/officeart/2005/8/layout/radial4"/>
    <dgm:cxn modelId="{238AF3D0-A8E3-4466-9A30-FAB2DCDC27DC}" type="presOf" srcId="{91A63B6A-32E6-44FC-B902-B35D5FB0190E}" destId="{E4CC503B-7FB7-408A-AF3A-9F3803F6DE5A}" srcOrd="0" destOrd="0" presId="urn:microsoft.com/office/officeart/2005/8/layout/radial4"/>
    <dgm:cxn modelId="{AA989FED-35D6-4A02-8D60-7BFEE47A179B}" type="presOf" srcId="{52BFFF16-2A59-4415-A398-A8DE1C469A80}" destId="{A4A4E5B1-E85F-4670-A1B4-A4F340CE56DE}" srcOrd="0" destOrd="0" presId="urn:microsoft.com/office/officeart/2005/8/layout/radial4"/>
    <dgm:cxn modelId="{A33E88F5-1481-472C-B168-2B786E2897B6}" type="presOf" srcId="{6A846814-021E-444A-9B8F-1E9E04040319}" destId="{8A1374A4-490C-47E6-8C6D-7032CFB994D9}" srcOrd="0" destOrd="0" presId="urn:microsoft.com/office/officeart/2005/8/layout/radial4"/>
    <dgm:cxn modelId="{401A7FFA-FB67-4D07-9926-F7815D1AC3EE}" type="presParOf" srcId="{A1F76F79-D83B-4B32-8989-C7851EA6885A}" destId="{02333688-4B47-494B-BB0F-55E32D2A1959}" srcOrd="0" destOrd="0" presId="urn:microsoft.com/office/officeart/2005/8/layout/radial4"/>
    <dgm:cxn modelId="{EC4A9967-AF2F-4BFF-9617-0CB253313E1C}" type="presParOf" srcId="{A1F76F79-D83B-4B32-8989-C7851EA6885A}" destId="{0B508851-791F-461A-8B13-C03D5C8D2D01}" srcOrd="1" destOrd="0" presId="urn:microsoft.com/office/officeart/2005/8/layout/radial4"/>
    <dgm:cxn modelId="{6324912E-E5A0-4C8A-9BA3-3A1B53DEC8AB}" type="presParOf" srcId="{A1F76F79-D83B-4B32-8989-C7851EA6885A}" destId="{8A1374A4-490C-47E6-8C6D-7032CFB994D9}" srcOrd="2" destOrd="0" presId="urn:microsoft.com/office/officeart/2005/8/layout/radial4"/>
    <dgm:cxn modelId="{0BA3C4E0-D9F5-490D-80A4-3C8FF0870172}" type="presParOf" srcId="{A1F76F79-D83B-4B32-8989-C7851EA6885A}" destId="{C99E5C73-92B9-432A-8542-A0E080AE70D8}" srcOrd="3" destOrd="0" presId="urn:microsoft.com/office/officeart/2005/8/layout/radial4"/>
    <dgm:cxn modelId="{BDB11C27-6214-4560-9887-0E550DE951CB}" type="presParOf" srcId="{A1F76F79-D83B-4B32-8989-C7851EA6885A}" destId="{39910C24-E8BB-4E83-9EE3-8B38AF49F0BE}" srcOrd="4" destOrd="0" presId="urn:microsoft.com/office/officeart/2005/8/layout/radial4"/>
    <dgm:cxn modelId="{C93D0325-6A95-4D84-9D13-F56779208070}" type="presParOf" srcId="{A1F76F79-D83B-4B32-8989-C7851EA6885A}" destId="{A4A4E5B1-E85F-4670-A1B4-A4F340CE56DE}" srcOrd="5" destOrd="0" presId="urn:microsoft.com/office/officeart/2005/8/layout/radial4"/>
    <dgm:cxn modelId="{07E8A895-D46F-470B-9D13-783F7CFAB348}" type="presParOf" srcId="{A1F76F79-D83B-4B32-8989-C7851EA6885A}" destId="{E4CC503B-7FB7-408A-AF3A-9F3803F6DE5A}" srcOrd="6" destOrd="0" presId="urn:microsoft.com/office/officeart/2005/8/layout/radial4"/>
    <dgm:cxn modelId="{212513B0-FFD9-4099-96F2-9E6F64326EA1}" type="presParOf" srcId="{A1F76F79-D83B-4B32-8989-C7851EA6885A}" destId="{20072A80-5B85-456F-B135-F09F39FB8421}" srcOrd="7" destOrd="0" presId="urn:microsoft.com/office/officeart/2005/8/layout/radial4"/>
    <dgm:cxn modelId="{410DD20D-0BDF-4494-B470-36D4D930037E}" type="presParOf" srcId="{A1F76F79-D83B-4B32-8989-C7851EA6885A}" destId="{F63DE1F6-8FB7-478D-A720-8372BB2F7DB0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33688-4B47-494B-BB0F-55E32D2A1959}">
      <dsp:nvSpPr>
        <dsp:cNvPr id="0" name=""/>
        <dsp:cNvSpPr/>
      </dsp:nvSpPr>
      <dsp:spPr>
        <a:xfrm>
          <a:off x="4195868" y="2226292"/>
          <a:ext cx="2123863" cy="2123863"/>
        </a:xfrm>
        <a:prstGeom prst="ellipse">
          <a:avLst/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</a:t>
          </a:r>
          <a:r>
            <a:rPr lang="en-US" altLang="zh-CN" sz="1800" kern="1200" dirty="0"/>
            <a:t>artingale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Protocol</a:t>
          </a:r>
        </a:p>
      </dsp:txBody>
      <dsp:txXfrm>
        <a:off x="4506901" y="2537325"/>
        <a:ext cx="1501797" cy="1501797"/>
      </dsp:txXfrm>
    </dsp:sp>
    <dsp:sp modelId="{0B508851-791F-461A-8B13-C03D5C8D2D01}">
      <dsp:nvSpPr>
        <dsp:cNvPr id="0" name=""/>
        <dsp:cNvSpPr/>
      </dsp:nvSpPr>
      <dsp:spPr>
        <a:xfrm rot="11700000">
          <a:off x="2587732" y="2482122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A1374A4-490C-47E6-8C6D-7032CFB994D9}">
      <dsp:nvSpPr>
        <dsp:cNvPr id="0" name=""/>
        <dsp:cNvSpPr/>
      </dsp:nvSpPr>
      <dsp:spPr>
        <a:xfrm>
          <a:off x="1605855" y="1772936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</a:t>
          </a:r>
          <a:r>
            <a:rPr lang="en-US" altLang="zh-CN" sz="1800" kern="1200" dirty="0"/>
            <a:t>rontend</a:t>
          </a:r>
          <a:endParaRPr lang="en-US" sz="1800" kern="1200" dirty="0"/>
        </a:p>
      </dsp:txBody>
      <dsp:txXfrm>
        <a:off x="1653131" y="1820212"/>
        <a:ext cx="1923118" cy="1519584"/>
      </dsp:txXfrm>
    </dsp:sp>
    <dsp:sp modelId="{C99E5C73-92B9-432A-8542-A0E080AE70D8}">
      <dsp:nvSpPr>
        <dsp:cNvPr id="0" name=""/>
        <dsp:cNvSpPr/>
      </dsp:nvSpPr>
      <dsp:spPr>
        <a:xfrm rot="14700000">
          <a:off x="3644567" y="1222635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0432"/>
                <a:satOff val="-209"/>
                <a:lumOff val="66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90432"/>
                <a:satOff val="-209"/>
                <a:lumOff val="66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90432"/>
                <a:satOff val="-209"/>
                <a:lumOff val="66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9910C24-E8BB-4E83-9EE3-8B38AF49F0BE}">
      <dsp:nvSpPr>
        <dsp:cNvPr id="0" name=""/>
        <dsp:cNvSpPr/>
      </dsp:nvSpPr>
      <dsp:spPr>
        <a:xfrm>
          <a:off x="3092534" y="1182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90421"/>
                <a:satOff val="1725"/>
                <a:lumOff val="761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90421"/>
                <a:satOff val="1725"/>
                <a:lumOff val="761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90421"/>
                <a:satOff val="1725"/>
                <a:lumOff val="761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On Chain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(Smart Contract)</a:t>
          </a:r>
        </a:p>
      </dsp:txBody>
      <dsp:txXfrm>
        <a:off x="3139810" y="48458"/>
        <a:ext cx="1923118" cy="1519584"/>
      </dsp:txXfrm>
    </dsp:sp>
    <dsp:sp modelId="{A4A4E5B1-E85F-4670-A1B4-A4F340CE56DE}">
      <dsp:nvSpPr>
        <dsp:cNvPr id="0" name=""/>
        <dsp:cNvSpPr/>
      </dsp:nvSpPr>
      <dsp:spPr>
        <a:xfrm rot="17700000">
          <a:off x="5288709" y="1222635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80863"/>
                <a:satOff val="-417"/>
                <a:lumOff val="1324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180863"/>
                <a:satOff val="-417"/>
                <a:lumOff val="1324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180863"/>
                <a:satOff val="-417"/>
                <a:lumOff val="1324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4CC503B-7FB7-408A-AF3A-9F3803F6DE5A}">
      <dsp:nvSpPr>
        <dsp:cNvPr id="0" name=""/>
        <dsp:cNvSpPr/>
      </dsp:nvSpPr>
      <dsp:spPr>
        <a:xfrm>
          <a:off x="5405395" y="1182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80842"/>
                <a:satOff val="3450"/>
                <a:lumOff val="1523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180842"/>
                <a:satOff val="3450"/>
                <a:lumOff val="1523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180842"/>
                <a:satOff val="3450"/>
                <a:lumOff val="1523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Off chain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(Service)</a:t>
          </a:r>
        </a:p>
      </dsp:txBody>
      <dsp:txXfrm>
        <a:off x="5452671" y="48458"/>
        <a:ext cx="1923118" cy="1519584"/>
      </dsp:txXfrm>
    </dsp:sp>
    <dsp:sp modelId="{20072A80-5B85-456F-B135-F09F39FB8421}">
      <dsp:nvSpPr>
        <dsp:cNvPr id="0" name=""/>
        <dsp:cNvSpPr/>
      </dsp:nvSpPr>
      <dsp:spPr>
        <a:xfrm rot="20700000">
          <a:off x="6345544" y="2482122"/>
          <a:ext cx="1582323" cy="605301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271295"/>
                <a:satOff val="-626"/>
                <a:lumOff val="1987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90000"/>
                <a:hueOff val="271295"/>
                <a:satOff val="-626"/>
                <a:lumOff val="1987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90000"/>
                <a:hueOff val="271295"/>
                <a:satOff val="-626"/>
                <a:lumOff val="1987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63DE1F6-8FB7-478D-A720-8372BB2F7DB0}">
      <dsp:nvSpPr>
        <dsp:cNvPr id="0" name=""/>
        <dsp:cNvSpPr/>
      </dsp:nvSpPr>
      <dsp:spPr>
        <a:xfrm>
          <a:off x="6892074" y="1772936"/>
          <a:ext cx="2017670" cy="1614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271263"/>
                <a:satOff val="5175"/>
                <a:lumOff val="2285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shade val="80000"/>
                <a:hueOff val="271263"/>
                <a:satOff val="5175"/>
                <a:lumOff val="2285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shade val="80000"/>
                <a:hueOff val="271263"/>
                <a:satOff val="5175"/>
                <a:lumOff val="2285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</a:t>
          </a:r>
          <a:r>
            <a:rPr lang="en-US" altLang="zh-CN" sz="1800" kern="1200" dirty="0"/>
            <a:t>thers</a:t>
          </a:r>
          <a:endParaRPr lang="en-US" sz="1800" kern="1200" dirty="0"/>
        </a:p>
      </dsp:txBody>
      <dsp:txXfrm>
        <a:off x="6939350" y="1820212"/>
        <a:ext cx="1923118" cy="1519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D5AE7-B727-42C0-81FD-A4556D1D54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1FC22-9142-4997-A30C-48F8C2B59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0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9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9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6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6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9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0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3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5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5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31EA4A4-5D79-4817-B146-24029A2F3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36E32-AF1F-8441-82D8-D0397B5E9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397764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M</a:t>
            </a:r>
            <a:r>
              <a:rPr lang="en-US" altLang="zh-CN" sz="4800"/>
              <a:t>artingale Protocol(V1)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4A0D5-EC5F-603C-A223-D565212E3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3977640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12/3/2026</a:t>
            </a:r>
          </a:p>
        </p:txBody>
      </p:sp>
      <p:pic>
        <p:nvPicPr>
          <p:cNvPr id="6" name="Picture 5" descr="A logo with a triangle and a logo in the middle&#10;&#10;AI-generated content may be incorrect.">
            <a:extLst>
              <a:ext uri="{FF2B5EF4-FFF2-40B4-BE49-F238E27FC236}">
                <a16:creationId xmlns:a16="http://schemas.microsoft.com/office/drawing/2014/main" id="{D97C9E31-19E8-19C4-AB87-EE125965C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2"/>
          <a:stretch>
            <a:fillRect/>
          </a:stretch>
        </p:blipFill>
        <p:spPr>
          <a:xfrm>
            <a:off x="20" y="10"/>
            <a:ext cx="7443196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434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7FA8-D59E-A07A-353D-06172075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26A33F-629D-9C49-829D-B1CDBE275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8612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2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F0502020204030204" pitchFamily="34" charset="0"/>
              </a:rPr>
              <a:t>Ⅰ</a:t>
            </a:r>
            <a:r>
              <a:rPr lang="en-US" altLang="zh-CN" dirty="0"/>
              <a:t>——Mint/Burn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24F62A-E4F8-3498-BACB-014F37908D85}"/>
              </a:ext>
            </a:extLst>
          </p:cNvPr>
          <p:cNvSpPr/>
          <p:nvPr/>
        </p:nvSpPr>
        <p:spPr>
          <a:xfrm>
            <a:off x="1428144" y="3889544"/>
            <a:ext cx="8773297" cy="186442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D475AF-40C3-C7EB-FD4C-B4F70FF56C99}"/>
              </a:ext>
            </a:extLst>
          </p:cNvPr>
          <p:cNvSpPr/>
          <p:nvPr/>
        </p:nvSpPr>
        <p:spPr>
          <a:xfrm>
            <a:off x="3071942" y="2564722"/>
            <a:ext cx="1472540" cy="570016"/>
          </a:xfrm>
          <a:prstGeom prst="roundRect">
            <a:avLst/>
          </a:prstGeom>
          <a:solidFill>
            <a:srgbClr val="CC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</a:t>
            </a:r>
            <a:r>
              <a:rPr lang="en-US" altLang="zh-CN" sz="1600" dirty="0"/>
              <a:t>okenized</a:t>
            </a:r>
          </a:p>
          <a:p>
            <a:pPr algn="ctr"/>
            <a:r>
              <a:rPr lang="en-US" sz="1600" dirty="0"/>
              <a:t>Gold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BCE51A-F397-3844-674E-719DD3A09B00}"/>
              </a:ext>
            </a:extLst>
          </p:cNvPr>
          <p:cNvSpPr/>
          <p:nvPr/>
        </p:nvSpPr>
        <p:spPr>
          <a:xfrm>
            <a:off x="8627355" y="4193593"/>
            <a:ext cx="1440456" cy="51361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</a:t>
            </a:r>
          </a:p>
        </p:txBody>
      </p:sp>
      <p:sp>
        <p:nvSpPr>
          <p:cNvPr id="23" name="矩形: 圆角 23">
            <a:extLst>
              <a:ext uri="{FF2B5EF4-FFF2-40B4-BE49-F238E27FC236}">
                <a16:creationId xmlns:a16="http://schemas.microsoft.com/office/drawing/2014/main" id="{3C7B2A51-6FA6-27D9-9F10-C462A0C4A606}"/>
              </a:ext>
            </a:extLst>
          </p:cNvPr>
          <p:cNvSpPr/>
          <p:nvPr/>
        </p:nvSpPr>
        <p:spPr>
          <a:xfrm>
            <a:off x="4226374" y="4193593"/>
            <a:ext cx="1471569" cy="5136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S Token</a:t>
            </a:r>
            <a:endParaRPr lang="zh-CN" altLang="en-US" sz="1600" dirty="0"/>
          </a:p>
        </p:txBody>
      </p:sp>
      <p:sp>
        <p:nvSpPr>
          <p:cNvPr id="24" name="矩形: 圆角 24">
            <a:extLst>
              <a:ext uri="{FF2B5EF4-FFF2-40B4-BE49-F238E27FC236}">
                <a16:creationId xmlns:a16="http://schemas.microsoft.com/office/drawing/2014/main" id="{88B61D2B-8610-FB55-071E-6A79AA2DEBAF}"/>
              </a:ext>
            </a:extLst>
          </p:cNvPr>
          <p:cNvSpPr/>
          <p:nvPr/>
        </p:nvSpPr>
        <p:spPr>
          <a:xfrm>
            <a:off x="2043933" y="4196895"/>
            <a:ext cx="1471569" cy="5136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 Token</a:t>
            </a:r>
            <a:endParaRPr lang="zh-CN" altLang="en-US" sz="1600" dirty="0"/>
          </a:p>
        </p:txBody>
      </p:sp>
      <p:cxnSp>
        <p:nvCxnSpPr>
          <p:cNvPr id="25" name="直接箭头连接符 25">
            <a:extLst>
              <a:ext uri="{FF2B5EF4-FFF2-40B4-BE49-F238E27FC236}">
                <a16:creationId xmlns:a16="http://schemas.microsoft.com/office/drawing/2014/main" id="{8670F00A-C6F0-17BE-48C4-581657B8B5AB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flipH="1">
            <a:off x="2779718" y="3134738"/>
            <a:ext cx="1028494" cy="1062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直接箭头连接符 28">
            <a:extLst>
              <a:ext uri="{FF2B5EF4-FFF2-40B4-BE49-F238E27FC236}">
                <a16:creationId xmlns:a16="http://schemas.microsoft.com/office/drawing/2014/main" id="{ABE2742B-099F-37F4-61FB-FBB883B86CC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3808212" y="3134738"/>
            <a:ext cx="1153947" cy="105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文本框 33">
            <a:extLst>
              <a:ext uri="{FF2B5EF4-FFF2-40B4-BE49-F238E27FC236}">
                <a16:creationId xmlns:a16="http://schemas.microsoft.com/office/drawing/2014/main" id="{C34A7A2F-0A30-7B54-4FA5-D1C228BD3D46}"/>
              </a:ext>
            </a:extLst>
          </p:cNvPr>
          <p:cNvSpPr txBox="1"/>
          <p:nvPr/>
        </p:nvSpPr>
        <p:spPr>
          <a:xfrm>
            <a:off x="4889728" y="3954034"/>
            <a:ext cx="92506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ERC20</a:t>
            </a:r>
          </a:p>
        </p:txBody>
      </p:sp>
      <p:sp>
        <p:nvSpPr>
          <p:cNvPr id="28" name="文本框 34">
            <a:extLst>
              <a:ext uri="{FF2B5EF4-FFF2-40B4-BE49-F238E27FC236}">
                <a16:creationId xmlns:a16="http://schemas.microsoft.com/office/drawing/2014/main" id="{019448B1-1E75-F912-5181-F11EF0704A30}"/>
              </a:ext>
            </a:extLst>
          </p:cNvPr>
          <p:cNvSpPr txBox="1"/>
          <p:nvPr/>
        </p:nvSpPr>
        <p:spPr>
          <a:xfrm>
            <a:off x="1975455" y="3944684"/>
            <a:ext cx="88187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ERC1155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31A816-1EA2-0051-B289-A0F5AE429C82}"/>
              </a:ext>
            </a:extLst>
          </p:cNvPr>
          <p:cNvSpPr/>
          <p:nvPr/>
        </p:nvSpPr>
        <p:spPr>
          <a:xfrm>
            <a:off x="6408814" y="4193593"/>
            <a:ext cx="1471569" cy="513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AMM</a:t>
            </a:r>
            <a:endParaRPr lang="en-US" sz="1600" dirty="0">
              <a:sym typeface="Wingdings" panose="05000000000000000000" pitchFamily="2" charset="2"/>
            </a:endParaRPr>
          </a:p>
          <a:p>
            <a:pPr algn="ctr"/>
            <a:r>
              <a:rPr lang="en-US" sz="1600" dirty="0">
                <a:sym typeface="Wingdings" panose="05000000000000000000" pitchFamily="2" charset="2"/>
              </a:rPr>
              <a:t>(S+U)</a:t>
            </a:r>
            <a:endParaRPr lang="en-US" sz="1600" dirty="0"/>
          </a:p>
        </p:txBody>
      </p:sp>
      <p:cxnSp>
        <p:nvCxnSpPr>
          <p:cNvPr id="30" name="直接箭头连接符 28">
            <a:extLst>
              <a:ext uri="{FF2B5EF4-FFF2-40B4-BE49-F238E27FC236}">
                <a16:creationId xmlns:a16="http://schemas.microsoft.com/office/drawing/2014/main" id="{1B5693D6-75DC-50A4-8BD3-08F334D44638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5697943" y="4450401"/>
            <a:ext cx="710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AFA304-B448-D186-3E47-320E32B2BB71}"/>
              </a:ext>
            </a:extLst>
          </p:cNvPr>
          <p:cNvCxnSpPr>
            <a:cxnSpLocks/>
            <a:stCxn id="22" idx="1"/>
            <a:endCxn id="29" idx="3"/>
          </p:cNvCxnSpPr>
          <p:nvPr/>
        </p:nvCxnSpPr>
        <p:spPr>
          <a:xfrm flipH="1">
            <a:off x="7880383" y="4450401"/>
            <a:ext cx="7469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3">
            <a:extLst>
              <a:ext uri="{FF2B5EF4-FFF2-40B4-BE49-F238E27FC236}">
                <a16:creationId xmlns:a16="http://schemas.microsoft.com/office/drawing/2014/main" id="{42E2F5A1-9982-D805-035A-2A00700B5634}"/>
              </a:ext>
            </a:extLst>
          </p:cNvPr>
          <p:cNvSpPr txBox="1"/>
          <p:nvPr/>
        </p:nvSpPr>
        <p:spPr>
          <a:xfrm>
            <a:off x="3489776" y="2306997"/>
            <a:ext cx="76232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00000"/>
                </a:solidFill>
              </a:rPr>
              <a:t>ERC20</a:t>
            </a:r>
          </a:p>
        </p:txBody>
      </p:sp>
      <p:sp>
        <p:nvSpPr>
          <p:cNvPr id="33" name="矩形: 圆角 24">
            <a:extLst>
              <a:ext uri="{FF2B5EF4-FFF2-40B4-BE49-F238E27FC236}">
                <a16:creationId xmlns:a16="http://schemas.microsoft.com/office/drawing/2014/main" id="{7D3BF3E2-9244-CC12-F3AA-F4F1794F0262}"/>
              </a:ext>
            </a:extLst>
          </p:cNvPr>
          <p:cNvSpPr/>
          <p:nvPr/>
        </p:nvSpPr>
        <p:spPr>
          <a:xfrm>
            <a:off x="2043933" y="5142474"/>
            <a:ext cx="1471569" cy="513615"/>
          </a:xfrm>
          <a:prstGeom prst="roundRect">
            <a:avLst/>
          </a:prstGeom>
          <a:solidFill>
            <a:srgbClr val="C00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Liquidation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A23329-F1FA-6064-27C0-D59C1FFC7637}"/>
              </a:ext>
            </a:extLst>
          </p:cNvPr>
          <p:cNvCxnSpPr>
            <a:cxnSpLocks/>
            <a:stCxn id="33" idx="0"/>
            <a:endCxn id="24" idx="2"/>
          </p:cNvCxnSpPr>
          <p:nvPr/>
        </p:nvCxnSpPr>
        <p:spPr>
          <a:xfrm flipV="1">
            <a:off x="2779718" y="4710510"/>
            <a:ext cx="0" cy="431964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AE2D7DF-A684-6409-2541-F7198041D469}"/>
              </a:ext>
            </a:extLst>
          </p:cNvPr>
          <p:cNvSpPr txBox="1"/>
          <p:nvPr/>
        </p:nvSpPr>
        <p:spPr>
          <a:xfrm>
            <a:off x="3373654" y="3600422"/>
            <a:ext cx="994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Mint/Burn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BD66A8-E96A-5686-FEF6-8DA10D4D12DD}"/>
              </a:ext>
            </a:extLst>
          </p:cNvPr>
          <p:cNvSpPr/>
          <p:nvPr/>
        </p:nvSpPr>
        <p:spPr>
          <a:xfrm>
            <a:off x="4226374" y="5142473"/>
            <a:ext cx="1471569" cy="513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Wingdings" panose="05000000000000000000" pitchFamily="2" charset="2"/>
              </a:rPr>
              <a:t>Oracle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2FBD74-57E3-CDC8-CD11-BD741C4DABA2}"/>
              </a:ext>
            </a:extLst>
          </p:cNvPr>
          <p:cNvCxnSpPr>
            <a:cxnSpLocks/>
            <a:stCxn id="36" idx="1"/>
            <a:endCxn id="33" idx="3"/>
          </p:cNvCxnSpPr>
          <p:nvPr/>
        </p:nvCxnSpPr>
        <p:spPr>
          <a:xfrm flipH="1">
            <a:off x="3515502" y="5399281"/>
            <a:ext cx="710872" cy="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Plus Sign 37">
            <a:extLst>
              <a:ext uri="{FF2B5EF4-FFF2-40B4-BE49-F238E27FC236}">
                <a16:creationId xmlns:a16="http://schemas.microsoft.com/office/drawing/2014/main" id="{8DF5F8D3-B310-4522-ED36-F19AFA728857}"/>
              </a:ext>
            </a:extLst>
          </p:cNvPr>
          <p:cNvSpPr/>
          <p:nvPr/>
        </p:nvSpPr>
        <p:spPr>
          <a:xfrm>
            <a:off x="3792006" y="4326005"/>
            <a:ext cx="254630" cy="24879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8F5BD-C211-AAAB-25FE-5E9006069555}"/>
              </a:ext>
            </a:extLst>
          </p:cNvPr>
          <p:cNvSpPr txBox="1"/>
          <p:nvPr/>
        </p:nvSpPr>
        <p:spPr>
          <a:xfrm>
            <a:off x="6805115" y="3588300"/>
            <a:ext cx="842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Pro</a:t>
            </a:r>
            <a:r>
              <a:rPr lang="en-US" altLang="zh-CN" sz="1200" b="1" dirty="0">
                <a:solidFill>
                  <a:srgbClr val="7030A0"/>
                </a:solidFill>
              </a:rPr>
              <a:t>tocol</a:t>
            </a:r>
            <a:endParaRPr lang="en-US" sz="1200" b="1" dirty="0">
              <a:solidFill>
                <a:srgbClr val="7030A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E94DD7-644D-02A6-CD5B-83F930CB02E5}"/>
              </a:ext>
            </a:extLst>
          </p:cNvPr>
          <p:cNvSpPr/>
          <p:nvPr/>
        </p:nvSpPr>
        <p:spPr>
          <a:xfrm>
            <a:off x="6407843" y="2576815"/>
            <a:ext cx="1472540" cy="570016"/>
          </a:xfrm>
          <a:prstGeom prst="roundRect">
            <a:avLst/>
          </a:prstGeom>
          <a:solidFill>
            <a:srgbClr val="CC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Physical Gold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AB0704-2769-A1AC-3760-B6861E8E47F5}"/>
              </a:ext>
            </a:extLst>
          </p:cNvPr>
          <p:cNvCxnSpPr>
            <a:cxnSpLocks/>
            <a:stCxn id="21" idx="3"/>
            <a:endCxn id="6" idx="1"/>
          </p:cNvCxnSpPr>
          <p:nvPr/>
        </p:nvCxnSpPr>
        <p:spPr>
          <a:xfrm>
            <a:off x="4544482" y="2849730"/>
            <a:ext cx="1863361" cy="12093"/>
          </a:xfrm>
          <a:prstGeom prst="straightConnector1">
            <a:avLst/>
          </a:prstGeom>
          <a:ln w="19050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31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F0502020204030204" pitchFamily="34" charset="0"/>
              </a:rPr>
              <a:t>Ⅰ</a:t>
            </a:r>
            <a:r>
              <a:rPr lang="en-US" altLang="zh-CN" dirty="0"/>
              <a:t>——Mint/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Burn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Picture 20" descr="A graph with numbers and a rainbow colored arc">
            <a:extLst>
              <a:ext uri="{FF2B5EF4-FFF2-40B4-BE49-F238E27FC236}">
                <a16:creationId xmlns:a16="http://schemas.microsoft.com/office/drawing/2014/main" id="{74F42B69-3F42-0683-EF97-007F552F5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040" y="2986644"/>
            <a:ext cx="4288971" cy="22822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76B384F-FC88-4CDA-ED23-84DA97D585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7408" y="1875223"/>
                <a:ext cx="11155680" cy="47970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800" dirty="0"/>
                  <a:t>系統參數：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=75% </m:t>
                    </m:r>
                  </m:oMath>
                </a14:m>
                <a:r>
                  <a:rPr lang="en-US" altLang="zh-CN" sz="1800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𝑞𝑢𝑖𝑑𝑎𝑡𝑖𝑜𝑛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𝐿𝑇𝑉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+5% </m:t>
                    </m:r>
                  </m:oMath>
                </a14:m>
                <a:endParaRPr lang="zh-CN" altLang="en-US" sz="1800" dirty="0"/>
              </a:p>
              <a:p>
                <a:r>
                  <a:rPr lang="zh-CN" altLang="en-US" sz="1800" dirty="0"/>
                  <a:t>鑄幣：質押數量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CN" altLang="en-US" sz="1800" dirty="0"/>
                  <a:t>標的</a:t>
                </a:r>
                <a:r>
                  <a:rPr lang="en-US" altLang="zh-CN" sz="1800" dirty="0"/>
                  <a:t> 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 </a:t>
                </a:r>
                <a:r>
                  <a:rPr lang="zh-CN" altLang="en-US" sz="1800" dirty="0">
                    <a:sym typeface="Wingdings" panose="05000000000000000000" pitchFamily="2" charset="2"/>
                  </a:rPr>
                  <a:t>提取數量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sz="1800" dirty="0"/>
                  <a:t>穩定幣</a:t>
                </a:r>
                <a:r>
                  <a:rPr lang="en-US" altLang="zh-CN" sz="1800" dirty="0"/>
                  <a:t>(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𝑳𝑻𝑽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max</m:t>
                        </m:r>
                      </m:sub>
                    </m:sSub>
                    <m:r>
                      <a:rPr lang="en-US" altLang="zh-CN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𝑵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𝑮</m:t>
                        </m:r>
                      </m:sub>
                    </m:sSub>
                    <m:r>
                      <a:rPr lang="en-US" altLang="zh-CN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sz="1800" dirty="0"/>
                  <a:t>)+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dirty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zh-CN" altLang="en-US" sz="1800" dirty="0">
                        <a:latin typeface="Cambria Math" panose="02040503050406030204" pitchFamily="18" charset="0"/>
                      </a:rPr>
                      <m:t>杠桿幣</m:t>
                    </m:r>
                  </m:oMath>
                </a14:m>
                <a:r>
                  <a:rPr lang="en-US" altLang="zh-CN" sz="1800" dirty="0"/>
                  <a:t> </a:t>
                </a:r>
              </a:p>
              <a:p>
                <a:pPr lvl="1"/>
                <a:r>
                  <a:rPr lang="zh-CN" altLang="en-US" sz="1400" dirty="0">
                    <a:sym typeface="Wingdings" panose="05000000000000000000" pitchFamily="2" charset="2"/>
                  </a:rPr>
                  <a:t>鑄幣時：</a:t>
                </a: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lvl="2"/>
                <a:r>
                  <a:rPr lang="zh-CN" altLang="en-US" sz="1400" b="1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𝑵</m:t>
                        </m:r>
                      </m:e>
                      <m:sub>
                        <m: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𝑺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𝑵</m:t>
                        </m:r>
                      </m:e>
                      <m:sub>
                        <m: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𝑳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  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  =</m:t>
                    </m:r>
                    <m:sSub>
                      <m:sSubPr>
                        <m:ctrlPr>
                          <a:rPr lang="en-US" altLang="zh-CN" sz="1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1400" b="1" dirty="0"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𝑳𝑻𝑽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4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400" b="1" dirty="0"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𝑵𝑨𝑽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zh-CN" sz="1400" b="1" dirty="0">
                    <a:sym typeface="Wingdings" panose="05000000000000000000" pitchFamily="2" charset="2"/>
                  </a:rPr>
                  <a:t> 1</a:t>
                </a:r>
              </a:p>
              <a:p>
                <a:pPr lvl="1"/>
                <a:r>
                  <a:rPr lang="zh-CN" altLang="en-US" sz="1400" dirty="0">
                    <a:sym typeface="Wingdings" panose="05000000000000000000" pitchFamily="2" charset="2"/>
                  </a:rPr>
                  <a:t>鑄幣后：</a:t>
                </a: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altLang="zh-CN" sz="1400" b="1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𝑵</m:t>
                        </m:r>
                      </m:e>
                      <m:sub>
                        <m: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𝑺</m:t>
                        </m:r>
                      </m:sub>
                    </m:sSub>
                    <m:r>
                      <a:rPr lang="en-US" altLang="zh-CN" sz="14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US" altLang="zh-CN" sz="14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  <m:r>
                      <a:rPr lang="en-US" altLang="zh-CN" sz="14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𝑵</m:t>
                        </m:r>
                      </m:e>
                      <m:sub>
                        <m:r>
                          <a:rPr lang="en-US" altLang="zh-CN" sz="1400" b="1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Wingdings" panose="05000000000000000000" pitchFamily="2" charset="2"/>
                          </a:rPr>
                          <m:t>𝑳</m:t>
                        </m:r>
                      </m:sub>
                    </m:sSub>
                    <m:r>
                      <a:rPr lang="en-US" altLang="zh-CN" sz="14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𝑵𝑨𝑽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𝑵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𝑮</m:t>
                        </m:r>
                      </m:sub>
                    </m:sSub>
                    <m:r>
                      <a:rPr lang="en-US" altLang="zh-CN" sz="14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4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</m:oMath>
                </a14:m>
                <a:endParaRPr lang="en-US" altLang="zh-CN" sz="1400" b="1" dirty="0"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𝑳𝑻𝑽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4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 dirty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400" b="1" dirty="0">
                    <a:sym typeface="Wingdings" panose="05000000000000000000" pitchFamily="2" charset="2"/>
                  </a:rPr>
                  <a:t>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𝑵𝑨𝑽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t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𝑮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𝒔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𝑳</m:t>
                            </m:r>
                          </m:sub>
                        </m:sSub>
                      </m:den>
                    </m:f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𝑳𝑻𝑽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𝑳𝑻𝑽</m:t>
                            </m:r>
                          </m:e>
                          <m:sub>
                            <m:r>
                              <a:rPr lang="en-US" altLang="zh-CN" sz="1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t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num>
                      <m:den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𝐿𝑇𝑉</m:t>
                            </m:r>
                          </m:e>
                          <m:sub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𝟏</m:t>
                    </m:r>
                  </m:oMath>
                </a14:m>
                <a:endParaRPr lang="en-US" altLang="zh-CN" sz="1400" b="1" i="1" dirty="0">
                  <a:solidFill>
                    <a:schemeClr val="tx1"/>
                  </a:solidFill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457200" lvl="2" indent="0">
                  <a:buNone/>
                </a:pPr>
                <a:r>
                  <a:rPr lang="en-US" altLang="zh-CN" sz="1400" b="1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𝑁𝐴𝑉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僅</m:t>
                    </m:r>
                    <m:r>
                      <m:rPr>
                        <m:nor/>
                      </m:rPr>
                      <a:rPr lang="zh-CN" altLang="en-US" sz="1400" dirty="0">
                        <a:sym typeface="Wingdings" panose="05000000000000000000" pitchFamily="2" charset="2"/>
                      </a:rPr>
                      <m:t>與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反向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𝐿𝑇𝑉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不定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正向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有關係</m:t>
                    </m:r>
                    <m:r>
                      <m:rPr>
                        <m:nor/>
                      </m:rPr>
                      <a:rPr lang="en-US" altLang="zh-CN" sz="1400" b="1" dirty="0"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nor/>
                      </m:rPr>
                      <a:rPr lang="zh-CN" altLang="en-US" sz="1400" dirty="0"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為計算</m:t>
                    </m:r>
                    <m:r>
                      <a:rPr lang="zh-CN" altLang="en-US" sz="14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智能</m:t>
                    </m:r>
                    <m:r>
                      <a:rPr lang="zh-CN" altLang="en-US" sz="14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合约</m:t>
                    </m:r>
                    <m:r>
                      <a:rPr lang="zh-CN" altLang="en-US" sz="14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变量</m:t>
                    </m:r>
                    <m:r>
                      <m:rPr>
                        <m:nor/>
                      </m:rPr>
                      <a:rPr lang="en-US" altLang="zh-CN" sz="1400" dirty="0" err="1"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TokenInfo</m:t>
                    </m:r>
                    <m:r>
                      <m:rPr>
                        <m:nor/>
                      </m:rPr>
                      <a:rPr lang="zh-CN" altLang="en-US" sz="1400" dirty="0"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中僅需保存</m:t>
                    </m:r>
                    <m:r>
                      <m:rPr>
                        <m:nor/>
                      </m:rPr>
                      <a:rPr lang="en-US" altLang="zh-CN" sz="1400" dirty="0"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𝐿𝑇𝑉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400" dirty="0">
                        <a:cs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1400" dirty="0">
                  <a:solidFill>
                    <a:srgbClr val="C00000"/>
                  </a:solidFill>
                  <a:cs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457200" lvl="2" indent="0">
                  <a:buNone/>
                </a:pPr>
                <a:endParaRPr lang="en-US" altLang="zh-CN" sz="1400" b="1" i="1" dirty="0">
                  <a:solidFill>
                    <a:schemeClr val="tx1"/>
                  </a:solidFill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2"/>
                <a:endParaRPr lang="en-US" altLang="zh-CN" sz="1400" b="1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228600" lvl="1" indent="0">
                  <a:buNone/>
                </a:pP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lvl="1" indent="0">
                  <a:buFont typeface="Arial" panose="020B0604020202020204" pitchFamily="34" charset="0"/>
                  <a:buNone/>
                </a:pPr>
                <a:endParaRPr lang="en-US" altLang="zh-CN" sz="1400" dirty="0">
                  <a:sym typeface="Wingdings" panose="05000000000000000000" pitchFamily="2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sz="1400" dirty="0"/>
              </a:p>
            </p:txBody>
          </p:sp>
        </mc:Choice>
        <mc:Fallback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676B384F-FC88-4CDA-ED23-84DA97D58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" y="1875223"/>
                <a:ext cx="11155680" cy="4797040"/>
              </a:xfrm>
              <a:prstGeom prst="rect">
                <a:avLst/>
              </a:prstGeom>
              <a:blipFill>
                <a:blip r:embed="rId3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3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9C1707-5372-D654-4875-8F8E62E16547}"/>
              </a:ext>
            </a:extLst>
          </p:cNvPr>
          <p:cNvSpPr/>
          <p:nvPr/>
        </p:nvSpPr>
        <p:spPr>
          <a:xfrm>
            <a:off x="6592156" y="2863547"/>
            <a:ext cx="3364891" cy="307230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Ⅱ</a:t>
            </a:r>
            <a:r>
              <a:rPr lang="en-US" altLang="zh-CN" dirty="0"/>
              <a:t>——Interest Rate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74B9EA-C4AA-E10E-ECE8-BB1238026C02}"/>
              </a:ext>
            </a:extLst>
          </p:cNvPr>
          <p:cNvSpPr/>
          <p:nvPr/>
        </p:nvSpPr>
        <p:spPr>
          <a:xfrm>
            <a:off x="2802582" y="2909456"/>
            <a:ext cx="1715984" cy="59376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  <a:r>
              <a:rPr lang="en-US" altLang="zh-CN" dirty="0"/>
              <a:t>ser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0A0278-2014-C414-A17D-183D83DDCA82}"/>
              </a:ext>
            </a:extLst>
          </p:cNvPr>
          <p:cNvSpPr/>
          <p:nvPr/>
        </p:nvSpPr>
        <p:spPr>
          <a:xfrm>
            <a:off x="7339419" y="4706588"/>
            <a:ext cx="1715984" cy="59376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AMM(U+S)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634465-A4F1-CF35-6A37-76670F6AFE10}"/>
              </a:ext>
            </a:extLst>
          </p:cNvPr>
          <p:cNvSpPr/>
          <p:nvPr/>
        </p:nvSpPr>
        <p:spPr>
          <a:xfrm>
            <a:off x="2808932" y="5300354"/>
            <a:ext cx="1715984" cy="593766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Pleasing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5A95816-A546-AC9A-C299-54C322F3345B}"/>
              </a:ext>
            </a:extLst>
          </p:cNvPr>
          <p:cNvCxnSpPr>
            <a:cxnSpLocks/>
            <a:stCxn id="10" idx="2"/>
            <a:endCxn id="17" idx="1"/>
          </p:cNvCxnSpPr>
          <p:nvPr/>
        </p:nvCxnSpPr>
        <p:spPr>
          <a:xfrm rot="5400000">
            <a:off x="2187746" y="4124408"/>
            <a:ext cx="2094015" cy="851642"/>
          </a:xfrm>
          <a:prstGeom prst="curvedConnector4">
            <a:avLst>
              <a:gd name="adj1" fmla="val 42911"/>
              <a:gd name="adj2" fmla="val 126842"/>
            </a:avLst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B541D3FD-40B8-8057-D04D-51D3FF298610}"/>
              </a:ext>
            </a:extLst>
          </p:cNvPr>
          <p:cNvCxnSpPr>
            <a:cxnSpLocks/>
            <a:stCxn id="17" idx="3"/>
            <a:endCxn id="10" idx="2"/>
          </p:cNvCxnSpPr>
          <p:nvPr/>
        </p:nvCxnSpPr>
        <p:spPr>
          <a:xfrm flipH="1" flipV="1">
            <a:off x="3660574" y="3503222"/>
            <a:ext cx="864342" cy="2094015"/>
          </a:xfrm>
          <a:prstGeom prst="curvedConnector4">
            <a:avLst>
              <a:gd name="adj1" fmla="val -26448"/>
              <a:gd name="adj2" fmla="val 57089"/>
            </a:avLst>
          </a:prstGeom>
          <a:ln w="19050">
            <a:solidFill>
              <a:schemeClr val="bg2">
                <a:lumMod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56C13A-842A-8891-7E53-F8FB95BCC901}"/>
              </a:ext>
            </a:extLst>
          </p:cNvPr>
          <p:cNvSpPr txBox="1"/>
          <p:nvPr/>
        </p:nvSpPr>
        <p:spPr>
          <a:xfrm>
            <a:off x="4726259" y="5003471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dirty="0">
                <a:solidFill>
                  <a:schemeClr val="bg2">
                    <a:lumMod val="25000"/>
                  </a:schemeClr>
                </a:solidFill>
              </a:rPr>
              <a:t>PG</a:t>
            </a:r>
            <a:r>
              <a:rPr lang="en-US" altLang="zh-CN" sz="1200" i="1" u="sng" dirty="0">
                <a:solidFill>
                  <a:schemeClr val="bg2">
                    <a:lumMod val="25000"/>
                  </a:schemeClr>
                </a:solidFill>
              </a:rPr>
              <a:t>old</a:t>
            </a:r>
            <a:endParaRPr lang="en-US" sz="1200" i="1" u="sng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A8093B-27FB-3766-ACBD-2BC6372D9016}"/>
              </a:ext>
            </a:extLst>
          </p:cNvPr>
          <p:cNvSpPr txBox="1"/>
          <p:nvPr/>
        </p:nvSpPr>
        <p:spPr>
          <a:xfrm>
            <a:off x="1965726" y="500558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i="1" u="sng" dirty="0">
                <a:solidFill>
                  <a:schemeClr val="accent6"/>
                </a:solidFill>
              </a:rPr>
              <a:t>實物金</a:t>
            </a:r>
            <a:endParaRPr lang="en-US" sz="1200" i="1" u="sng" dirty="0">
              <a:solidFill>
                <a:schemeClr val="accent6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A7F9E1-32CB-8CD6-94AB-E418629AC6B3}"/>
              </a:ext>
            </a:extLst>
          </p:cNvPr>
          <p:cNvSpPr/>
          <p:nvPr/>
        </p:nvSpPr>
        <p:spPr>
          <a:xfrm>
            <a:off x="7339419" y="3503222"/>
            <a:ext cx="1715984" cy="59376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altLang="zh-CN" dirty="0"/>
              <a:t>rancheVault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061EE8-7B54-1285-1BC3-C32C0230EB16}"/>
              </a:ext>
            </a:extLst>
          </p:cNvPr>
          <p:cNvSpPr txBox="1"/>
          <p:nvPr/>
        </p:nvSpPr>
        <p:spPr>
          <a:xfrm>
            <a:off x="7537862" y="2494216"/>
            <a:ext cx="17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Martingale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1B7DD9-FBAF-7701-66AF-B897226590C4}"/>
              </a:ext>
            </a:extLst>
          </p:cNvPr>
          <p:cNvCxnSpPr>
            <a:stCxn id="10" idx="3"/>
            <a:endCxn id="29" idx="1"/>
          </p:cNvCxnSpPr>
          <p:nvPr/>
        </p:nvCxnSpPr>
        <p:spPr>
          <a:xfrm>
            <a:off x="4518566" y="3206339"/>
            <a:ext cx="2820853" cy="593766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7C3E55-A859-14E4-AB6C-425B73DADFC5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4518566" y="3206339"/>
            <a:ext cx="2820853" cy="1797132"/>
          </a:xfrm>
          <a:prstGeom prst="straightConnector1">
            <a:avLst/>
          </a:prstGeom>
          <a:ln w="19050">
            <a:solidFill>
              <a:srgbClr val="7030A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ED168F2-B9C8-4C06-F9A5-BFF2572A0B8E}"/>
              </a:ext>
            </a:extLst>
          </p:cNvPr>
          <p:cNvSpPr txBox="1"/>
          <p:nvPr/>
        </p:nvSpPr>
        <p:spPr>
          <a:xfrm>
            <a:off x="5418226" y="3204468"/>
            <a:ext cx="1481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solidFill>
                  <a:srgbClr val="C00000"/>
                </a:solidFill>
              </a:rPr>
              <a:t>PG</a:t>
            </a:r>
            <a:r>
              <a:rPr lang="en-US" altLang="zh-CN" sz="1200" i="1" u="sng" dirty="0">
                <a:solidFill>
                  <a:srgbClr val="C00000"/>
                </a:solidFill>
              </a:rPr>
              <a:t>old</a:t>
            </a:r>
            <a:r>
              <a:rPr lang="en-US" sz="1200" i="1" u="sng" dirty="0">
                <a:solidFill>
                  <a:srgbClr val="C00000"/>
                </a:solidFill>
                <a:sym typeface="Wingdings" panose="05000000000000000000" pitchFamily="2" charset="2"/>
              </a:rPr>
              <a:t></a:t>
            </a:r>
            <a:r>
              <a:rPr lang="en-US" sz="1200" i="1" u="sng" dirty="0">
                <a:solidFill>
                  <a:srgbClr val="C00000"/>
                </a:solidFill>
              </a:rPr>
              <a:t>S &amp; 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265AE5-5503-84ED-FAAC-DE47D8E40207}"/>
              </a:ext>
            </a:extLst>
          </p:cNvPr>
          <p:cNvSpPr txBox="1"/>
          <p:nvPr/>
        </p:nvSpPr>
        <p:spPr>
          <a:xfrm>
            <a:off x="5707912" y="4334539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u="sng" dirty="0">
                <a:solidFill>
                  <a:srgbClr val="7030A0"/>
                </a:solidFill>
              </a:rPr>
              <a:t>U </a:t>
            </a:r>
            <a:r>
              <a:rPr lang="en-US" sz="1200" i="1" u="sng" dirty="0">
                <a:solidFill>
                  <a:srgbClr val="7030A0"/>
                </a:solidFill>
                <a:sym typeface="Wingdings" panose="05000000000000000000" pitchFamily="2" charset="2"/>
              </a:rPr>
              <a:t> S</a:t>
            </a:r>
            <a:endParaRPr lang="en-US" sz="1200" i="1" u="sng" dirty="0">
              <a:solidFill>
                <a:srgbClr val="7030A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3C6F3C-687B-86B0-6827-63DEF902770F}"/>
              </a:ext>
            </a:extLst>
          </p:cNvPr>
          <p:cNvSpPr txBox="1"/>
          <p:nvPr/>
        </p:nvSpPr>
        <p:spPr>
          <a:xfrm>
            <a:off x="2111049" y="6131671"/>
            <a:ext cx="3511917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第一次借貸：借出實物黃金獲得</a:t>
            </a:r>
            <a:r>
              <a:rPr lang="en-US" altLang="zh-CN" sz="1200" dirty="0"/>
              <a:t>Token, </a:t>
            </a:r>
            <a:r>
              <a:rPr lang="zh-CN" altLang="en-US" sz="1200" dirty="0"/>
              <a:t>獲得利息</a:t>
            </a: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F76118-7711-6EED-B583-6005C8F49174}"/>
              </a:ext>
            </a:extLst>
          </p:cNvPr>
          <p:cNvSpPr txBox="1"/>
          <p:nvPr/>
        </p:nvSpPr>
        <p:spPr>
          <a:xfrm>
            <a:off x="6518642" y="6127758"/>
            <a:ext cx="3511917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第二次借貸：抵押</a:t>
            </a:r>
            <a:r>
              <a:rPr lang="en-US" altLang="zh-CN" sz="1200" dirty="0"/>
              <a:t>Token</a:t>
            </a:r>
            <a:r>
              <a:rPr lang="zh-CN" altLang="en-US" sz="1200" dirty="0"/>
              <a:t>借入</a:t>
            </a:r>
            <a:r>
              <a:rPr lang="en-US" altLang="zh-CN" sz="1200" dirty="0"/>
              <a:t>U, </a:t>
            </a:r>
            <a:r>
              <a:rPr lang="zh-CN" altLang="en-US" sz="1200" dirty="0"/>
              <a:t>支付利息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5572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Ⅱ</a:t>
            </a:r>
            <a:r>
              <a:rPr lang="en-US" altLang="zh-CN" dirty="0"/>
              <a:t>——Interest 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22F5-980B-4709-4144-4D65E65CD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Doc</a:t>
            </a:r>
            <a:r>
              <a:rPr lang="zh-CN" altLang="en-US" dirty="0"/>
              <a:t>中定義：</a:t>
            </a:r>
            <a:endParaRPr lang="en-US" altLang="zh-CN" dirty="0"/>
          </a:p>
          <a:p>
            <a:pPr lvl="1"/>
            <a:r>
              <a:rPr lang="en-US" sz="1600" b="0" dirty="0" err="1">
                <a:solidFill>
                  <a:srgbClr val="1C1D1F"/>
                </a:solidFill>
                <a:effectLst/>
                <a:latin typeface="KaTeX_Math"/>
              </a:rPr>
              <a:t>GrossBorrowRate</a:t>
            </a:r>
            <a:r>
              <a:rPr lang="en-US" sz="1600" b="0" dirty="0">
                <a:solidFill>
                  <a:srgbClr val="1C1D1F"/>
                </a:solidFill>
                <a:effectLst/>
                <a:latin typeface="KaTeX_Main"/>
              </a:rPr>
              <a:t>=</a:t>
            </a:r>
            <a:r>
              <a:rPr lang="en-US" sz="1600" b="0" dirty="0" err="1">
                <a:solidFill>
                  <a:srgbClr val="1C1D1F"/>
                </a:solidFill>
                <a:effectLst/>
                <a:latin typeface="KaTeX_Math"/>
              </a:rPr>
              <a:t>BaseRate</a:t>
            </a:r>
            <a:r>
              <a:rPr lang="en-US" sz="1600" b="0" dirty="0" err="1">
                <a:solidFill>
                  <a:srgbClr val="1C1D1F"/>
                </a:solidFill>
                <a:effectLst/>
                <a:latin typeface="KaTeX_Main"/>
              </a:rPr>
              <a:t>+</a:t>
            </a:r>
            <a:r>
              <a:rPr lang="en-US" sz="1600" b="0" dirty="0" err="1">
                <a:solidFill>
                  <a:srgbClr val="1C1D1F"/>
                </a:solidFill>
                <a:effectLst/>
                <a:latin typeface="KaTeX_Math"/>
              </a:rPr>
              <a:t>UtilizationFactor</a:t>
            </a:r>
            <a:r>
              <a:rPr lang="en-US" sz="1600" b="0" dirty="0" err="1">
                <a:solidFill>
                  <a:srgbClr val="1C1D1F"/>
                </a:solidFill>
                <a:effectLst/>
                <a:latin typeface="KaTeX_Main"/>
              </a:rPr>
              <a:t>+</a:t>
            </a:r>
            <a:r>
              <a:rPr lang="en-US" sz="1600" b="0" dirty="0" err="1">
                <a:solidFill>
                  <a:srgbClr val="1C1D1F"/>
                </a:solidFill>
                <a:effectLst/>
                <a:latin typeface="KaTeX_Math"/>
              </a:rPr>
              <a:t>CollateralRiskPremium</a:t>
            </a:r>
            <a:endParaRPr lang="en-US" sz="1600" b="0" dirty="0">
              <a:solidFill>
                <a:srgbClr val="1C1D1F"/>
              </a:solidFill>
              <a:effectLst/>
              <a:latin typeface="KaTeX_Math"/>
            </a:endParaRPr>
          </a:p>
          <a:p>
            <a:r>
              <a:rPr lang="zh-CN" altLang="en-US" dirty="0"/>
              <a:t>利息支付方式：</a:t>
            </a:r>
            <a:endParaRPr lang="en-US" altLang="zh-CN" dirty="0"/>
          </a:p>
          <a:p>
            <a:pPr lvl="1"/>
            <a:r>
              <a:rPr lang="zh-CN" altLang="en-US" sz="1400" dirty="0"/>
              <a:t>按照借出的</a:t>
            </a:r>
            <a:r>
              <a:rPr lang="en-US" altLang="zh-CN" sz="1400" dirty="0"/>
              <a:t>S</a:t>
            </a:r>
            <a:r>
              <a:rPr lang="zh-CN" altLang="en-US" sz="1400" dirty="0"/>
              <a:t>的數量收取利息，由</a:t>
            </a:r>
            <a:r>
              <a:rPr lang="en-US" altLang="zh-CN" sz="1400" dirty="0"/>
              <a:t>L</a:t>
            </a:r>
            <a:r>
              <a:rPr lang="zh-CN" altLang="en-US" sz="1400" dirty="0"/>
              <a:t>持有者支付</a:t>
            </a:r>
            <a:endParaRPr lang="en-US" altLang="zh-CN" sz="1400" dirty="0"/>
          </a:p>
          <a:p>
            <a:pPr lvl="1"/>
            <a:r>
              <a:rPr lang="zh-CN" altLang="en-US" sz="1400" dirty="0"/>
              <a:t>按秒纍計利息</a:t>
            </a:r>
            <a:r>
              <a:rPr lang="en-US" altLang="zh-CN" sz="1400" dirty="0"/>
              <a:t>(</a:t>
            </a:r>
            <a:r>
              <a:rPr lang="zh-CN" altLang="en-US" sz="1400" dirty="0"/>
              <a:t>比如將</a:t>
            </a:r>
            <a:r>
              <a:rPr lang="en-US" altLang="zh-CN" sz="1400" dirty="0"/>
              <a:t>5%</a:t>
            </a:r>
            <a:r>
              <a:rPr lang="zh-CN" altLang="en-US" sz="1400" dirty="0"/>
              <a:t>的年化轉化為每秒利率</a:t>
            </a:r>
            <a:r>
              <a:rPr lang="en-US" altLang="zh-CN" sz="1400" dirty="0"/>
              <a:t>)</a:t>
            </a:r>
          </a:p>
          <a:p>
            <a:pPr lvl="1"/>
            <a:r>
              <a:rPr lang="zh-CN" altLang="en-US" sz="1400" dirty="0"/>
              <a:t>平倉時一次性以標的資產扣除</a:t>
            </a:r>
            <a:endParaRPr lang="en-US" sz="1200" dirty="0"/>
          </a:p>
          <a:p>
            <a:r>
              <a:rPr lang="en-US" dirty="0"/>
              <a:t>Y</a:t>
            </a:r>
            <a:r>
              <a:rPr lang="en-US" altLang="zh-CN" dirty="0"/>
              <a:t>ield</a:t>
            </a:r>
            <a:r>
              <a:rPr lang="zh-CN" altLang="en-US" dirty="0"/>
              <a:t>補貼方式：</a:t>
            </a:r>
            <a:endParaRPr lang="en-US" altLang="zh-CN" dirty="0"/>
          </a:p>
          <a:p>
            <a:pPr lvl="1"/>
            <a:r>
              <a:rPr lang="zh-CN" altLang="en-US" sz="1600" dirty="0"/>
              <a:t>按照質押的標的資產獲得補貼</a:t>
            </a:r>
            <a:endParaRPr lang="en-US" altLang="zh-CN" sz="1600" dirty="0"/>
          </a:p>
          <a:p>
            <a:pPr lvl="1"/>
            <a:r>
              <a:rPr lang="zh-CN" altLang="en-US" sz="1600" dirty="0"/>
              <a:t>平倉時以標的資產補貼</a:t>
            </a:r>
            <a:endParaRPr lang="en-US" altLang="zh-CN" sz="1600" dirty="0"/>
          </a:p>
          <a:p>
            <a:pPr marL="228600" lvl="1" indent="0">
              <a:buNone/>
            </a:pP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【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利息的支付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】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與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【Yield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補貼收入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】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均應反應在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L token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的净值中，最終在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Burn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時以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Underlying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的形式實現。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77DDE-5D84-7A36-FF01-1300DE62AF15}"/>
              </a:ext>
            </a:extLst>
          </p:cNvPr>
          <p:cNvSpPr txBox="1"/>
          <p:nvPr/>
        </p:nvSpPr>
        <p:spPr>
          <a:xfrm>
            <a:off x="5637810" y="2971800"/>
            <a:ext cx="4705598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7030A0"/>
                </a:solidFill>
              </a:rPr>
              <a:t>影響利息</a:t>
            </a:r>
            <a:r>
              <a:rPr lang="en-US" altLang="zh-CN" sz="1200" dirty="0">
                <a:solidFill>
                  <a:srgbClr val="7030A0"/>
                </a:solidFill>
              </a:rPr>
              <a:t>(5%)</a:t>
            </a:r>
            <a:r>
              <a:rPr lang="zh-CN" altLang="en-US" sz="1200" dirty="0">
                <a:solidFill>
                  <a:srgbClr val="7030A0"/>
                </a:solidFill>
              </a:rPr>
              <a:t>的因素：</a:t>
            </a:r>
            <a:endParaRPr lang="en-US" altLang="zh-CN" sz="1200" dirty="0">
              <a:solidFill>
                <a:srgbClr val="7030A0"/>
              </a:solidFill>
            </a:endParaRPr>
          </a:p>
          <a:p>
            <a:r>
              <a:rPr lang="en-US" sz="1200" dirty="0">
                <a:solidFill>
                  <a:srgbClr val="7030A0"/>
                </a:solidFill>
              </a:rPr>
              <a:t>1. </a:t>
            </a:r>
            <a:r>
              <a:rPr lang="en-US" sz="1200" dirty="0" err="1">
                <a:solidFill>
                  <a:srgbClr val="7030A0"/>
                </a:solidFill>
              </a:rPr>
              <a:t>B</a:t>
            </a:r>
            <a:r>
              <a:rPr lang="en-US" altLang="zh-CN" sz="1200" dirty="0" err="1">
                <a:solidFill>
                  <a:srgbClr val="7030A0"/>
                </a:solidFill>
              </a:rPr>
              <a:t>aseRate</a:t>
            </a:r>
            <a:r>
              <a:rPr lang="en-US" altLang="zh-CN" sz="1200" dirty="0">
                <a:solidFill>
                  <a:srgbClr val="7030A0"/>
                </a:solidFill>
              </a:rPr>
              <a:t>: </a:t>
            </a:r>
            <a:r>
              <a:rPr lang="zh-CN" altLang="en-US" sz="1200" dirty="0">
                <a:solidFill>
                  <a:srgbClr val="7030A0"/>
                </a:solidFill>
              </a:rPr>
              <a:t>美元</a:t>
            </a:r>
            <a:r>
              <a:rPr lang="en-US" altLang="zh-CN" sz="1200" dirty="0">
                <a:solidFill>
                  <a:srgbClr val="7030A0"/>
                </a:solidFill>
              </a:rPr>
              <a:t>(U)</a:t>
            </a:r>
            <a:r>
              <a:rPr lang="zh-CN" altLang="en-US" sz="1200" dirty="0">
                <a:solidFill>
                  <a:srgbClr val="7030A0"/>
                </a:solidFill>
              </a:rPr>
              <a:t>借貸利率</a:t>
            </a:r>
            <a:endParaRPr lang="en-US" altLang="zh-CN" sz="1200" dirty="0">
              <a:solidFill>
                <a:srgbClr val="7030A0"/>
              </a:solidFill>
            </a:endParaRPr>
          </a:p>
          <a:p>
            <a:r>
              <a:rPr lang="en-US" sz="1200" dirty="0">
                <a:solidFill>
                  <a:srgbClr val="7030A0"/>
                </a:solidFill>
              </a:rPr>
              <a:t>2. </a:t>
            </a:r>
            <a:r>
              <a:rPr lang="en-US" sz="1200" dirty="0" err="1">
                <a:solidFill>
                  <a:srgbClr val="7030A0"/>
                </a:solidFill>
              </a:rPr>
              <a:t>UtilitzationFactor</a:t>
            </a:r>
            <a:r>
              <a:rPr lang="en-US" sz="1200" dirty="0">
                <a:solidFill>
                  <a:srgbClr val="7030A0"/>
                </a:solidFill>
              </a:rPr>
              <a:t> = AMM</a:t>
            </a:r>
            <a:r>
              <a:rPr lang="zh-CN" altLang="en-US" sz="1200" dirty="0">
                <a:solidFill>
                  <a:srgbClr val="7030A0"/>
                </a:solidFill>
              </a:rPr>
              <a:t>中</a:t>
            </a:r>
            <a:r>
              <a:rPr lang="en-US" altLang="zh-CN" sz="1200" dirty="0">
                <a:solidFill>
                  <a:srgbClr val="7030A0"/>
                </a:solidFill>
              </a:rPr>
              <a:t>U</a:t>
            </a:r>
            <a:r>
              <a:rPr lang="zh-CN" altLang="en-US" sz="1200" dirty="0">
                <a:solidFill>
                  <a:srgbClr val="7030A0"/>
                </a:solidFill>
              </a:rPr>
              <a:t>越少，越高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  <a:endParaRPr lang="en-US" altLang="zh-CN" sz="1200" dirty="0">
              <a:solidFill>
                <a:srgbClr val="7030A0"/>
              </a:solidFill>
            </a:endParaRPr>
          </a:p>
          <a:p>
            <a:r>
              <a:rPr lang="en-US" altLang="zh-CN" sz="1200" dirty="0">
                <a:solidFill>
                  <a:srgbClr val="7030A0"/>
                </a:solidFill>
              </a:rPr>
              <a:t>3. </a:t>
            </a:r>
            <a:r>
              <a:rPr lang="en-US" sz="1200" b="0" dirty="0" err="1">
                <a:solidFill>
                  <a:srgbClr val="1C1D1F"/>
                </a:solidFill>
                <a:effectLst/>
                <a:latin typeface="KaTeX_Math"/>
              </a:rPr>
              <a:t>CollateralRiskPremium</a:t>
            </a:r>
            <a:r>
              <a:rPr lang="en-US" sz="1200" b="0" dirty="0">
                <a:solidFill>
                  <a:srgbClr val="1C1D1F"/>
                </a:solidFill>
                <a:effectLst/>
                <a:latin typeface="KaTeX_Math"/>
              </a:rPr>
              <a:t> = </a:t>
            </a:r>
            <a:r>
              <a:rPr lang="zh-CN" altLang="en-US" sz="1200" b="0" dirty="0">
                <a:solidFill>
                  <a:srgbClr val="1C1D1F"/>
                </a:solidFill>
                <a:effectLst/>
                <a:latin typeface="KaTeX_Math"/>
              </a:rPr>
              <a:t>底層資產風險</a:t>
            </a:r>
            <a:endParaRPr lang="en-US" sz="1200" b="0" dirty="0">
              <a:solidFill>
                <a:srgbClr val="1C1D1F"/>
              </a:solidFill>
              <a:effectLst/>
              <a:latin typeface="KaTeX_Math"/>
            </a:endParaRPr>
          </a:p>
        </p:txBody>
      </p:sp>
    </p:spTree>
    <p:extLst>
      <p:ext uri="{BB962C8B-B14F-4D97-AF65-F5344CB8AC3E}">
        <p14:creationId xmlns:p14="http://schemas.microsoft.com/office/powerpoint/2010/main" val="13121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Ⅲ</a:t>
            </a:r>
            <a:r>
              <a:rPr lang="en-US" altLang="zh-CN" dirty="0"/>
              <a:t>——AMM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22F5-980B-4709-4144-4D65E65CD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自建</a:t>
            </a:r>
            <a:r>
              <a:rPr lang="en-US" altLang="zh-CN" dirty="0"/>
              <a:t>AMM</a:t>
            </a:r>
            <a:r>
              <a:rPr lang="zh-CN" altLang="en-US" dirty="0"/>
              <a:t>池：</a:t>
            </a:r>
            <a:endParaRPr lang="en-US" altLang="zh-CN" dirty="0"/>
          </a:p>
          <a:p>
            <a:pPr lvl="1"/>
            <a:r>
              <a:rPr lang="en-US" dirty="0" err="1"/>
              <a:t>S</a:t>
            </a:r>
            <a:r>
              <a:rPr lang="en-US" altLang="zh-CN" dirty="0" err="1"/>
              <a:t>tableSwap</a:t>
            </a:r>
            <a:r>
              <a:rPr lang="en-US" altLang="zh-CN" dirty="0"/>
              <a:t> AMM </a:t>
            </a:r>
            <a:r>
              <a:rPr lang="zh-CN" altLang="en-US" dirty="0"/>
              <a:t>曲綫</a:t>
            </a:r>
            <a:endParaRPr lang="en-US" altLang="zh-CN" dirty="0"/>
          </a:p>
          <a:p>
            <a:pPr lvl="1"/>
            <a:r>
              <a:rPr lang="en-US" dirty="0"/>
              <a:t>AMM</a:t>
            </a:r>
            <a:r>
              <a:rPr lang="zh-CN" altLang="en-US" dirty="0"/>
              <a:t>池有</a:t>
            </a:r>
            <a:r>
              <a:rPr lang="en-US" altLang="zh-CN" dirty="0"/>
              <a:t>S+U</a:t>
            </a:r>
            <a:r>
              <a:rPr lang="zh-CN" altLang="en-US" dirty="0"/>
              <a:t>構成，僅支持</a:t>
            </a:r>
            <a:r>
              <a:rPr lang="en-US" altLang="zh-CN" dirty="0"/>
              <a:t>S</a:t>
            </a:r>
            <a:r>
              <a:rPr lang="zh-CN" altLang="en-US" dirty="0"/>
              <a:t>與</a:t>
            </a:r>
            <a:r>
              <a:rPr lang="en-US" altLang="zh-CN" dirty="0"/>
              <a:t>U</a:t>
            </a:r>
            <a:r>
              <a:rPr lang="zh-CN" altLang="en-US" dirty="0"/>
              <a:t>的</a:t>
            </a:r>
            <a:r>
              <a:rPr lang="en-US" altLang="zh-CN" dirty="0"/>
              <a:t>swap</a:t>
            </a:r>
          </a:p>
          <a:p>
            <a:pPr lvl="1"/>
            <a:r>
              <a:rPr lang="zh-CN" altLang="en-US" dirty="0"/>
              <a:t>留存套利資金</a:t>
            </a:r>
            <a:r>
              <a:rPr lang="en-US" altLang="zh-CN" dirty="0"/>
              <a:t>+</a:t>
            </a:r>
            <a:r>
              <a:rPr lang="zh-CN" altLang="en-US" dirty="0"/>
              <a:t>部署套利程序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4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Ⅳ</a:t>
            </a:r>
            <a:r>
              <a:rPr lang="en-US" altLang="zh-CN" dirty="0"/>
              <a:t>——Oracle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22F5-980B-4709-4144-4D65E65CD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578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5D84-7197-9E06-A96E-BBD7A763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>
                <a:latin typeface="Abadi" panose="020B0604020104020204" pitchFamily="34" charset="0"/>
              </a:rPr>
              <a:t>Ⅴ</a:t>
            </a:r>
            <a:r>
              <a:rPr lang="en-US" altLang="zh-CN" dirty="0"/>
              <a:t>——Liquidation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22F5-980B-4709-4144-4D65E65CD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21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46FE1-C6BE-0319-3A49-725A13DE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Control/M</a:t>
            </a:r>
            <a:r>
              <a:rPr lang="en-US" altLang="zh-CN" dirty="0"/>
              <a:t>ulti-sig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3DED-3DF9-1127-089D-D1F115B62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600" dirty="0"/>
              <a:t>錢包選擇</a:t>
            </a:r>
            <a:endParaRPr lang="en-US" sz="1600" dirty="0"/>
          </a:p>
          <a:p>
            <a:pPr lvl="1"/>
            <a:r>
              <a:rPr lang="en-US" altLang="zh-CN" sz="1400" dirty="0"/>
              <a:t>Safe: </a:t>
            </a:r>
            <a:r>
              <a:rPr lang="zh-CN" altLang="en-US" sz="1400" dirty="0"/>
              <a:t>以太坊上最廣汎使用的多簽智能合約錢包</a:t>
            </a:r>
            <a:endParaRPr lang="en-US" altLang="zh-CN" sz="1400" dirty="0"/>
          </a:p>
          <a:p>
            <a:r>
              <a:rPr lang="zh-CN" altLang="en-US" sz="1600" dirty="0"/>
              <a:t>方案選擇</a:t>
            </a:r>
            <a:endParaRPr lang="en-US" altLang="zh-CN" sz="1600" dirty="0"/>
          </a:p>
          <a:p>
            <a:pPr lvl="1"/>
            <a:r>
              <a:rPr lang="en-US" sz="1400" dirty="0">
                <a:solidFill>
                  <a:srgbClr val="333333"/>
                </a:solidFill>
                <a:latin typeface="PingFang SC"/>
              </a:rPr>
              <a:t>3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PingFang SC"/>
              </a:rPr>
              <a:t>-of-3</a:t>
            </a:r>
            <a:r>
              <a:rPr lang="zh-CN" altLang="en-US" sz="1400" dirty="0"/>
              <a:t>：存在單點故障可能性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PingFang SC"/>
              </a:rPr>
              <a:t>-of-3 </a:t>
            </a:r>
            <a:r>
              <a:rPr lang="zh-CN" altLang="en-US" sz="1400" dirty="0"/>
              <a:t>：</a:t>
            </a:r>
            <a:r>
              <a:rPr lang="en-US" altLang="zh-CN" sz="1400" dirty="0"/>
              <a:t>Pleasing</a:t>
            </a:r>
            <a:r>
              <a:rPr lang="zh-CN" altLang="en-US" sz="1400" dirty="0"/>
              <a:t>是否同意？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C00000"/>
                </a:solidFill>
                <a:latin typeface="PingFang SC"/>
              </a:rPr>
              <a:t>3</a:t>
            </a:r>
            <a:r>
              <a:rPr lang="en-US" sz="1400" b="0" i="0" dirty="0">
                <a:solidFill>
                  <a:srgbClr val="C00000"/>
                </a:solidFill>
                <a:effectLst/>
                <a:latin typeface="PingFang SC"/>
              </a:rPr>
              <a:t>-of-4</a:t>
            </a:r>
            <a:r>
              <a:rPr lang="en-US" sz="1400" dirty="0">
                <a:solidFill>
                  <a:srgbClr val="C00000"/>
                </a:solidFill>
              </a:rPr>
              <a:t>:   </a:t>
            </a:r>
            <a:r>
              <a:rPr lang="zh-CN" altLang="en-US" sz="1400" dirty="0">
                <a:solidFill>
                  <a:srgbClr val="C00000"/>
                </a:solidFill>
              </a:rPr>
              <a:t>额外备用地址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1"/>
            <a:r>
              <a:rPr lang="en-US" altLang="zh-CN" sz="1400" b="1" dirty="0">
                <a:solidFill>
                  <a:srgbClr val="C00000"/>
                </a:solidFill>
              </a:rPr>
              <a:t>4-of-7</a:t>
            </a:r>
          </a:p>
          <a:p>
            <a:r>
              <a:rPr lang="zh-CN" altLang="en-US" sz="1600" dirty="0"/>
              <a:t>管理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sz="1600" dirty="0"/>
          </a:p>
          <a:p>
            <a:pPr marL="2286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030F33-2D51-1B6B-D3F8-AEFF1B2F4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577053"/>
              </p:ext>
            </p:extLst>
          </p:nvPr>
        </p:nvGraphicFramePr>
        <p:xfrm>
          <a:off x="1515424" y="4424767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7089610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30856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需多簽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系統級別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調用較少</a:t>
                      </a:r>
                      <a:r>
                        <a:rPr lang="en-US" altLang="zh-CN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無需多簽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頻繁調用函數</a:t>
                      </a:r>
                      <a:r>
                        <a:rPr lang="en-US" altLang="zh-CN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53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合約升級權限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清算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463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核心參數變更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預言機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33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大額資產轉移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簡單參數調整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683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10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57E2-E345-2DEF-D4FE-022AA0B4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Control/T</a:t>
            </a:r>
            <a:r>
              <a:rPr lang="en-US" altLang="zh-CN" dirty="0"/>
              <a:t>imelock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FBEC-7D08-72FC-C834-7D0D3500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b="1" i="0" dirty="0">
                <a:effectLst/>
                <a:latin typeface="Segoe WPC"/>
              </a:rPr>
              <a:t>定義：</a:t>
            </a:r>
            <a:r>
              <a:rPr lang="zh-TW" altLang="en-US" sz="1800" b="0" i="0" dirty="0">
                <a:effectLst/>
                <a:latin typeface="Segoe WPC"/>
              </a:rPr>
              <a:t>在 </a:t>
            </a:r>
            <a:r>
              <a:rPr lang="en-US" altLang="zh-TW" sz="1800" b="0" i="0" dirty="0">
                <a:effectLst/>
                <a:latin typeface="Segoe WPC"/>
              </a:rPr>
              <a:t>DeFi </a:t>
            </a:r>
            <a:r>
              <a:rPr lang="zh-TW" altLang="en-US" sz="1800" b="0" i="0" dirty="0">
                <a:effectLst/>
                <a:latin typeface="Segoe WPC"/>
              </a:rPr>
              <a:t>協議中，</a:t>
            </a:r>
            <a:r>
              <a:rPr lang="en-US" altLang="zh-TW" sz="1800" b="1" i="0" dirty="0">
                <a:effectLst/>
                <a:latin typeface="Segoe WPC"/>
              </a:rPr>
              <a:t>Timelock (</a:t>
            </a:r>
            <a:r>
              <a:rPr lang="zh-TW" altLang="en-US" sz="1800" b="1" i="0" dirty="0">
                <a:effectLst/>
                <a:latin typeface="Segoe WPC"/>
              </a:rPr>
              <a:t>時間鎖</a:t>
            </a:r>
            <a:r>
              <a:rPr lang="en-US" altLang="zh-TW" sz="1800" b="1" i="0" dirty="0">
                <a:effectLst/>
                <a:latin typeface="Segoe WPC"/>
              </a:rPr>
              <a:t>)</a:t>
            </a:r>
            <a:r>
              <a:rPr lang="zh-TW" altLang="en-US" sz="1800" b="0" i="0" dirty="0">
                <a:effectLst/>
                <a:latin typeface="Segoe WPC"/>
              </a:rPr>
              <a:t> 的目的是「強迫管理者在執行敏感操作前，必須給予充分的廣播與等待時間」</a:t>
            </a:r>
            <a:r>
              <a:rPr lang="zh-CN" altLang="en-US" sz="1800" b="0" i="0" dirty="0">
                <a:effectLst/>
                <a:latin typeface="Segoe WPC"/>
              </a:rPr>
              <a:t>。</a:t>
            </a:r>
            <a:endParaRPr lang="en-US" altLang="zh-CN" sz="1800" b="0" i="0" dirty="0">
              <a:effectLst/>
              <a:latin typeface="Segoe WPC"/>
            </a:endParaRPr>
          </a:p>
          <a:p>
            <a:r>
              <a:rPr lang="zh-CN" altLang="en-US" sz="1800" b="1" i="0" dirty="0">
                <a:effectLst/>
                <a:latin typeface="Segoe WPC"/>
              </a:rPr>
              <a:t>時常：</a:t>
            </a:r>
            <a:r>
              <a:rPr lang="en-US" altLang="zh-TW" sz="1800" b="1" i="0" dirty="0">
                <a:effectLst/>
                <a:latin typeface="Segoe WPC"/>
              </a:rPr>
              <a:t>24 ~ 48 </a:t>
            </a:r>
            <a:r>
              <a:rPr lang="zh-TW" altLang="en-US" sz="1800" b="1" i="0" dirty="0">
                <a:effectLst/>
                <a:latin typeface="Segoe WPC"/>
              </a:rPr>
              <a:t>小時</a:t>
            </a:r>
            <a:r>
              <a:rPr lang="zh-TW" altLang="en-US" sz="1800" b="0" i="0" dirty="0">
                <a:effectLst/>
                <a:latin typeface="Segoe WPC"/>
              </a:rPr>
              <a:t>：這對於多數活躍的 </a:t>
            </a:r>
            <a:r>
              <a:rPr lang="en-US" altLang="zh-TW" sz="1800" b="0" i="0" dirty="0">
                <a:effectLst/>
                <a:latin typeface="Segoe WPC"/>
              </a:rPr>
              <a:t>DeFi </a:t>
            </a:r>
            <a:r>
              <a:rPr lang="zh-TW" altLang="en-US" sz="1800" b="0" i="0" dirty="0">
                <a:effectLst/>
                <a:latin typeface="Segoe WPC"/>
              </a:rPr>
              <a:t>項目來說是</a:t>
            </a:r>
            <a:r>
              <a:rPr lang="zh-TW" altLang="en-US" sz="1800" b="1" i="0" dirty="0">
                <a:effectLst/>
                <a:latin typeface="Segoe WPC"/>
              </a:rPr>
              <a:t>最均衡</a:t>
            </a:r>
            <a:r>
              <a:rPr lang="zh-TW" altLang="en-US" sz="1800" b="0" i="0" dirty="0">
                <a:effectLst/>
                <a:latin typeface="Segoe WPC"/>
              </a:rPr>
              <a:t>的選擇。既能防止閃電貸惡意操作或管理員突然偷襲，又不會將協議鎖死太久（如果發現 </a:t>
            </a:r>
            <a:r>
              <a:rPr lang="en-US" altLang="zh-TW" sz="1800" b="0" i="0" dirty="0">
                <a:effectLst/>
                <a:latin typeface="Segoe WPC"/>
              </a:rPr>
              <a:t>LTV </a:t>
            </a:r>
            <a:r>
              <a:rPr lang="zh-TW" altLang="en-US" sz="1800" b="0" i="0" dirty="0">
                <a:effectLst/>
                <a:latin typeface="Segoe WPC"/>
              </a:rPr>
              <a:t>過高導致壞帳，需要及時反應）。</a:t>
            </a:r>
            <a:endParaRPr lang="en-US" altLang="zh-TW" sz="1800" b="0" i="0" dirty="0">
              <a:effectLst/>
              <a:latin typeface="Segoe WPC"/>
            </a:endParaRPr>
          </a:p>
          <a:p>
            <a:r>
              <a:rPr lang="zh-CN" altLang="en-US" sz="1800" b="1" dirty="0">
                <a:latin typeface="Segoe WPC"/>
              </a:rPr>
              <a:t>實現方式：</a:t>
            </a:r>
            <a:endParaRPr lang="en-US" altLang="zh-CN" sz="1800" b="1" dirty="0">
              <a:latin typeface="Segoe WPC"/>
            </a:endParaRPr>
          </a:p>
          <a:p>
            <a:pPr lvl="1"/>
            <a:r>
              <a:rPr lang="zh-CN" altLang="en-US" sz="1400" dirty="0">
                <a:latin typeface="Segoe WPC"/>
              </a:rPr>
              <a:t>階段一</a:t>
            </a:r>
            <a:r>
              <a:rPr lang="en-US" altLang="zh-CN" sz="1400" dirty="0">
                <a:latin typeface="Segoe WPC"/>
              </a:rPr>
              <a:t>(</a:t>
            </a:r>
            <a:r>
              <a:rPr lang="zh-CN" altLang="en-US" sz="1400" dirty="0">
                <a:latin typeface="Segoe WPC"/>
              </a:rPr>
              <a:t>排程</a:t>
            </a:r>
            <a:r>
              <a:rPr lang="en-US" altLang="zh-CN" sz="1400" dirty="0">
                <a:latin typeface="Segoe WPC"/>
              </a:rPr>
              <a:t>): </a:t>
            </a:r>
            <a:r>
              <a:rPr lang="zh-TW" altLang="en-US" sz="1400" dirty="0">
                <a:latin typeface="Segoe WPC"/>
              </a:rPr>
              <a:t>只有具備 </a:t>
            </a:r>
            <a:r>
              <a:rPr lang="zh-CN" altLang="en-US" sz="1400" dirty="0">
                <a:latin typeface="Segoe WPC"/>
              </a:rPr>
              <a:t>相應權限的</a:t>
            </a:r>
            <a:r>
              <a:rPr lang="zh-TW" altLang="en-US" sz="1400" dirty="0">
                <a:latin typeface="Segoe WPC"/>
              </a:rPr>
              <a:t>管理員能調用。呼叫後參數不會立刻變更，而是會記錄到 </a:t>
            </a:r>
            <a:r>
              <a:rPr lang="en-US" altLang="zh-TW" sz="1400" dirty="0">
                <a:latin typeface="Segoe WPC"/>
              </a:rPr>
              <a:t>pending</a:t>
            </a:r>
            <a:r>
              <a:rPr lang="zh-CN" altLang="en-US" sz="1400" dirty="0">
                <a:latin typeface="Segoe WPC"/>
              </a:rPr>
              <a:t>結構中，</a:t>
            </a:r>
            <a:r>
              <a:rPr lang="zh-TW" altLang="en-US" sz="1400" dirty="0">
                <a:latin typeface="Segoe WPC"/>
              </a:rPr>
              <a:t>並加上 </a:t>
            </a:r>
            <a:r>
              <a:rPr lang="en-US" altLang="zh-TW" sz="1400" dirty="0">
                <a:latin typeface="Segoe WPC"/>
              </a:rPr>
              <a:t>2 </a:t>
            </a:r>
            <a:r>
              <a:rPr lang="zh-TW" altLang="en-US" sz="1400" dirty="0">
                <a:latin typeface="Segoe WPC"/>
              </a:rPr>
              <a:t>天的冷卻時間。</a:t>
            </a:r>
            <a:endParaRPr lang="en-US" altLang="zh-TW" sz="1400" dirty="0">
              <a:latin typeface="Segoe WPC"/>
            </a:endParaRPr>
          </a:p>
          <a:p>
            <a:pPr lvl="1"/>
            <a:r>
              <a:rPr lang="zh-CN" altLang="en-US" sz="1400" dirty="0">
                <a:latin typeface="Segoe WPC"/>
              </a:rPr>
              <a:t>階段二</a:t>
            </a:r>
            <a:r>
              <a:rPr lang="en-US" altLang="zh-CN" sz="1400" dirty="0">
                <a:latin typeface="Segoe WPC"/>
              </a:rPr>
              <a:t>(</a:t>
            </a:r>
            <a:r>
              <a:rPr lang="zh-CN" altLang="en-US" sz="1400" dirty="0">
                <a:latin typeface="Segoe WPC"/>
              </a:rPr>
              <a:t>執行</a:t>
            </a:r>
            <a:r>
              <a:rPr lang="en-US" altLang="zh-CN" sz="1400" dirty="0">
                <a:latin typeface="Segoe WPC"/>
              </a:rPr>
              <a:t>)</a:t>
            </a:r>
            <a:r>
              <a:rPr lang="zh-CN" altLang="en-US" sz="1400" dirty="0">
                <a:latin typeface="Segoe WPC"/>
              </a:rPr>
              <a:t>：</a:t>
            </a:r>
            <a:r>
              <a:rPr lang="zh-TW" altLang="en-US" sz="1400" dirty="0">
                <a:latin typeface="Segoe WPC"/>
              </a:rPr>
              <a:t>這個函數不限任何人呼叫（只要過了鎖定期即可）。合約會驗證當前時間 </a:t>
            </a:r>
            <a:r>
              <a:rPr lang="en-US" altLang="zh-TW" sz="1400" dirty="0" err="1">
                <a:latin typeface="Segoe WPC"/>
              </a:rPr>
              <a:t>block.timestamp</a:t>
            </a:r>
            <a:r>
              <a:rPr lang="en-US" altLang="zh-TW" sz="1400" dirty="0">
                <a:latin typeface="Segoe WPC"/>
              </a:rPr>
              <a:t> </a:t>
            </a:r>
            <a:r>
              <a:rPr lang="zh-TW" altLang="en-US" sz="1400" dirty="0">
                <a:latin typeface="Segoe WPC"/>
              </a:rPr>
              <a:t>是否已經超過排定的 </a:t>
            </a:r>
            <a:r>
              <a:rPr lang="en-US" altLang="zh-TW" sz="1400" dirty="0" err="1">
                <a:latin typeface="Segoe WPC"/>
              </a:rPr>
              <a:t>executeTime</a:t>
            </a:r>
            <a:r>
              <a:rPr lang="zh-TW" altLang="en-US" sz="1400" dirty="0">
                <a:latin typeface="Segoe WPC"/>
              </a:rPr>
              <a:t>，驗證通過才會真正修改 </a:t>
            </a:r>
            <a:r>
              <a:rPr lang="zh-CN" altLang="en-US" sz="1400" dirty="0">
                <a:latin typeface="Segoe WPC"/>
              </a:rPr>
              <a:t>參數</a:t>
            </a:r>
            <a:r>
              <a:rPr lang="zh-TW" altLang="en-US" sz="1400" dirty="0">
                <a:latin typeface="Segoe WPC"/>
              </a:rPr>
              <a:t>。</a:t>
            </a:r>
            <a:endParaRPr lang="en-US" altLang="zh-TW" sz="1400" dirty="0">
              <a:latin typeface="Segoe WPC"/>
            </a:endParaRPr>
          </a:p>
          <a:p>
            <a:pPr lvl="1"/>
            <a:endParaRPr lang="en-US" altLang="zh-CN" dirty="0">
              <a:latin typeface="Segoe WPC"/>
            </a:endParaRPr>
          </a:p>
          <a:p>
            <a:pPr lvl="1"/>
            <a:endParaRPr lang="zh-TW" altLang="en-US" b="0" i="0" dirty="0">
              <a:effectLst/>
              <a:latin typeface="Segoe WPC"/>
            </a:endParaRPr>
          </a:p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F445A7-4220-73BC-85F4-E8D5BFB49405}"/>
              </a:ext>
            </a:extLst>
          </p:cNvPr>
          <p:cNvCxnSpPr/>
          <p:nvPr/>
        </p:nvCxnSpPr>
        <p:spPr>
          <a:xfrm>
            <a:off x="1490352" y="5735782"/>
            <a:ext cx="83127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Down 5">
            <a:extLst>
              <a:ext uri="{FF2B5EF4-FFF2-40B4-BE49-F238E27FC236}">
                <a16:creationId xmlns:a16="http://schemas.microsoft.com/office/drawing/2014/main" id="{39625D27-7064-7D67-9EB4-5BDD812026ED}"/>
              </a:ext>
            </a:extLst>
          </p:cNvPr>
          <p:cNvSpPr/>
          <p:nvPr/>
        </p:nvSpPr>
        <p:spPr>
          <a:xfrm flipH="1" flipV="1">
            <a:off x="3311433" y="5735782"/>
            <a:ext cx="100340" cy="2375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9DE1756-C452-6391-F01F-D91C4E7E86F2}"/>
              </a:ext>
            </a:extLst>
          </p:cNvPr>
          <p:cNvSpPr/>
          <p:nvPr/>
        </p:nvSpPr>
        <p:spPr>
          <a:xfrm flipH="1" flipV="1">
            <a:off x="6937365" y="5735782"/>
            <a:ext cx="100340" cy="2375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D88BC-CE1F-840B-19AD-6187A8412D86}"/>
              </a:ext>
            </a:extLst>
          </p:cNvPr>
          <p:cNvSpPr txBox="1"/>
          <p:nvPr/>
        </p:nvSpPr>
        <p:spPr>
          <a:xfrm>
            <a:off x="2391625" y="5424149"/>
            <a:ext cx="1939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solidFill>
                  <a:srgbClr val="7030A0"/>
                </a:solidFill>
              </a:rPr>
              <a:t>(</a:t>
            </a:r>
            <a:r>
              <a:rPr lang="zh-CN" altLang="en-US" sz="1200" i="1" dirty="0">
                <a:solidFill>
                  <a:srgbClr val="7030A0"/>
                </a:solidFill>
              </a:rPr>
              <a:t>管理員</a:t>
            </a:r>
            <a:r>
              <a:rPr lang="en-US" altLang="zh-CN" sz="1200" i="1" dirty="0">
                <a:solidFill>
                  <a:srgbClr val="7030A0"/>
                </a:solidFill>
              </a:rPr>
              <a:t>)</a:t>
            </a:r>
            <a:r>
              <a:rPr lang="zh-CN" altLang="en-US" sz="1200" i="1" dirty="0">
                <a:solidFill>
                  <a:srgbClr val="7030A0"/>
                </a:solidFill>
              </a:rPr>
              <a:t>調用</a:t>
            </a:r>
            <a:r>
              <a:rPr lang="en-US" altLang="zh-CN" sz="1200" i="1" dirty="0" err="1">
                <a:solidFill>
                  <a:srgbClr val="7030A0"/>
                </a:solidFill>
              </a:rPr>
              <a:t>scheduleSet</a:t>
            </a:r>
            <a:endParaRPr lang="en-US" sz="1200" i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91CCD-E516-D621-D30C-77CCA47BEBA8}"/>
              </a:ext>
            </a:extLst>
          </p:cNvPr>
          <p:cNvSpPr txBox="1"/>
          <p:nvPr/>
        </p:nvSpPr>
        <p:spPr>
          <a:xfrm>
            <a:off x="6110558" y="5448038"/>
            <a:ext cx="1875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solidFill>
                  <a:srgbClr val="7030A0"/>
                </a:solidFill>
              </a:rPr>
              <a:t>(</a:t>
            </a:r>
            <a:r>
              <a:rPr lang="zh-CN" altLang="en-US" sz="1200" i="1" dirty="0">
                <a:solidFill>
                  <a:srgbClr val="7030A0"/>
                </a:solidFill>
              </a:rPr>
              <a:t>任意人</a:t>
            </a:r>
            <a:r>
              <a:rPr lang="en-US" altLang="zh-CN" sz="1200" i="1" dirty="0">
                <a:solidFill>
                  <a:srgbClr val="7030A0"/>
                </a:solidFill>
              </a:rPr>
              <a:t>)</a:t>
            </a:r>
            <a:r>
              <a:rPr lang="zh-CN" altLang="en-US" sz="1200" i="1" dirty="0">
                <a:solidFill>
                  <a:srgbClr val="7030A0"/>
                </a:solidFill>
              </a:rPr>
              <a:t>調用</a:t>
            </a:r>
            <a:r>
              <a:rPr lang="en-US" altLang="zh-CN" sz="1200" i="1" dirty="0" err="1">
                <a:solidFill>
                  <a:srgbClr val="7030A0"/>
                </a:solidFill>
              </a:rPr>
              <a:t>executeSet</a:t>
            </a:r>
            <a:endParaRPr lang="en-US" sz="1200" i="1" dirty="0">
              <a:solidFill>
                <a:srgbClr val="7030A0"/>
              </a:solidFill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DA293BC-F6EA-D988-8631-46E4665B66BE}"/>
              </a:ext>
            </a:extLst>
          </p:cNvPr>
          <p:cNvSpPr/>
          <p:nvPr/>
        </p:nvSpPr>
        <p:spPr>
          <a:xfrm rot="16200000">
            <a:off x="5024392" y="4345119"/>
            <a:ext cx="301451" cy="3627030"/>
          </a:xfrm>
          <a:prstGeom prst="leftBrace">
            <a:avLst>
              <a:gd name="adj1" fmla="val 8333"/>
              <a:gd name="adj2" fmla="val 52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3B85C-6CCB-C272-DBB1-A92388E03F88}"/>
              </a:ext>
            </a:extLst>
          </p:cNvPr>
          <p:cNvSpPr txBox="1"/>
          <p:nvPr/>
        </p:nvSpPr>
        <p:spPr>
          <a:xfrm>
            <a:off x="4764711" y="6289613"/>
            <a:ext cx="1531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rgbClr val="7030A0"/>
                </a:solidFill>
              </a:rPr>
              <a:t>L</a:t>
            </a:r>
            <a:r>
              <a:rPr lang="en-US" altLang="zh-CN" sz="1200" i="1" dirty="0">
                <a:solidFill>
                  <a:srgbClr val="7030A0"/>
                </a:solidFill>
              </a:rPr>
              <a:t>ock Period(</a:t>
            </a:r>
            <a:r>
              <a:rPr lang="zh-CN" altLang="en-US" sz="1200" i="1" dirty="0">
                <a:solidFill>
                  <a:srgbClr val="7030A0"/>
                </a:solidFill>
              </a:rPr>
              <a:t>如</a:t>
            </a:r>
            <a:r>
              <a:rPr lang="en-US" altLang="zh-CN" sz="1200" i="1" dirty="0">
                <a:solidFill>
                  <a:srgbClr val="7030A0"/>
                </a:solidFill>
              </a:rPr>
              <a:t>2</a:t>
            </a:r>
            <a:r>
              <a:rPr lang="zh-CN" altLang="en-US" sz="1200" i="1" dirty="0">
                <a:solidFill>
                  <a:srgbClr val="7030A0"/>
                </a:solidFill>
              </a:rPr>
              <a:t>天</a:t>
            </a:r>
            <a:r>
              <a:rPr lang="en-US" altLang="zh-CN" sz="1200" i="1" dirty="0">
                <a:solidFill>
                  <a:srgbClr val="7030A0"/>
                </a:solidFill>
              </a:rPr>
              <a:t>)</a:t>
            </a:r>
            <a:endParaRPr lang="en-US" sz="12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54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57E2-E345-2DEF-D4FE-022AA0B4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Control/roles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FBEC-7D08-72FC-C834-7D0D3500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Wingdings" panose="05000000000000000000" pitchFamily="2" charset="2"/>
              </a:rPr>
              <a:t>Treasury</a:t>
            </a:r>
          </a:p>
          <a:p>
            <a:pPr lvl="1"/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onlyDepositor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向項目不定期釋放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Yiled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(PGold)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的角色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ProtocolConfig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參數設置合約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mintFee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BurnFee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maxLTV,LiquidationLTV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maxPriceAge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733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42E7-40F5-4314-673B-2DF5620C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Proxy P</a:t>
            </a:r>
            <a:r>
              <a:rPr lang="en-US" altLang="zh-CN" dirty="0"/>
              <a:t>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3013-CC51-602A-242C-AF84D0E30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可升级部分：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修改函数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增加新函数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删除旧函数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状态变量仅限追加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Event</a:t>
            </a:r>
            <a:r>
              <a:rPr lang="zh-CN" altLang="en-US" dirty="0">
                <a:solidFill>
                  <a:srgbClr val="00B050"/>
                </a:solidFill>
              </a:rPr>
              <a:t>可增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删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改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/>
              <a:t>不可升级部分：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合约地址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合约状态变量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27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5C67-3E84-4532-96DE-FDC04C6E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P</a:t>
            </a:r>
            <a:r>
              <a:rPr lang="en-US" altLang="zh-CN" dirty="0"/>
              <a:t>attern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8E9D-4DF9-E4A4-AA55-B9CE12EBA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方案</a:t>
            </a:r>
            <a:endParaRPr lang="en-US" dirty="0"/>
          </a:p>
          <a:p>
            <a:pPr lvl="1"/>
            <a:r>
              <a:rPr lang="en-US" dirty="0"/>
              <a:t>UUPS(ERC1967)</a:t>
            </a:r>
          </a:p>
          <a:p>
            <a:pPr lvl="1"/>
            <a:r>
              <a:rPr lang="en-US" dirty="0"/>
              <a:t>T</a:t>
            </a:r>
            <a:r>
              <a:rPr lang="en-US" altLang="zh-CN" dirty="0"/>
              <a:t>ransparent Proxy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395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5571-1E12-47C2-44C4-3BCD36AB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altLang="zh-CN" dirty="0"/>
              <a:t>ff Chain(Service)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C3FBF-0143-D8A7-8D87-0F673D9E0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實時監聽鏈上事件</a:t>
            </a:r>
            <a:endParaRPr lang="en-US" altLang="zh-CN" dirty="0"/>
          </a:p>
          <a:p>
            <a:pPr lvl="1"/>
            <a:r>
              <a:rPr lang="zh-CN" altLang="en-US" dirty="0"/>
              <a:t>預言機價格波動</a:t>
            </a:r>
            <a:endParaRPr lang="en-US" altLang="zh-CN" dirty="0"/>
          </a:p>
          <a:p>
            <a:pPr lvl="1"/>
            <a:r>
              <a:rPr lang="zh-CN" altLang="en-US" dirty="0"/>
              <a:t>大額異常轉賬</a:t>
            </a:r>
            <a:endParaRPr lang="en-US" altLang="zh-CN" dirty="0"/>
          </a:p>
          <a:p>
            <a:r>
              <a:rPr lang="zh-CN" altLang="en-US" dirty="0"/>
              <a:t>自動化機器人</a:t>
            </a:r>
            <a:endParaRPr lang="en-US" altLang="zh-CN" dirty="0"/>
          </a:p>
          <a:p>
            <a:pPr lvl="1"/>
            <a:r>
              <a:rPr lang="zh-CN" altLang="en-US" dirty="0"/>
              <a:t>清算機器人</a:t>
            </a:r>
            <a:endParaRPr lang="en-US" altLang="zh-CN" dirty="0"/>
          </a:p>
          <a:p>
            <a:pPr lvl="1"/>
            <a:r>
              <a:rPr lang="zh-CN" altLang="en-US" dirty="0"/>
              <a:t>維護機器人</a:t>
            </a:r>
            <a:r>
              <a:rPr lang="en-US" altLang="zh-CN" dirty="0">
                <a:sym typeface="Wingdings" panose="05000000000000000000" pitchFamily="2" charset="2"/>
              </a:rPr>
              <a:t></a:t>
            </a:r>
            <a:r>
              <a:rPr lang="zh-CN" altLang="en-US" dirty="0">
                <a:sym typeface="Wingdings" panose="05000000000000000000" pitchFamily="2" charset="2"/>
              </a:rPr>
              <a:t>利息結算等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API &amp; </a:t>
            </a:r>
            <a:r>
              <a:rPr lang="zh-CN" altLang="en-US" dirty="0">
                <a:sym typeface="Wingdings" panose="05000000000000000000" pitchFamily="2" charset="2"/>
              </a:rPr>
              <a:t>數據索引</a:t>
            </a:r>
            <a:r>
              <a:rPr lang="en-US" altLang="zh-CN" dirty="0">
                <a:sym typeface="Wingdings" panose="05000000000000000000" pitchFamily="2" charset="2"/>
              </a:rPr>
              <a:t></a:t>
            </a:r>
            <a:r>
              <a:rPr lang="zh-CN" altLang="en-US" dirty="0">
                <a:sym typeface="Wingdings" panose="05000000000000000000" pitchFamily="2" charset="2"/>
              </a:rPr>
              <a:t>如何與</a:t>
            </a:r>
            <a:r>
              <a:rPr lang="en-US" altLang="zh-CN" dirty="0" err="1">
                <a:sym typeface="Wingdings" panose="05000000000000000000" pitchFamily="2" charset="2"/>
              </a:rPr>
              <a:t>Thegrapgh</a:t>
            </a:r>
            <a:r>
              <a:rPr lang="zh-CN" altLang="en-US" dirty="0">
                <a:sym typeface="Wingdings" panose="05000000000000000000" pitchFamily="2" charset="2"/>
              </a:rPr>
              <a:t>結合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本地服務器交互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2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F9B7-2014-1C18-33C2-6850ABF4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D4C30-3B94-E118-0FC4-44D39607F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配置不同的</a:t>
            </a:r>
            <a:r>
              <a:rPr lang="en-US" altLang="zh-CN" dirty="0"/>
              <a:t>RPC</a:t>
            </a:r>
            <a:r>
              <a:rPr lang="zh-CN" altLang="en-US" dirty="0"/>
              <a:t>節點，防止單一節點宕機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62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41C2-0085-2983-7443-BF08E3ED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altLang="zh-CN" dirty="0"/>
              <a:t>mart Contract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8B60-557D-9860-1FCE-97EF142D0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StableToken.sol</a:t>
            </a:r>
            <a:r>
              <a:rPr lang="en-US" dirty="0"/>
              <a:t>/</a:t>
            </a:r>
            <a:r>
              <a:rPr lang="en-US" dirty="0" err="1"/>
              <a:t>L</a:t>
            </a:r>
            <a:r>
              <a:rPr lang="en-US" altLang="zh-CN" dirty="0" err="1"/>
              <a:t>everageToken.sol</a:t>
            </a:r>
            <a:endParaRPr lang="en-US" dirty="0"/>
          </a:p>
          <a:p>
            <a:pPr lvl="1"/>
            <a:r>
              <a:rPr lang="en-US" altLang="zh-CN" dirty="0"/>
              <a:t>Owner </a:t>
            </a:r>
            <a:r>
              <a:rPr lang="en-US" altLang="zh-CN" dirty="0">
                <a:sym typeface="Wingdings" panose="05000000000000000000" pitchFamily="2" charset="2"/>
              </a:rPr>
              <a:t> </a:t>
            </a:r>
            <a:r>
              <a:rPr lang="en-US" altLang="zh-CN" dirty="0" err="1">
                <a:sym typeface="Wingdings" panose="05000000000000000000" pitchFamily="2" charset="2"/>
              </a:rPr>
              <a:t>safeAddress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zh-CN" altLang="en-US" dirty="0">
                <a:sym typeface="Wingdings" panose="05000000000000000000" pitchFamily="2" charset="2"/>
              </a:rPr>
              <a:t>用於設置</a:t>
            </a:r>
            <a:r>
              <a:rPr lang="en-US" altLang="zh-CN" dirty="0">
                <a:sym typeface="Wingdings" panose="05000000000000000000" pitchFamily="2" charset="2"/>
              </a:rPr>
              <a:t>TrancheVault</a:t>
            </a:r>
            <a:r>
              <a:rPr lang="zh-CN" altLang="en-US" dirty="0">
                <a:sym typeface="Wingdings" panose="05000000000000000000" pitchFamily="2" charset="2"/>
              </a:rPr>
              <a:t>，必定需要多簽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 err="1">
                <a:sym typeface="Wingdings" panose="05000000000000000000" pitchFamily="2" charset="2"/>
              </a:rPr>
              <a:t>TrancheVault.sol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ym typeface="Wingdings" panose="05000000000000000000" pitchFamily="2" charset="2"/>
              </a:rPr>
              <a:t>mint/burn</a:t>
            </a:r>
            <a:r>
              <a:rPr lang="zh-CN" altLang="en-US" dirty="0">
                <a:sym typeface="Wingdings" panose="05000000000000000000" pitchFamily="2" charset="2"/>
              </a:rPr>
              <a:t>不需要多簽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 err="1">
                <a:sym typeface="Wingdings" panose="05000000000000000000" pitchFamily="2" charset="2"/>
              </a:rPr>
              <a:t>Treasury.sol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311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041E-F519-28D6-5A14-114B7F67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altLang="zh-CN" dirty="0"/>
              <a:t>nterest Rate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2F23-C0F4-E1A7-E37A-85B767E78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只要用戶把</a:t>
            </a:r>
            <a:r>
              <a:rPr lang="en-US" altLang="zh-CN" dirty="0"/>
              <a:t>PGold</a:t>
            </a:r>
            <a:r>
              <a:rPr lang="zh-CN" altLang="en-US" dirty="0"/>
              <a:t>鎖定在</a:t>
            </a:r>
            <a:r>
              <a:rPr lang="en-US" altLang="zh-CN" dirty="0"/>
              <a:t>Treasury</a:t>
            </a:r>
            <a:r>
              <a:rPr lang="zh-CN" altLang="en-US" dirty="0"/>
              <a:t>中，理論上就應該享有釋放的</a:t>
            </a:r>
            <a:r>
              <a:rPr lang="en-US" altLang="zh-CN" dirty="0"/>
              <a:t>PGold</a:t>
            </a:r>
            <a:r>
              <a:rPr lang="zh-CN" altLang="en-US" dirty="0"/>
              <a:t>收益，享受的方式是</a:t>
            </a:r>
            <a:r>
              <a:rPr lang="en-US" altLang="zh-CN" dirty="0"/>
              <a:t>burn</a:t>
            </a:r>
            <a:r>
              <a:rPr lang="zh-CN" altLang="en-US" dirty="0"/>
              <a:t>時多得到一部分</a:t>
            </a:r>
            <a:r>
              <a:rPr lang="en-US" altLang="zh-CN" dirty="0"/>
              <a:t>PGold</a:t>
            </a:r>
          </a:p>
          <a:p>
            <a:r>
              <a:rPr lang="zh-CN" altLang="en-US" dirty="0"/>
              <a:t>用戶如果將</a:t>
            </a:r>
            <a:r>
              <a:rPr lang="en-US" altLang="zh-CN" dirty="0"/>
              <a:t>L</a:t>
            </a:r>
            <a:r>
              <a:rPr lang="zh-CN" altLang="en-US" dirty="0"/>
              <a:t>賣出，則代表其失去</a:t>
            </a:r>
            <a:r>
              <a:rPr lang="en-US" altLang="zh-CN" dirty="0"/>
              <a:t>burn</a:t>
            </a:r>
            <a:r>
              <a:rPr lang="zh-CN" altLang="en-US" dirty="0"/>
              <a:t>的機會，也失去</a:t>
            </a:r>
            <a:r>
              <a:rPr lang="en-US" altLang="zh-CN" dirty="0"/>
              <a:t>PGold</a:t>
            </a:r>
            <a:r>
              <a:rPr lang="zh-CN" altLang="en-US" dirty="0"/>
              <a:t>的補貼機會；其持有的</a:t>
            </a:r>
            <a:r>
              <a:rPr lang="en-US" altLang="zh-CN" dirty="0"/>
              <a:t>S</a:t>
            </a:r>
            <a:r>
              <a:rPr lang="zh-CN" altLang="en-US" dirty="0"/>
              <a:t>只能通過</a:t>
            </a:r>
            <a:r>
              <a:rPr lang="en-US" altLang="zh-CN" dirty="0"/>
              <a:t>AMM</a:t>
            </a:r>
            <a:r>
              <a:rPr lang="zh-CN" altLang="en-US" dirty="0"/>
              <a:t>池賣出。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14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9D5C-CE3A-8087-A1E1-A0047CAB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altLang="zh-CN" dirty="0"/>
              <a:t>olidity</a:t>
            </a:r>
            <a:r>
              <a:rPr lang="zh-CN" altLang="en-US" dirty="0"/>
              <a:t>精度處理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29F68-053E-F8E4-145E-F6CFCB2B5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616161"/>
                </a:solidFill>
                <a:effectLst/>
                <a:latin typeface="Segoe WPC"/>
              </a:rPr>
              <a:t>在 </a:t>
            </a:r>
            <a:r>
              <a:rPr lang="en-US" altLang="zh-TW" b="0" i="0" dirty="0">
                <a:solidFill>
                  <a:srgbClr val="616161"/>
                </a:solidFill>
                <a:effectLst/>
                <a:latin typeface="Segoe WPC"/>
              </a:rPr>
              <a:t>Solidity </a:t>
            </a:r>
            <a:r>
              <a:rPr lang="zh-TW" altLang="en-US" b="0" i="0" dirty="0">
                <a:solidFill>
                  <a:srgbClr val="616161"/>
                </a:solidFill>
                <a:effectLst/>
                <a:latin typeface="Segoe WPC"/>
              </a:rPr>
              <a:t>中，連續除法會增加除法截斷（丟失）的次數，並多消耗一次 </a:t>
            </a:r>
            <a:r>
              <a:rPr lang="en-US" altLang="zh-TW" b="0" i="0" dirty="0">
                <a:solidFill>
                  <a:srgbClr val="616161"/>
                </a:solidFill>
                <a:effectLst/>
                <a:latin typeface="Segoe WPC"/>
              </a:rPr>
              <a:t>Gas</a:t>
            </a:r>
            <a:r>
              <a:rPr lang="zh-TW" altLang="en-US" b="0" i="0" dirty="0">
                <a:solidFill>
                  <a:srgbClr val="616161"/>
                </a:solidFill>
                <a:effectLst/>
                <a:latin typeface="Segoe WPC"/>
              </a:rPr>
              <a:t>。可以將分母放在一起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Segoe WPC"/>
              </a:rPr>
              <a:t>；</a:t>
            </a:r>
            <a:endParaRPr lang="en-US" altLang="zh-CN" b="0" i="0" dirty="0">
              <a:solidFill>
                <a:srgbClr val="616161"/>
              </a:solidFill>
              <a:effectLst/>
              <a:latin typeface="Segoe WPC"/>
            </a:endParaRPr>
          </a:p>
          <a:p>
            <a:r>
              <a:rPr lang="zh-CN" altLang="en-US" dirty="0">
                <a:solidFill>
                  <a:srgbClr val="616161"/>
                </a:solidFill>
                <a:latin typeface="Segoe WPC"/>
              </a:rPr>
              <a:t>不必要的先除後乘，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Segoe WPC"/>
              </a:rPr>
              <a:t> 在 </a:t>
            </a:r>
            <a:r>
              <a:rPr lang="en-US" b="0" i="0" dirty="0">
                <a:solidFill>
                  <a:srgbClr val="616161"/>
                </a:solidFill>
                <a:effectLst/>
                <a:latin typeface="Segoe WPC"/>
              </a:rPr>
              <a:t>Solidity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Segoe WPC"/>
              </a:rPr>
              <a:t>中，</a:t>
            </a:r>
            <a:r>
              <a:rPr lang="zh-CN" altLang="en-US" b="1" i="0" dirty="0">
                <a:solidFill>
                  <a:srgbClr val="616161"/>
                </a:solidFill>
                <a:effectLst/>
                <a:latin typeface="Segoe WPC"/>
              </a:rPr>
              <a:t>「先除後乘」是精度殺手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Segoe WPC"/>
              </a:rPr>
              <a:t>。</a:t>
            </a:r>
            <a:endParaRPr lang="zh-CN" altLang="en-US" dirty="0">
              <a:solidFill>
                <a:srgbClr val="616161"/>
              </a:solidFill>
              <a:latin typeface="Segoe WPC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14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FA94-5DE3-FB9E-AFB5-2304AD38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合約變量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AB7E2-1DD1-930B-5B53-1FC29A718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altLang="zh-CN" dirty="0"/>
              <a:t>rancheVault</a:t>
            </a:r>
          </a:p>
          <a:p>
            <a:pPr lvl="1"/>
            <a:r>
              <a:rPr lang="en-US" dirty="0" err="1"/>
              <a:t>userCollateral</a:t>
            </a:r>
            <a:r>
              <a:rPr lang="en-US" dirty="0"/>
              <a:t>[user] : </a:t>
            </a:r>
            <a:r>
              <a:rPr lang="zh-CN" altLang="en-US" dirty="0"/>
              <a:t>用戶抵押品數量</a:t>
            </a:r>
            <a:endParaRPr lang="en-US" altLang="zh-CN" dirty="0"/>
          </a:p>
          <a:p>
            <a:pPr lvl="1"/>
            <a:r>
              <a:rPr lang="en-US" dirty="0" err="1"/>
              <a:t>CollateralInWei</a:t>
            </a:r>
            <a:r>
              <a:rPr lang="zh-CN" altLang="en-US" dirty="0"/>
              <a:t>：整個項目所有抵押品數量</a:t>
            </a:r>
            <a:endParaRPr lang="en-US" altLang="zh-CN" dirty="0"/>
          </a:p>
          <a:p>
            <a:pPr lvl="1"/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totalSupplyS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：總共發行的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數量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totalSupplyL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：總共發行的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L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數量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32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ACF6-2436-F08A-FFDA-3244811A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10/3/2026</a:t>
            </a:r>
            <a:r>
              <a:rPr lang="zh-CN" altLang="en-US" dirty="0"/>
              <a:t>討論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39071-5DC8-8790-E35D-067C4419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sz="1400" dirty="0"/>
              <a:t>M</a:t>
            </a:r>
            <a:r>
              <a:rPr lang="en-US" altLang="zh-CN" sz="1400" dirty="0"/>
              <a:t>ulti-Sig/</a:t>
            </a:r>
            <a:r>
              <a:rPr lang="en-US" sz="1400" dirty="0"/>
              <a:t>A</a:t>
            </a:r>
            <a:r>
              <a:rPr lang="en-US" altLang="zh-CN" sz="1400" dirty="0"/>
              <a:t>ccess control</a:t>
            </a:r>
          </a:p>
          <a:p>
            <a:pPr lvl="1"/>
            <a:r>
              <a:rPr lang="zh-CN" altLang="en-US" sz="1200" dirty="0"/>
              <a:t>多簽方案；哪些需要多簽</a:t>
            </a:r>
            <a:endParaRPr lang="en-US" altLang="zh-CN" sz="1200" dirty="0"/>
          </a:p>
          <a:p>
            <a:pPr lvl="1"/>
            <a:r>
              <a:rPr lang="zh-CN" altLang="en-US" sz="1200" dirty="0"/>
              <a:t>有哪些角色，分別由哪方人員擔任</a:t>
            </a:r>
            <a:endParaRPr lang="en-US" altLang="zh-CN" sz="1200" dirty="0"/>
          </a:p>
          <a:p>
            <a:r>
              <a:rPr lang="en-US" altLang="zh-CN" sz="1400" dirty="0"/>
              <a:t>2.  </a:t>
            </a:r>
            <a:r>
              <a:rPr lang="zh-CN" altLang="en-US" sz="1400" dirty="0"/>
              <a:t>合約標準</a:t>
            </a:r>
            <a:endParaRPr lang="en-US" altLang="zh-CN" sz="1400" dirty="0"/>
          </a:p>
          <a:p>
            <a:pPr lvl="1"/>
            <a:r>
              <a:rPr lang="zh-CN" altLang="en-US" sz="1200" dirty="0"/>
              <a:t>並不需要强行討論一個標準</a:t>
            </a:r>
            <a:r>
              <a:rPr lang="en-US" altLang="zh-CN" sz="1200" dirty="0"/>
              <a:t>(</a:t>
            </a:r>
            <a:r>
              <a:rPr lang="zh-CN" altLang="en-US" sz="1200" dirty="0"/>
              <a:t>如</a:t>
            </a:r>
            <a:r>
              <a:rPr lang="en-US" altLang="zh-CN" sz="1200" dirty="0"/>
              <a:t>ERC4626)</a:t>
            </a:r>
            <a:r>
              <a:rPr lang="zh-CN" altLang="en-US" sz="1200" dirty="0"/>
              <a:t>，更重要的邏輯合理，系統安全</a:t>
            </a:r>
            <a:endParaRPr lang="en-US" altLang="zh-CN" sz="1200" dirty="0"/>
          </a:p>
          <a:p>
            <a:pPr lvl="1"/>
            <a:endParaRPr lang="en-US" altLang="zh-CN" sz="12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0285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1938</TotalTime>
  <Words>1426</Words>
  <Application>Microsoft Office PowerPoint</Application>
  <PresentationFormat>Widescreen</PresentationFormat>
  <Paragraphs>165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KaTeX_Main</vt:lpstr>
      <vt:lpstr>KaTeX_Math</vt:lpstr>
      <vt:lpstr>PingFang SC</vt:lpstr>
      <vt:lpstr>Segoe WPC</vt:lpstr>
      <vt:lpstr>Abadi</vt:lpstr>
      <vt:lpstr>Aptos</vt:lpstr>
      <vt:lpstr>Arial</vt:lpstr>
      <vt:lpstr>Calibri</vt:lpstr>
      <vt:lpstr>Calibri Light</vt:lpstr>
      <vt:lpstr>Cambria Math</vt:lpstr>
      <vt:lpstr>Consolas</vt:lpstr>
      <vt:lpstr>Wingdings</vt:lpstr>
      <vt:lpstr>Office 2013 - 2022 Theme</vt:lpstr>
      <vt:lpstr>Martingale Protocol(V1)</vt:lpstr>
      <vt:lpstr>Protocol Structure</vt:lpstr>
      <vt:lpstr>Model Ⅰ——Mint/Burn</vt:lpstr>
      <vt:lpstr>Model Ⅰ——Mint/Burn</vt:lpstr>
      <vt:lpstr>Model Ⅱ——Interest Rate</vt:lpstr>
      <vt:lpstr>Model Ⅱ——Interest Rate</vt:lpstr>
      <vt:lpstr>Model Ⅲ——AMM</vt:lpstr>
      <vt:lpstr>Model Ⅳ——Oracle</vt:lpstr>
      <vt:lpstr>Model Ⅴ——Liquidation</vt:lpstr>
      <vt:lpstr>Access Control/Multi-sig</vt:lpstr>
      <vt:lpstr>Access Control/Timelock</vt:lpstr>
      <vt:lpstr>Access Control/roles</vt:lpstr>
      <vt:lpstr>Proxy Pattern</vt:lpstr>
      <vt:lpstr>Proxy Pattern</vt:lpstr>
      <vt:lpstr>Off Chain(Service)</vt:lpstr>
      <vt:lpstr>Frontend</vt:lpstr>
      <vt:lpstr>Smart Contract</vt:lpstr>
      <vt:lpstr>Interest Rate Module</vt:lpstr>
      <vt:lpstr>Solidity精度處理</vt:lpstr>
      <vt:lpstr>合約變量</vt:lpstr>
      <vt:lpstr>10/3/2026討論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</dc:creator>
  <cp:lastModifiedBy>Green</cp:lastModifiedBy>
  <cp:revision>117</cp:revision>
  <dcterms:created xsi:type="dcterms:W3CDTF">2026-03-05T03:00:59Z</dcterms:created>
  <dcterms:modified xsi:type="dcterms:W3CDTF">2026-03-11T04:22:30Z</dcterms:modified>
</cp:coreProperties>
</file>